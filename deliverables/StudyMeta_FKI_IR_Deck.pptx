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3056ed3d3c4353" /><Relationship Type="http://schemas.openxmlformats.org/officeDocument/2006/relationships/extended-properties" Target="/docProps/app.xml" Id="R78e5f94a409a4a75" /><Relationship Type="http://schemas.openxmlformats.org/officeDocument/2006/relationships/officeDocument" Target="/ppt/presentation.xml" Id="R4b70823c2210420e" /></Relationships>
</file>

<file path=ppt/presentation.xml><?xml version="1.0" encoding="utf-8"?>
<p:presentation xmlns:p="http://schemas.openxmlformats.org/presentationml/2006/main">
  <p:sldMasterIdLst>
    <p:sldMasterId xmlns:r="http://schemas.openxmlformats.org/officeDocument/2006/relationships" id="2147483648" r:id="R61ff1dc5a2c34a9c"/>
  </p:sldMasterIdLst>
  <p:notesMasterIdLst>
    <p:notesMasterId xmlns:r="http://schemas.openxmlformats.org/officeDocument/2006/relationships" r:id="R8a39a1cc4c944cd4"/>
  </p:notesMasterIdLst>
  <p:sldIdLst>
    <p:sldId xmlns:r="http://schemas.openxmlformats.org/officeDocument/2006/relationships" id="256" r:id="R72e9b80d31074c1f"/>
    <p:sldId xmlns:r="http://schemas.openxmlformats.org/officeDocument/2006/relationships" id="257" r:id="R029d61cf32944e50"/>
    <p:sldId xmlns:r="http://schemas.openxmlformats.org/officeDocument/2006/relationships" id="258" r:id="R7ad63953f6ae4e3f"/>
    <p:sldId xmlns:r="http://schemas.openxmlformats.org/officeDocument/2006/relationships" id="259" r:id="R4b2050c287db46b6"/>
    <p:sldId xmlns:r="http://schemas.openxmlformats.org/officeDocument/2006/relationships" id="260" r:id="R6c4ae00b34bc49ab"/>
    <p:sldId xmlns:r="http://schemas.openxmlformats.org/officeDocument/2006/relationships" id="261" r:id="Rffb4dd613d2c4340"/>
    <p:sldId xmlns:r="http://schemas.openxmlformats.org/officeDocument/2006/relationships" id="262" r:id="R2a7421fd8f574e6d"/>
    <p:sldId xmlns:r="http://schemas.openxmlformats.org/officeDocument/2006/relationships" id="263" r:id="R1f1d9638b64e49e3"/>
    <p:sldId xmlns:r="http://schemas.openxmlformats.org/officeDocument/2006/relationships" id="264" r:id="R9f4a03cb9a764c1f"/>
    <p:sldId xmlns:r="http://schemas.openxmlformats.org/officeDocument/2006/relationships" id="265" r:id="Rb07805e7307641df"/>
    <p:sldId xmlns:r="http://schemas.openxmlformats.org/officeDocument/2006/relationships" id="266" r:id="R3e5dbd1c966647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c4f1b2b8f84d1f" /><Relationship Type="http://schemas.openxmlformats.org/officeDocument/2006/relationships/slideMaster" Target="/ppt/slideMasters/slideMaster1.xml" Id="R61ff1dc5a2c34a9c" /><Relationship Type="http://schemas.openxmlformats.org/officeDocument/2006/relationships/notesMaster" Target="/ppt/notesMasters/notesMaster1.xml" Id="R8a39a1cc4c944cd4" /><Relationship Type="http://schemas.openxmlformats.org/officeDocument/2006/relationships/presProps" Target="/ppt/presProps.xml" Id="R76738ff2cf414604" /><Relationship Type="http://schemas.openxmlformats.org/officeDocument/2006/relationships/tableStyles" Target="/ppt/tableStyles.xml" Id="Reea63ff99d214769" /><Relationship Type="http://schemas.openxmlformats.org/officeDocument/2006/relationships/slide" Target="/ppt/slides/slide1.xml" Id="R72e9b80d31074c1f" /><Relationship Type="http://schemas.openxmlformats.org/officeDocument/2006/relationships/slide" Target="/ppt/slides/slide2.xml" Id="R029d61cf32944e50" /><Relationship Type="http://schemas.openxmlformats.org/officeDocument/2006/relationships/slide" Target="/ppt/slides/slide3.xml" Id="R7ad63953f6ae4e3f" /><Relationship Type="http://schemas.openxmlformats.org/officeDocument/2006/relationships/slide" Target="/ppt/slides/slide4.xml" Id="R4b2050c287db46b6" /><Relationship Type="http://schemas.openxmlformats.org/officeDocument/2006/relationships/slide" Target="/ppt/slides/slide5.xml" Id="R6c4ae00b34bc49ab" /><Relationship Type="http://schemas.openxmlformats.org/officeDocument/2006/relationships/slide" Target="/ppt/slides/slide6.xml" Id="Rffb4dd613d2c4340" /><Relationship Type="http://schemas.openxmlformats.org/officeDocument/2006/relationships/slide" Target="/ppt/slides/slide7.xml" Id="R2a7421fd8f574e6d" /><Relationship Type="http://schemas.openxmlformats.org/officeDocument/2006/relationships/slide" Target="/ppt/slides/slide8.xml" Id="R1f1d9638b64e49e3" /><Relationship Type="http://schemas.openxmlformats.org/officeDocument/2006/relationships/slide" Target="/ppt/slides/slide9.xml" Id="R9f4a03cb9a764c1f" /><Relationship Type="http://schemas.openxmlformats.org/officeDocument/2006/relationships/slide" Target="/ppt/slides/slide10.xml" Id="Rb07805e7307641df" /><Relationship Type="http://schemas.openxmlformats.org/officeDocument/2006/relationships/slide" Target="/ppt/slides/slide11.xml" Id="R3e5dbd1c966647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e9b9d64d3b4d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1fa9629ce74639" /><Relationship Type="http://schemas.openxmlformats.org/officeDocument/2006/relationships/notesMaster" Target="/ppt/notesMasters/notesMaster1.xml" Id="R3db3a45a2b3849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8da9a02bc54718" /><Relationship Type="http://schemas.openxmlformats.org/officeDocument/2006/relationships/notesMaster" Target="/ppt/notesMasters/notesMaster1.xml" Id="R136b400b3a5f41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a90ff3993e41bc" /><Relationship Type="http://schemas.openxmlformats.org/officeDocument/2006/relationships/notesMaster" Target="/ppt/notesMasters/notesMaster1.xml" Id="Reb50e098faba41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f69a21e0734f14" /><Relationship Type="http://schemas.openxmlformats.org/officeDocument/2006/relationships/notesMaster" Target="/ppt/notesMasters/notesMaster1.xml" Id="R26da0ea4cecf43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5f9fd9b5684a3d" /><Relationship Type="http://schemas.openxmlformats.org/officeDocument/2006/relationships/notesMaster" Target="/ppt/notesMasters/notesMaster1.xml" Id="R72d6b5cb090746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8cc63742ef44dc" /><Relationship Type="http://schemas.openxmlformats.org/officeDocument/2006/relationships/notesMaster" Target="/ppt/notesMasters/notesMaster1.xml" Id="Rad05501c63064e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9fa13a7ffd4481" /><Relationship Type="http://schemas.openxmlformats.org/officeDocument/2006/relationships/notesMaster" Target="/ppt/notesMasters/notesMaster1.xml" Id="Rf71c0a2343a546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85b5a4079b4d4e" /><Relationship Type="http://schemas.openxmlformats.org/officeDocument/2006/relationships/notesMaster" Target="/ppt/notesMasters/notesMaster1.xml" Id="R29fd65b0292d42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64306f5fd14774" /><Relationship Type="http://schemas.openxmlformats.org/officeDocument/2006/relationships/notesMaster" Target="/ppt/notesMasters/notesMaster1.xml" Id="R9a526e38274640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f1017501eb4d20" /><Relationship Type="http://schemas.openxmlformats.org/officeDocument/2006/relationships/notesMaster" Target="/ppt/notesMasters/notesMaster1.xml" Id="Rcef26bf0f2214c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2410e2f83d41c2" /><Relationship Type="http://schemas.openxmlformats.org/officeDocument/2006/relationships/notesMaster" Target="/ppt/notesMasters/notesMaster1.xml" Id="R451748fc72f64a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StudyMeta는 새로운 AI Tutor나 새로운 LLM이 아닙니다. 여러 AI와 학습 환경에서 생기는 Learning Evidence를 학생 소유의 지속적인 Learner Model로 축적하고, 지금 이 학생에게 맞는 Teaching Context를 만들어 어떤 AI든 일관되게 가르치도록 하는 레이어입니다. 오늘은 이미 구현한 Read-Adapt-Write 흐름과, 117만 건의 학습 상호작용으로 먼저 검토한 Evidence 후보, 그리고 FKI에서 검증할 세 가지 핵심 가설을 보여드리겠습니다.</a:t>
            </a:r>
          </a:p>
          <a:p xmlns:a="http://schemas.openxmlformats.org/drawingml/2006/main">
            <a:r>
              <a:t/>
            </a:r>
          </a:p>
          <a:p xmlns:a="http://schemas.openxmlformats.org/drawingml/2006/main">
            <a:r>
              <a:t>[Sources]</a:t>
            </a:r>
          </a:p>
          <a:p xmlns:a="http://schemas.openxmlformats.org/drawingml/2006/main">
            <a:r>
              <a:t>- C:\Users\user\Desktop\metastudy\studymeta-logo.png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문제는 AI가 학생을 전혀 기억하지 못한다는 것이 아닙니다. ChatGPT와 Claude도 이미 대화와 선호를 기억하는 기능을 발전시키고 있습니다. 하지만 ‘단계별 설명을 선호한다’는 일반 기억과, 최근 독립 해결 여부나 힌트 의존도를 근거로 지금 어느 정도의 도움을 줄지 판단하는 Pedagogical Learner State는 다릅니다. StudyMeta가 해결하려는 질문은 기억의 유무가 아니라, 지금 이 학생을 어떻게 가르쳐야 하는가입니다.</a:t>
            </a:r>
          </a:p>
          <a:p xmlns:a="http://schemas.openxmlformats.org/drawingml/2006/main">
            <a:r>
              <a:t/>
            </a:r>
          </a:p>
          <a:p xmlns:a="http://schemas.openxmlformats.org/drawingml/2006/main">
            <a:r>
              <a:t>[Sources]</a:t>
            </a:r>
          </a:p>
          <a:p xmlns:a="http://schemas.openxmlformats.org/drawingml/2006/main">
            <a:r>
              <a:t>- https://openai.com/index/chatgpt-memory-dreaming/</a:t>
            </a:r>
          </a:p>
          <a:p xmlns:a="http://schemas.openxmlformats.org/drawingml/2006/main">
            <a:r>
              <a:t>- https://www.anthropic.com/news/reflect-with-claude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좋은 과외 선생님은 답을 많이 말하는 사람이 아니라 학생의 반응을 관찰하고 다음 설명을 바꾸는 사람입니다. 실제로 ALEKS 같은 전통적 adaptive learning과 StudyFetch·YouLearn 같은 AI 학습 서비스도 학습 상태와 진행을 활용해 개인화를 강화하고 있습니다. StudyMeta는 learner modeling 자체를 최초라고 주장하지 않습니다. 우리가 보는 구조적 공백은 이 intelligence가 플랫폼을 바꾸면 함께 이동하지 않는다는 점입니다.</a:t>
            </a:r>
          </a:p>
          <a:p xmlns:a="http://schemas.openxmlformats.org/drawingml/2006/main">
            <a:r>
              <a:t/>
            </a:r>
          </a:p>
          <a:p xmlns:a="http://schemas.openxmlformats.org/drawingml/2006/main">
            <a:r>
              <a:t>[Sources]</a:t>
            </a:r>
          </a:p>
          <a:p xmlns:a="http://schemas.openxmlformats.org/drawingml/2006/main">
            <a:r>
              <a:t>- https://www.aleks.com/index.html</a:t>
            </a:r>
          </a:p>
          <a:p xmlns:a="http://schemas.openxmlformats.org/drawingml/2006/main">
            <a:r>
              <a:t>- https://sso.studyfetch.com/blog/the-learn-engine</a:t>
            </a:r>
          </a:p>
          <a:p xmlns:a="http://schemas.openxmlformats.org/drawingml/2006/main">
            <a:r>
              <a:t>- https://www.youlearn.ai/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StudyMeta의 구조는 간단합니다. ChatGPT, Claude, AI Tutor, 학습 앱에서 생긴 학습 행동을 공통 Evidence로 정규화하고, 학생 소유의 Persistent Learner Model에 축적합니다. 그 상태를 Pedagogical Policy와 실행 가능한 Teaching Context로 바꿔 어떤 AI에도 전달합니다. MCP와 API는 이 흐름을 연결하는 구현 방식일 뿐입니다. 장기적인 자산은 여러 환경에서 이어지는 longitudinal data, Evidence ontology, 그리고 Evidence에서 State로 가는 모델입니다.</a:t>
            </a:r>
          </a:p>
          <a:p xmlns:a="http://schemas.openxmlformats.org/drawingml/2006/main">
            <a:r>
              <a:t/>
            </a:r>
          </a:p>
          <a:p xmlns:a="http://schemas.openxmlformats.org/drawingml/2006/main">
            <a:r>
              <a:t>[Sources]</a:t>
            </a:r>
          </a:p>
          <a:p xmlns:a="http://schemas.openxmlformats.org/drawingml/2006/main">
            <a:r>
              <a:t>- C:\Users\user\Desktop\metastudy\README.md</a:t>
            </a:r>
          </a:p>
          <a:p xmlns:a="http://schemas.openxmlformats.org/drawingml/2006/main">
            <a:r>
              <a:t>- C:\Users\user\Desktop\metastudy\src\services\teaching-context.ts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제품은 세 단계로 작동합니다. 먼저 정오답, 힌트, 재시도, 독립 해결 같은 행동을 Evidence로 캡처합니다. 현재 MVP는 두 공개 데이터셋에서 핵심 후보가 재현된 Procedural Mastery와 Help Need에 집중합니다. 이 상태를 설명 깊이, 힌트 수준, scaffolding, 직접 답변 정책으로 변환합니다. 오른쪽은 실제 Learner Context Viewer입니다. Profile, Domain State, Skill State, Recent Events를 분리해 보여주기 때문에 단순한 prompt wrapper가 아니라 독립된 learner intelligence layer임을 확인할 수 있습니다.</a:t>
            </a:r>
          </a:p>
          <a:p xmlns:a="http://schemas.openxmlformats.org/drawingml/2006/main">
            <a:r>
              <a:t/>
            </a:r>
          </a:p>
          <a:p xmlns:a="http://schemas.openxmlformats.org/drawingml/2006/main">
            <a:r>
              <a:t>[Sources]</a:t>
            </a:r>
          </a:p>
          <a:p xmlns:a="http://schemas.openxmlformats.org/drawingml/2006/main">
            <a:r>
              <a:t>- C:\Users\user\Downloads\metastudypage.pdf</a:t>
            </a:r>
          </a:p>
          <a:p xmlns:a="http://schemas.openxmlformats.org/drawingml/2006/main">
            <a:r>
              <a:t>- C:\Users\user\Downloads\evidencestate종합_최종매트릭스 (1).md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왼쪽의 일반 AI 답변은 좋은 답변입니다. 정의, 공식, 예시, 전체 풀이를 빠르게 제공합니다. 오른쪽은 동일한 AI와 동일한 질문에 StudyMeta context를 넣은 실제 데모입니다. Synthetic Demo Learner의 Procedural Mastery 0.35, Help Need 0.75를 읽고 step-by-step, Socratic, adaptive scaffolding을 선택합니다. 먼저 3지선다로 구조를 확인하고, 성공하면 직접 인출, 독립 적용, 새로운 형태로 전이합니다. 마지막에는 결과 Evidence를 기록합니다. 다만 현재 State 자동 업데이트는 아직 구현 전입니다.</a:t>
            </a:r>
          </a:p>
          <a:p xmlns:a="http://schemas.openxmlformats.org/drawingml/2006/main">
            <a:r>
              <a:t/>
            </a:r>
          </a:p>
          <a:p xmlns:a="http://schemas.openxmlformats.org/drawingml/2006/main">
            <a:r>
              <a:t>[Sources]</a:t>
            </a:r>
          </a:p>
          <a:p xmlns:a="http://schemas.openxmlformats.org/drawingml/2006/main">
            <a:r>
              <a:t>- C:\Users\user\Downloads\Chain Rule 설명-withoutmetastudy.pdf</a:t>
            </a:r>
          </a:p>
          <a:p xmlns:a="http://schemas.openxmlformats.org/drawingml/2006/main">
            <a:r>
              <a:t>- C:\Users\user\Downloads\Chain Rule 설명-withmetastudy.pdf</a:t>
            </a:r>
          </a:p>
          <a:p xmlns:a="http://schemas.openxmlformats.org/drawingml/2006/main">
            <a:r>
              <a:t>- C:\Users\user\Desktop\metastudy\README.md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우리는 ASSISTments 525,534건과 Junyi Academy 647,461건, 총 1,172,995개의 실제 학습 상호작용을 분석했습니다. 이 결과는 learner model 전체나 학습효과의 검증이 아닙니다. 행동 기반 Evidence 후보가 후속 행동과 재현 가능한 관계를 보이는지 검토한 것입니다. Procedural Mastery와 Help Need의 핵심 후보는 두 데이터셋에서 재현됐고, Retrievability와 Transferability는 단일 플랫폼 단계입니다. 분석 중 학습량과 실력의 혼입, 관측 이력 왜곡을 발견해 일부 신호를 수정하거나 제외했습니다. 억지로 긍정 결과를 만들지 않는 것이 우리의 검증 원칙입니다.</a:t>
            </a:r>
          </a:p>
          <a:p xmlns:a="http://schemas.openxmlformats.org/drawingml/2006/main">
            <a:r>
              <a:t/>
            </a:r>
          </a:p>
          <a:p xmlns:a="http://schemas.openxmlformats.org/drawingml/2006/main">
            <a:r>
              <a:t>[Sources]</a:t>
            </a:r>
          </a:p>
          <a:p xmlns:a="http://schemas.openxmlformats.org/drawingml/2006/main">
            <a:r>
              <a:t>- C:\Users\user\Downloads\evidencestate종합_최종매트릭스 (1).md</a:t>
            </a:r>
          </a:p>
          <a:p xmlns:a="http://schemas.openxmlformats.org/drawingml/2006/main">
            <a:r>
              <a:t>- C:\Users\user\Downloads\evidencestate검증_ASSISTments_1차.md</a:t>
            </a:r>
          </a:p>
          <a:p xmlns:a="http://schemas.openxmlformats.org/drawingml/2006/main">
            <a:r>
              <a:t>- C:\Users\user\Downloads\evidencestate검증_Junyi_재현성_2차.md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ALEKS는 깊은 knowledge state modeling을 오래전부터 해왔고, StudyFetch와 YouLearn도 개인화 학습을 강화하고 있습니다. 따라서 StudyMeta의 차별점은 Student Model의 존재 자체가 아닙니다. 기존 서비스의 learner intelligence는 대체로 해당 플랫폼 안에서 작동합니다. StudyMeta의 목표 위치는 오른쪽 상단, 즉 깊은 learner modeling을 유지하면서도 AI와 플랫폼에 독립적인 영역입니다. 아직 초기 단계이므로 이것은 현재 시장지위가 아니라 Target Position으로 표시했습니다.</a:t>
            </a:r>
          </a:p>
          <a:p xmlns:a="http://schemas.openxmlformats.org/drawingml/2006/main">
            <a:r>
              <a:t/>
            </a:r>
          </a:p>
          <a:p xmlns:a="http://schemas.openxmlformats.org/drawingml/2006/main">
            <a:r>
              <a:t>[Sources]</a:t>
            </a:r>
          </a:p>
          <a:p xmlns:a="http://schemas.openxmlformats.org/drawingml/2006/main">
            <a:r>
              <a:t>- https://www.aleks.com/index.html</a:t>
            </a:r>
          </a:p>
          <a:p xmlns:a="http://schemas.openxmlformats.org/drawingml/2006/main">
            <a:r>
              <a:t>- https://sso.studyfetch.com/blog/the-learn-engine</a:t>
            </a:r>
          </a:p>
          <a:p xmlns:a="http://schemas.openxmlformats.org/drawingml/2006/main">
            <a:r>
              <a:t>- https://www.youlearn.ai/</a:t>
            </a:r>
          </a:p>
          <a:p xmlns:a="http://schemas.openxmlformats.org/drawingml/2006/main">
            <a:r>
              <a:t>- https://www.mindgrasp.ai/ai-study-tools</a:t>
            </a:r>
          </a:p>
          <a:p xmlns:a="http://schemas.openxmlformats.org/drawingml/2006/main">
            <a:r>
              <a:t>- https://openai.com/index/chatgpt-memory-dreaming/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now는 두 가지입니다. 첫째, 2026년 HEPI 조사에서 영국 학부생의 94%가 평가 과제에 생성형 AI를 사용한다고 답했습니다. 둘째, Grand View Research는 AI in Education 시장을 2026년 114억 달러에서 2033년 572억 달러로 전망합니다. 이 숫자들은 StudyMeta의 pain이나 지불의사를 증명하지 않습니다. 다만 학생의 AI 학습이 이미 일상화되고 있다는 배경을 보여줍니다. 이제 중요한 질문은 AI 사용 여부가 아니라, 그 과정에서 생성되는 learner intelligence를 누가 소유하고 어디까지 이동시킬 것인가입니다.</a:t>
            </a:r>
          </a:p>
          <a:p xmlns:a="http://schemas.openxmlformats.org/drawingml/2006/main">
            <a:r>
              <a:t/>
            </a:r>
          </a:p>
          <a:p xmlns:a="http://schemas.openxmlformats.org/drawingml/2006/main">
            <a:r>
              <a:t>[Sources]</a:t>
            </a:r>
          </a:p>
          <a:p xmlns:a="http://schemas.openxmlformats.org/drawingml/2006/main">
            <a:r>
              <a:t>- https://www.hepi.ac.uk/wp-content/uploads/2026/03/HEPI-Report-199-Gen-AI-Survey-2026.pdf</a:t>
            </a:r>
          </a:p>
          <a:p xmlns:a="http://schemas.openxmlformats.org/drawingml/2006/main">
            <a:r>
              <a:t>- https://www.grandviewresearch.com/industry-analysis/artificial-intelligence-ai-education-market-report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사업화는 B2C에서 사용자 가치를 먼저 확인하고, 이후 B2B PoC로 확장합니다. 초기 고객은 대학 미적분과 STEM 학습자이며 월 9,900원은 검증 전 가격가설입니다. FKI 12주 동안 20명 규모의 exploratory pilot으로 세 가지를 봅니다. 첫째 맥락 단절 pain, 둘째 Learner Context의 value, 셋째 single-AI memory 대비 portability의 추가 가치입니다. 20명으로 학습효과를 통계적으로 증명하려는 것이 아닙니다. 사용성, 재사용 행동, 효과 방향과 예비 effect size를 확인해 다음 controlled experiment를 설계하겠습니다.</a:t>
            </a:r>
          </a:p>
          <a:p xmlns:a="http://schemas.openxmlformats.org/drawingml/2006/main">
            <a:r>
              <a:t/>
            </a:r>
          </a:p>
          <a:p xmlns:a="http://schemas.openxmlformats.org/drawingml/2006/main">
            <a:r>
              <a:t>[Sources]</a:t>
            </a:r>
          </a:p>
          <a:p xmlns:a="http://schemas.openxmlformats.org/drawingml/2006/main">
            <a:r>
              <a:t>- C:\Users\user\Downloads\StudyMeta 한경협 「더하기 창업」 지원서 2~7번 최종안.md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팀은 Learner Model과 제품 설계를 맡는 백현승, UX/UI를 맡는 박나연, 데이터와 Evidence 검증을 맡는 김아현으로 구성됩니다. 현재까지 117만 건의 interactions 분석, Evidence Matrix, 작동하는 원격 MCP 프로토타입, 실제 Read-Adapt-Write 데모를 만들었습니다. 동시에 learning science와 psychometrics 자문, production engineering, B2B sales 역량은 다음 단계에서 보완할 계획입니다. 오늘은 Mastery와 Help Need를 여러 AI에서 이어 쓰는 것부터 시작하지만, 장기적으로는 every AI across one learner intelligence layer를 만들겠습니다.</a:t>
            </a:r>
          </a:p>
          <a:p xmlns:a="http://schemas.openxmlformats.org/drawingml/2006/main">
            <a:r>
              <a:t/>
            </a:r>
          </a:p>
          <a:p xmlns:a="http://schemas.openxmlformats.org/drawingml/2006/main">
            <a:r>
              <a:t>[Sources]</a:t>
            </a:r>
          </a:p>
          <a:p xmlns:a="http://schemas.openxmlformats.org/drawingml/2006/main">
            <a:r>
              <a:t>- C:\Users\user\Downloads\StudyMeta 한경협 「더하기 창업」 지원서 2~7번 최종안.md</a:t>
            </a:r>
          </a:p>
          <a:p xmlns:a="http://schemas.openxmlformats.org/drawingml/2006/main">
            <a:r>
              <a:t>- C:\Users\user\Downloads\evidencestate종합_최종매트릭스 (1).md</a:t>
            </a:r>
          </a:p>
          <a:p xmlns:a="http://schemas.openxmlformats.org/drawingml/2006/main">
            <a:r>
              <a:t>- C:\Users\user\Desktop\metastudy\README.md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586863dc904f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cc61062ed34d24" /><Relationship Type="http://schemas.openxmlformats.org/officeDocument/2006/relationships/slideLayout" Target="/ppt/slideLayouts/slideLayout1.xml" Id="R32a55846f43342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a55846f43342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fbbca13c374e84" /><Relationship Type="http://schemas.openxmlformats.org/officeDocument/2006/relationships/image" Target="/ppt/media/image.png" Id="Rc026ec86687c49e5" /><Relationship Type="http://schemas.openxmlformats.org/officeDocument/2006/relationships/notesSlide" Target="/ppt/notesSlides/notesSlide1.xml" Id="R9f9968cd044e47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c8110e5cd44765" /><Relationship Type="http://schemas.openxmlformats.org/officeDocument/2006/relationships/notesSlide" Target="/ppt/notesSlides/notesSlide2.xml" Id="Re28c8726495140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58cc60c25b426c" /><Relationship Type="http://schemas.openxmlformats.org/officeDocument/2006/relationships/notesSlide" Target="/ppt/notesSlides/notesSlide3.xml" Id="R6c1409185a2040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33a8abe81442d2" /><Relationship Type="http://schemas.openxmlformats.org/officeDocument/2006/relationships/notesSlide" Target="/ppt/notesSlides/notesSlide4.xml" Id="R2033ef0a966f41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3ea52b90ba4301" /><Relationship Type="http://schemas.openxmlformats.org/officeDocument/2006/relationships/image" Target="/ppt/media/image2.png" Id="R302ca4c5f4af4251" /><Relationship Type="http://schemas.openxmlformats.org/officeDocument/2006/relationships/image" Target="/ppt/media/image3.png" Id="R07fd5e3a4ec44602" /><Relationship Type="http://schemas.openxmlformats.org/officeDocument/2006/relationships/notesSlide" Target="/ppt/notesSlides/notesSlide5.xml" Id="R04a3e07b388641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dc9f35b867416b" /><Relationship Type="http://schemas.openxmlformats.org/officeDocument/2006/relationships/image" Target="/ppt/media/image4.png" Id="R386a5577e6db40b1" /><Relationship Type="http://schemas.openxmlformats.org/officeDocument/2006/relationships/image" Target="/ppt/media/image5.png" Id="R77346f4a81714e34" /><Relationship Type="http://schemas.openxmlformats.org/officeDocument/2006/relationships/notesSlide" Target="/ppt/notesSlides/notesSlide6.xml" Id="R29913dd6c6fd4f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dc6b5c76b2482c" /><Relationship Type="http://schemas.openxmlformats.org/officeDocument/2006/relationships/notesSlide" Target="/ppt/notesSlides/notesSlide7.xml" Id="R22205d27074342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cc65e0af6544c9" /><Relationship Type="http://schemas.openxmlformats.org/officeDocument/2006/relationships/notesSlide" Target="/ppt/notesSlides/notesSlide8.xml" Id="R0887349cc3b843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c281c8910c462b" /><Relationship Type="http://schemas.openxmlformats.org/officeDocument/2006/relationships/notesSlide" Target="/ppt/notesSlides/notesSlide9.xml" Id="R4b2cbe5e16f54b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eb331ad5d446d9" /><Relationship Type="http://schemas.openxmlformats.org/officeDocument/2006/relationships/notesSlide" Target="/ppt/notesSlides/notesSlide10.xml" Id="Rb833af3fcbcc4e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7eb462420d543e8" /><Relationship Type="http://schemas.openxmlformats.org/officeDocument/2006/relationships/notesSlide" Target="/ppt/notesSlides/notesSlide11.xml" Id="R68b9ce2038aa4be7"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9" name="logo"/>
          <p:cNvPicPr>
            <a:picLocks xmlns:a="http://schemas.openxmlformats.org/drawingml/2006/main" noChangeAspect="1"/>
          </p:cNvPicPr>
          <p:nvPr/>
        </p:nvPicPr>
        <p:blipFill>
          <a:blip xmlns:r="http://schemas.openxmlformats.org/officeDocument/2006/relationships" xmlns:a="http://schemas.openxmlformats.org/drawingml/2006/main" r:embed="Rc026ec86687c49e5"/>
          <a:stretch xmlns:a="http://schemas.openxmlformats.org/drawingml/2006/main"/>
        </p:blipFill>
        <p:spPr>
          <a:xfrm xmlns:a="http://schemas.openxmlformats.org/drawingml/2006/main">
            <a:off x="685800" y="685800"/>
            <a:ext cx="723900" cy="723900"/>
          </a:xfrm>
          <a:prstGeom xmlns:a="http://schemas.openxmlformats.org/drawingml/2006/main" prst="roundRect">
            <a:avLst>
              <a:gd name="adj" fmla="val 23684"/>
            </a:avLst>
          </a:prstGeom>
        </p:spPr>
      </p:pic>
      <p:sp>
        <p:nvSpPr>
          <p:cNvPr id="2" name="brand">
            <a:extLst xmlns:a="http://schemas.openxmlformats.org/drawingml/2006/main">
              <a:ext uri="{FF2B5EF4-FFF2-40B4-BE49-F238E27FC236}">
                <a16:creationId xmlns:a16="http://schemas.microsoft.com/office/drawing/2014/main" id="{D57E55E7-79F4-4613-B8AD-4B92E493E0E5}"/>
              </a:ext>
            </a:extLst>
          </p:cNvPr>
          <p:cNvSpPr>
            <a:spLocks xmlns:a="http://schemas.openxmlformats.org/drawingml/2006/main" noGrp="1"/>
          </p:cNvSpPr>
          <p:nvPr/>
        </p:nvSpPr>
        <p:spPr>
          <a:xfrm xmlns:a="http://schemas.openxmlformats.org/drawingml/2006/main">
            <a:off x="685800" y="1885950"/>
            <a:ext cx="685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91"/>
          </a:bodyPr>
          <a:lstStyle xmlns:a="http://schemas.openxmlformats.org/drawingml/2006/main"/>
          <a:p xmlns:a="http://schemas.openxmlformats.org/drawingml/2006/main">
            <a:pPr algn="l">
              <a:defRPr sz="5700" b="1">
                <a:solidFill>
                  <a:srgbClr val="0C1D3A"/>
                </a:solidFill>
                <a:latin typeface="Malgun Gothic"/>
                <a:ea typeface="Malgun Gothic"/>
                <a:cs typeface="Malgun Gothic"/>
              </a:defRPr>
            </a:pPr>
            <a:r>
              <a:rPr sz="5700" b="1">
                <a:solidFill>
                  <a:srgbClr val="0C1D3A"/>
                </a:solidFill>
                <a:latin typeface="Malgun Gothic"/>
                <a:ea typeface="Malgun Gothic"/>
                <a:cs typeface="Malgun Gothic"/>
              </a:rPr>
              <a:t>StudyMeta</a:t>
            </a:r>
          </a:p>
        </p:txBody>
      </p:sp>
      <p:sp>
        <p:nvSpPr>
          <p:cNvPr id="3" name="tagline">
            <a:extLst xmlns:a="http://schemas.openxmlformats.org/drawingml/2006/main">
              <a:ext uri="{FF2B5EF4-FFF2-40B4-BE49-F238E27FC236}">
                <a16:creationId xmlns:a16="http://schemas.microsoft.com/office/drawing/2014/main" id="{2E3FB9D5-8661-448C-A15D-2C9C325D95EB}"/>
              </a:ext>
            </a:extLst>
          </p:cNvPr>
          <p:cNvSpPr>
            <a:spLocks xmlns:a="http://schemas.openxmlformats.org/drawingml/2006/main" noGrp="1"/>
          </p:cNvSpPr>
          <p:nvPr/>
        </p:nvSpPr>
        <p:spPr>
          <a:xfrm xmlns:a="http://schemas.openxmlformats.org/drawingml/2006/main">
            <a:off x="685800" y="2895600"/>
            <a:ext cx="838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746A2"/>
                </a:solidFill>
                <a:latin typeface="Malgun Gothic"/>
                <a:ea typeface="Malgun Gothic"/>
                <a:cs typeface="Malgun Gothic"/>
              </a:defRPr>
            </a:pPr>
            <a:r>
              <a:rPr sz="2850" b="1">
                <a:solidFill>
                  <a:srgbClr val="1746A2"/>
                </a:solidFill>
                <a:latin typeface="Malgun Gothic"/>
                <a:ea typeface="Malgun Gothic"/>
                <a:cs typeface="Malgun Gothic"/>
              </a:rPr>
              <a:t>One learner model, across every AI.</a:t>
            </a:r>
          </a:p>
        </p:txBody>
      </p:sp>
      <p:sp>
        <p:nvSpPr>
          <p:cNvPr id="4" name="korean-subtitle">
            <a:extLst xmlns:a="http://schemas.openxmlformats.org/drawingml/2006/main">
              <a:ext uri="{FF2B5EF4-FFF2-40B4-BE49-F238E27FC236}">
                <a16:creationId xmlns:a16="http://schemas.microsoft.com/office/drawing/2014/main" id="{BB04AC1C-BB44-415E-BC7D-3A08E2E225DA}"/>
              </a:ext>
            </a:extLst>
          </p:cNvPr>
          <p:cNvSpPr>
            <a:spLocks xmlns:a="http://schemas.openxmlformats.org/drawingml/2006/main" noGrp="1"/>
          </p:cNvSpPr>
          <p:nvPr/>
        </p:nvSpPr>
        <p:spPr>
          <a:xfrm xmlns:a="http://schemas.openxmlformats.org/drawingml/2006/main">
            <a:off x="685800" y="3733800"/>
            <a:ext cx="723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00" b="0">
                <a:solidFill>
                  <a:srgbClr val="18212F"/>
                </a:solidFill>
                <a:latin typeface="Malgun Gothic"/>
                <a:ea typeface="Malgun Gothic"/>
                <a:cs typeface="Malgun Gothic"/>
              </a:defRPr>
            </a:pPr>
            <a:r>
              <a:rPr sz="2100" b="0">
                <a:solidFill>
                  <a:srgbClr val="18212F"/>
                </a:solidFill>
                <a:latin typeface="Malgun Gothic"/>
                <a:ea typeface="Malgun Gothic"/>
                <a:cs typeface="Malgun Gothic"/>
              </a:rPr>
              <a:t>어떤 AI로 공부해도,</a:t>
            </a:r>
          </a:p>
          <a:p xmlns:a="http://schemas.openxmlformats.org/drawingml/2006/main">
            <a:pPr algn="l">
              <a:lnSpc>
                <a:spcPct val="112000"/>
              </a:lnSpc>
              <a:buNone/>
              <a:defRPr sz="2100" b="0">
                <a:solidFill>
                  <a:srgbClr val="18212F"/>
                </a:solidFill>
                <a:latin typeface="Malgun Gothic"/>
                <a:ea typeface="Malgun Gothic"/>
                <a:cs typeface="Malgun Gothic"/>
              </a:defRPr>
            </a:pPr>
            <a:r>
              <a:rPr sz="2100" b="0">
                <a:solidFill>
                  <a:srgbClr val="18212F"/>
                </a:solidFill>
                <a:latin typeface="Malgun Gothic"/>
                <a:ea typeface="Malgun Gothic"/>
                <a:cs typeface="Malgun Gothic"/>
              </a:rPr>
              <a:t>나를 계속 이해하는 학습 AI 파트너</a:t>
            </a:r>
          </a:p>
        </p:txBody>
      </p:sp>
      <p:sp>
        <p:nvSpPr>
          <p:cNvPr id="5" name="cover-rule">
            <a:extLst xmlns:a="http://schemas.openxmlformats.org/drawingml/2006/main">
              <a:ext uri="{FF2B5EF4-FFF2-40B4-BE49-F238E27FC236}">
                <a16:creationId xmlns:a16="http://schemas.microsoft.com/office/drawing/2014/main" id="{1F481CDC-4F0D-4C42-B8F4-D8A47DFB80F5}"/>
              </a:ext>
            </a:extLst>
          </p:cNvPr>
          <p:cNvSpPr>
            <a:spLocks xmlns:a="http://schemas.openxmlformats.org/drawingml/2006/main" noGrp="1"/>
          </p:cNvSpPr>
          <p:nvPr/>
        </p:nvSpPr>
        <p:spPr>
          <a:xfrm xmlns:a="http://schemas.openxmlformats.org/drawingml/2006/main">
            <a:off x="685800" y="5219700"/>
            <a:ext cx="4000500" cy="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6" name="layer-label">
            <a:extLst xmlns:a="http://schemas.openxmlformats.org/drawingml/2006/main">
              <a:ext uri="{FF2B5EF4-FFF2-40B4-BE49-F238E27FC236}">
                <a16:creationId xmlns:a16="http://schemas.microsoft.com/office/drawing/2014/main" id="{B24664BA-2C82-4B1C-AC39-6551D2A5AA24}"/>
              </a:ext>
            </a:extLst>
          </p:cNvPr>
          <p:cNvSpPr>
            <a:spLocks xmlns:a="http://schemas.openxmlformats.org/drawingml/2006/main" noGrp="1"/>
          </p:cNvSpPr>
          <p:nvPr/>
        </p:nvSpPr>
        <p:spPr>
          <a:xfrm xmlns:a="http://schemas.openxmlformats.org/drawingml/2006/main">
            <a:off x="685800" y="5429250"/>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87386"/>
                </a:solidFill>
                <a:latin typeface="Malgun Gothic"/>
                <a:ea typeface="Malgun Gothic"/>
                <a:cs typeface="Malgun Gothic"/>
              </a:defRPr>
            </a:pPr>
            <a:r>
              <a:rPr sz="1125" b="1">
                <a:solidFill>
                  <a:srgbClr val="687386"/>
                </a:solidFill>
                <a:latin typeface="Malgun Gothic"/>
                <a:ea typeface="Malgun Gothic"/>
                <a:cs typeface="Malgun Gothic"/>
              </a:rPr>
              <a:t>PERSONAL LEARNING INTELLIGENCE LAYER</a:t>
            </a:r>
          </a:p>
        </p:txBody>
      </p:sp>
      <p:sp>
        <p:nvSpPr>
          <p:cNvPr id="7" name="program">
            <a:extLst xmlns:a="http://schemas.openxmlformats.org/drawingml/2006/main">
              <a:ext uri="{FF2B5EF4-FFF2-40B4-BE49-F238E27FC236}">
                <a16:creationId xmlns:a16="http://schemas.microsoft.com/office/drawing/2014/main" id="{8BEF6159-33E9-4780-8818-C839ADDCB57A}"/>
              </a:ext>
            </a:extLst>
          </p:cNvPr>
          <p:cNvSpPr>
            <a:spLocks xmlns:a="http://schemas.openxmlformats.org/drawingml/2006/main" noGrp="1"/>
          </p:cNvSpPr>
          <p:nvPr/>
        </p:nvSpPr>
        <p:spPr>
          <a:xfrm xmlns:a="http://schemas.openxmlformats.org/drawingml/2006/main">
            <a:off x="685800" y="61722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929BAD"/>
                </a:solidFill>
                <a:latin typeface="Malgun Gothic"/>
                <a:ea typeface="Malgun Gothic"/>
                <a:cs typeface="Malgun Gothic"/>
              </a:defRPr>
            </a:pPr>
            <a:r>
              <a:rPr sz="1050" b="0">
                <a:solidFill>
                  <a:srgbClr val="929BAD"/>
                </a:solidFill>
                <a:latin typeface="Malgun Gothic"/>
                <a:ea typeface="Malgun Gothic"/>
                <a:cs typeface="Malgun Gothic"/>
              </a:rPr>
              <a:t>한경협 FKI 「더하기 창업」 지원용 IR Deck · 2026.08</a:t>
            </a:r>
          </a:p>
        </p:txBody>
      </p:sp>
      <p:sp>
        <p:nvSpPr>
          <p:cNvPr id="8" name="blue-edge">
            <a:extLst xmlns:a="http://schemas.openxmlformats.org/drawingml/2006/main">
              <a:ext uri="{FF2B5EF4-FFF2-40B4-BE49-F238E27FC236}">
                <a16:creationId xmlns:a16="http://schemas.microsoft.com/office/drawing/2014/main" id="{7329BFD1-F3D8-4FCF-8D43-BCC8AF577D4A}"/>
              </a:ext>
            </a:extLst>
          </p:cNvPr>
          <p:cNvSpPr>
            <a:spLocks xmlns:a="http://schemas.openxmlformats.org/drawingml/2006/main" noGrp="1"/>
          </p:cNvSpPr>
          <p:nvPr/>
        </p:nvSpPr>
        <p:spPr>
          <a:xfrm xmlns:a="http://schemas.openxmlformats.org/drawingml/2006/main">
            <a:off x="11734800" y="0"/>
            <a:ext cx="4572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Tree>
    <p:extLst>
      <p:ext uri="{BB962C8B-B14F-4D97-AF65-F5344CB8AC3E}">
        <p14:creationId xmlns:p14="http://schemas.microsoft.com/office/powerpoint/2010/main" val="367552896"/>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eyebrow-2">
            <a:extLst xmlns:a="http://schemas.openxmlformats.org/drawingml/2006/main">
              <a:ext uri="{FF2B5EF4-FFF2-40B4-BE49-F238E27FC236}">
                <a16:creationId xmlns:a16="http://schemas.microsoft.com/office/drawing/2014/main" id="{9657034B-72BC-4C40-85FD-5754AA0DEC0C}"/>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STUDYMETA · FKI 더하기 창업</a:t>
            </a:r>
          </a:p>
        </p:txBody>
      </p:sp>
      <p:sp>
        <p:nvSpPr>
          <p:cNvPr id="2" name="title-2">
            <a:extLst xmlns:a="http://schemas.openxmlformats.org/drawingml/2006/main">
              <a:ext uri="{FF2B5EF4-FFF2-40B4-BE49-F238E27FC236}">
                <a16:creationId xmlns:a16="http://schemas.microsoft.com/office/drawing/2014/main" id="{0D94B3FC-5EEA-4CBB-B0EF-AE0475C32C55}"/>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AI의 기억과 학습자의 상태는 같은 것이 아닙니다</a:t>
            </a:r>
          </a:p>
        </p:txBody>
      </p:sp>
      <p:sp>
        <p:nvSpPr>
          <p:cNvPr id="3" name="page-2">
            <a:extLst xmlns:a="http://schemas.openxmlformats.org/drawingml/2006/main">
              <a:ext uri="{FF2B5EF4-FFF2-40B4-BE49-F238E27FC236}">
                <a16:creationId xmlns:a16="http://schemas.microsoft.com/office/drawing/2014/main" id="{2DA136B2-AFE2-4BE0-BAA9-D0565FA0CB2D}"/>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02</a:t>
            </a:r>
          </a:p>
        </p:txBody>
      </p:sp>
      <p:sp>
        <p:nvSpPr>
          <p:cNvPr id="4" name="problem-lead">
            <a:extLst xmlns:a="http://schemas.openxmlformats.org/drawingml/2006/main">
              <a:ext uri="{FF2B5EF4-FFF2-40B4-BE49-F238E27FC236}">
                <a16:creationId xmlns:a16="http://schemas.microsoft.com/office/drawing/2014/main" id="{3F324ED6-D2D1-4FE5-A0E7-D7AA16E2CCD5}"/>
              </a:ext>
            </a:extLst>
          </p:cNvPr>
          <p:cNvSpPr>
            <a:spLocks xmlns:a="http://schemas.openxmlformats.org/drawingml/2006/main" noGrp="1"/>
          </p:cNvSpPr>
          <p:nvPr/>
        </p:nvSpPr>
        <p:spPr>
          <a:xfrm xmlns:a="http://schemas.openxmlformats.org/drawingml/2006/main">
            <a:off x="685800" y="133350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687386"/>
                </a:solidFill>
                <a:latin typeface="Malgun Gothic"/>
                <a:ea typeface="Malgun Gothic"/>
                <a:cs typeface="Malgun Gothic"/>
              </a:defRPr>
            </a:pPr>
            <a:r>
              <a:rPr sz="1650" b="0">
                <a:solidFill>
                  <a:srgbClr val="687386"/>
                </a:solidFill>
                <a:latin typeface="Malgun Gothic"/>
                <a:ea typeface="Malgun Gothic"/>
                <a:cs typeface="Malgun Gothic"/>
              </a:rPr>
              <a:t>AI는 사용자를 기억하기 시작했습니다. 하지만 ‘이 학생이 무엇을 알고 있는가’는 별도의 문제입니다.</a:t>
            </a:r>
          </a:p>
        </p:txBody>
      </p:sp>
      <p:sp>
        <p:nvSpPr>
          <p:cNvPr id="5" name="memory-panel">
            <a:extLst xmlns:a="http://schemas.openxmlformats.org/drawingml/2006/main">
              <a:ext uri="{FF2B5EF4-FFF2-40B4-BE49-F238E27FC236}">
                <a16:creationId xmlns:a16="http://schemas.microsoft.com/office/drawing/2014/main" id="{65EC4CE4-E17C-4C8B-8323-09DB3CE97A14}"/>
              </a:ext>
            </a:extLst>
          </p:cNvPr>
          <p:cNvSpPr>
            <a:spLocks xmlns:a="http://schemas.openxmlformats.org/drawingml/2006/main" noGrp="1"/>
          </p:cNvSpPr>
          <p:nvPr/>
        </p:nvSpPr>
        <p:spPr>
          <a:xfrm xmlns:a="http://schemas.openxmlformats.org/drawingml/2006/main">
            <a:off x="685800" y="2076450"/>
            <a:ext cx="4762500" cy="3295650"/>
          </a:xfrm>
          <a:prstGeom xmlns:a="http://schemas.openxmlformats.org/drawingml/2006/main" prst="roundRect">
            <a:avLst>
              <a:gd name="adj" fmla="val 5202"/>
            </a:avLst>
          </a:prstGeom>
          <a:solidFill xmlns:a="http://schemas.openxmlformats.org/drawingml/2006/main">
            <a:srgbClr val="FFFFFF"/>
          </a:solidFill>
          <a:ln xmlns:a="http://schemas.openxmlformats.org/drawingml/2006/main" w="9525">
            <a:solidFill>
              <a:srgbClr val="E4E8EF"/>
            </a:solidFill>
            <a:prstDash val="solid"/>
          </a:ln>
        </p:spPr>
      </p:sp>
      <p:sp>
        <p:nvSpPr>
          <p:cNvPr id="6" name="memory-pill-box">
            <a:extLst xmlns:a="http://schemas.openxmlformats.org/drawingml/2006/main">
              <a:ext uri="{FF2B5EF4-FFF2-40B4-BE49-F238E27FC236}">
                <a16:creationId xmlns:a16="http://schemas.microsoft.com/office/drawing/2014/main" id="{664711AD-DFBA-4C75-B6E4-8737B9B41D81}"/>
              </a:ext>
            </a:extLst>
          </p:cNvPr>
          <p:cNvSpPr>
            <a:spLocks xmlns:a="http://schemas.openxmlformats.org/drawingml/2006/main" noGrp="1"/>
          </p:cNvSpPr>
          <p:nvPr/>
        </p:nvSpPr>
        <p:spPr>
          <a:xfrm xmlns:a="http://schemas.openxmlformats.org/drawingml/2006/main">
            <a:off x="990600" y="2343150"/>
            <a:ext cx="1905000" cy="323850"/>
          </a:xfrm>
          <a:prstGeom xmlns:a="http://schemas.openxmlformats.org/drawingml/2006/main" prst="roundRect">
            <a:avLst>
              <a:gd name="adj" fmla="val 50000"/>
            </a:avLst>
          </a:prstGeom>
          <a:solidFill xmlns:a="http://schemas.openxmlformats.org/drawingml/2006/main">
            <a:srgbClr val="F9FAFB"/>
          </a:solidFill>
          <a:ln xmlns:a="http://schemas.openxmlformats.org/drawingml/2006/main" w="9525">
            <a:solidFill>
              <a:srgbClr val="D5DBE5"/>
            </a:solidFill>
            <a:prstDash val="solid"/>
          </a:ln>
        </p:spPr>
      </p:sp>
      <p:sp>
        <p:nvSpPr>
          <p:cNvPr id="7" name="memory-pill">
            <a:extLst xmlns:a="http://schemas.openxmlformats.org/drawingml/2006/main">
              <a:ext uri="{FF2B5EF4-FFF2-40B4-BE49-F238E27FC236}">
                <a16:creationId xmlns:a16="http://schemas.microsoft.com/office/drawing/2014/main" id="{F64829EB-3960-48F4-9E0D-FA94B9C2BC2E}"/>
              </a:ext>
            </a:extLst>
          </p:cNvPr>
          <p:cNvSpPr>
            <a:spLocks xmlns:a="http://schemas.openxmlformats.org/drawingml/2006/main" noGrp="1"/>
          </p:cNvSpPr>
          <p:nvPr/>
        </p:nvSpPr>
        <p:spPr>
          <a:xfrm xmlns:a="http://schemas.openxmlformats.org/drawingml/2006/main">
            <a:off x="990600" y="23526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687386"/>
                </a:solidFill>
                <a:latin typeface="Malgun Gothic"/>
                <a:ea typeface="Malgun Gothic"/>
                <a:cs typeface="Malgun Gothic"/>
              </a:defRPr>
            </a:pPr>
            <a:r>
              <a:rPr sz="1200" b="1">
                <a:solidFill>
                  <a:srgbClr val="687386"/>
                </a:solidFill>
                <a:latin typeface="Malgun Gothic"/>
                <a:ea typeface="Malgun Gothic"/>
                <a:cs typeface="Malgun Gothic"/>
              </a:rPr>
              <a:t>GENERAL AI MEMORY</a:t>
            </a:r>
          </a:p>
        </p:txBody>
      </p:sp>
      <p:sp>
        <p:nvSpPr>
          <p:cNvPr id="8" name="memory-examples">
            <a:extLst xmlns:a="http://schemas.openxmlformats.org/drawingml/2006/main">
              <a:ext uri="{FF2B5EF4-FFF2-40B4-BE49-F238E27FC236}">
                <a16:creationId xmlns:a16="http://schemas.microsoft.com/office/drawing/2014/main" id="{DBC3F1AE-77EF-4881-9EF1-655FD80B125C}"/>
              </a:ext>
            </a:extLst>
          </p:cNvPr>
          <p:cNvSpPr>
            <a:spLocks xmlns:a="http://schemas.openxmlformats.org/drawingml/2006/main" noGrp="1"/>
          </p:cNvSpPr>
          <p:nvPr/>
        </p:nvSpPr>
        <p:spPr>
          <a:xfrm xmlns:a="http://schemas.openxmlformats.org/drawingml/2006/main">
            <a:off x="1009650" y="2952750"/>
            <a:ext cx="3905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2025" b="0">
                <a:solidFill>
                  <a:srgbClr val="18212F"/>
                </a:solidFill>
                <a:latin typeface="Malgun Gothic"/>
                <a:ea typeface="Malgun Gothic"/>
                <a:cs typeface="Malgun Gothic"/>
              </a:defRPr>
            </a:pPr>
            <a:r>
              <a:rPr sz="2025" b="0">
                <a:solidFill>
                  <a:srgbClr val="18212F"/>
                </a:solidFill>
                <a:latin typeface="Malgun Gothic"/>
                <a:ea typeface="Malgun Gothic"/>
                <a:cs typeface="Malgun Gothic"/>
              </a:rPr>
              <a:t>“Chain Rule을 공부한다”</a:t>
            </a:r>
          </a:p>
          <a:p xmlns:a="http://schemas.openxmlformats.org/drawingml/2006/main">
            <a:pPr algn="l">
              <a:lnSpc>
                <a:spcPct val="120000"/>
              </a:lnSpc>
              <a:buNone/>
              <a:defRPr sz="2025" b="0">
                <a:solidFill>
                  <a:srgbClr val="18212F"/>
                </a:solidFill>
                <a:latin typeface="Malgun Gothic"/>
                <a:ea typeface="Malgun Gothic"/>
                <a:cs typeface="Malgun Gothic"/>
              </a:defRPr>
            </a:pPr>
            <a:r>
              <a:rPr sz="2025" b="0">
                <a:solidFill>
                  <a:srgbClr val="18212F"/>
                </a:solidFill>
                <a:latin typeface="Malgun Gothic"/>
                <a:ea typeface="Malgun Gothic"/>
                <a:cs typeface="Malgun Gothic"/>
              </a:rPr>
              <a:t>“단계별 설명을 선호한다”</a:t>
            </a:r>
          </a:p>
          <a:p xmlns:a="http://schemas.openxmlformats.org/drawingml/2006/main">
            <a:pPr algn="l">
              <a:lnSpc>
                <a:spcPct val="120000"/>
              </a:lnSpc>
              <a:buNone/>
              <a:defRPr sz="2025" b="0">
                <a:solidFill>
                  <a:srgbClr val="18212F"/>
                </a:solidFill>
                <a:latin typeface="Malgun Gothic"/>
                <a:ea typeface="Malgun Gothic"/>
                <a:cs typeface="Malgun Gothic"/>
              </a:defRPr>
            </a:pPr>
            <a:r>
              <a:rPr sz="2025" b="0">
                <a:solidFill>
                  <a:srgbClr val="18212F"/>
                </a:solidFill>
                <a:latin typeface="Malgun Gothic"/>
                <a:ea typeface="Malgun Gothic"/>
                <a:cs typeface="Malgun Gothic"/>
              </a:rPr>
              <a:t>“행렬 미분을 어려워한다”</a:t>
            </a:r>
          </a:p>
        </p:txBody>
      </p:sp>
      <p:sp>
        <p:nvSpPr>
          <p:cNvPr id="9" name="memory-caption">
            <a:extLst xmlns:a="http://schemas.openxmlformats.org/drawingml/2006/main">
              <a:ext uri="{FF2B5EF4-FFF2-40B4-BE49-F238E27FC236}">
                <a16:creationId xmlns:a16="http://schemas.microsoft.com/office/drawing/2014/main" id="{884F4147-E151-4530-B3E0-649969CC164D}"/>
              </a:ext>
            </a:extLst>
          </p:cNvPr>
          <p:cNvSpPr>
            <a:spLocks xmlns:a="http://schemas.openxmlformats.org/drawingml/2006/main" noGrp="1"/>
          </p:cNvSpPr>
          <p:nvPr/>
        </p:nvSpPr>
        <p:spPr>
          <a:xfrm xmlns:a="http://schemas.openxmlformats.org/drawingml/2006/main">
            <a:off x="1009650" y="47625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386"/>
                </a:solidFill>
                <a:latin typeface="Malgun Gothic"/>
                <a:ea typeface="Malgun Gothic"/>
                <a:cs typeface="Malgun Gothic"/>
              </a:defRPr>
            </a:pPr>
            <a:r>
              <a:rPr sz="1275" b="0">
                <a:solidFill>
                  <a:srgbClr val="687386"/>
                </a:solidFill>
                <a:latin typeface="Malgun Gothic"/>
                <a:ea typeface="Malgun Gothic"/>
                <a:cs typeface="Malgun Gothic"/>
              </a:rPr>
              <a:t>과거 대화 · 선호 · 관심사</a:t>
            </a:r>
          </a:p>
        </p:txBody>
      </p:sp>
      <p:sp>
        <p:nvSpPr>
          <p:cNvPr id="10" name="neq">
            <a:extLst xmlns:a="http://schemas.openxmlformats.org/drawingml/2006/main">
              <a:ext uri="{FF2B5EF4-FFF2-40B4-BE49-F238E27FC236}">
                <a16:creationId xmlns:a16="http://schemas.microsoft.com/office/drawing/2014/main" id="{5433A59E-4D63-4E97-A056-FACBAF27375A}"/>
              </a:ext>
            </a:extLst>
          </p:cNvPr>
          <p:cNvSpPr>
            <a:spLocks xmlns:a="http://schemas.openxmlformats.org/drawingml/2006/main" noGrp="1"/>
          </p:cNvSpPr>
          <p:nvPr/>
        </p:nvSpPr>
        <p:spPr>
          <a:xfrm xmlns:a="http://schemas.openxmlformats.org/drawingml/2006/main">
            <a:off x="5657850" y="3257550"/>
            <a:ext cx="68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a:solidFill>
                  <a:srgbClr val="2563EB"/>
                </a:solidFill>
                <a:latin typeface="Malgun Gothic"/>
                <a:ea typeface="Malgun Gothic"/>
                <a:cs typeface="Malgun Gothic"/>
              </a:defRPr>
            </a:pPr>
            <a:r>
              <a:rPr sz="3600" b="1">
                <a:solidFill>
                  <a:srgbClr val="2563EB"/>
                </a:solidFill>
                <a:latin typeface="Malgun Gothic"/>
                <a:ea typeface="Malgun Gothic"/>
                <a:cs typeface="Malgun Gothic"/>
              </a:rPr>
              <a:t>≠</a:t>
            </a:r>
          </a:p>
        </p:txBody>
      </p:sp>
      <p:sp>
        <p:nvSpPr>
          <p:cNvPr id="11" name="state-panel">
            <a:extLst xmlns:a="http://schemas.openxmlformats.org/drawingml/2006/main">
              <a:ext uri="{FF2B5EF4-FFF2-40B4-BE49-F238E27FC236}">
                <a16:creationId xmlns:a16="http://schemas.microsoft.com/office/drawing/2014/main" id="{10E161C9-4EA8-4996-90C9-BD260731E640}"/>
              </a:ext>
            </a:extLst>
          </p:cNvPr>
          <p:cNvSpPr>
            <a:spLocks xmlns:a="http://schemas.openxmlformats.org/drawingml/2006/main" noGrp="1"/>
          </p:cNvSpPr>
          <p:nvPr/>
        </p:nvSpPr>
        <p:spPr>
          <a:xfrm xmlns:a="http://schemas.openxmlformats.org/drawingml/2006/main">
            <a:off x="6553200" y="2076450"/>
            <a:ext cx="4953000" cy="3295650"/>
          </a:xfrm>
          <a:prstGeom xmlns:a="http://schemas.openxmlformats.org/drawingml/2006/main" prst="roundRect">
            <a:avLst>
              <a:gd name="adj" fmla="val 5202"/>
            </a:avLst>
          </a:prstGeom>
          <a:solidFill xmlns:a="http://schemas.openxmlformats.org/drawingml/2006/main">
            <a:srgbClr val="EFF6FF"/>
          </a:solidFill>
          <a:ln xmlns:a="http://schemas.openxmlformats.org/drawingml/2006/main" w="9525">
            <a:solidFill>
              <a:srgbClr val="93C5FD"/>
            </a:solidFill>
            <a:prstDash val="solid"/>
          </a:ln>
        </p:spPr>
      </p:sp>
      <p:sp>
        <p:nvSpPr>
          <p:cNvPr id="12" name="state-pill-box">
            <a:extLst xmlns:a="http://schemas.openxmlformats.org/drawingml/2006/main">
              <a:ext uri="{FF2B5EF4-FFF2-40B4-BE49-F238E27FC236}">
                <a16:creationId xmlns:a16="http://schemas.microsoft.com/office/drawing/2014/main" id="{E2C514C5-70C1-4260-A780-641A83FAA9A1}"/>
              </a:ext>
            </a:extLst>
          </p:cNvPr>
          <p:cNvSpPr>
            <a:spLocks xmlns:a="http://schemas.openxmlformats.org/drawingml/2006/main" noGrp="1"/>
          </p:cNvSpPr>
          <p:nvPr/>
        </p:nvSpPr>
        <p:spPr>
          <a:xfrm xmlns:a="http://schemas.openxmlformats.org/drawingml/2006/main">
            <a:off x="6858000" y="2343150"/>
            <a:ext cx="2667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93C5FD"/>
            </a:solidFill>
            <a:prstDash val="solid"/>
          </a:ln>
        </p:spPr>
      </p:sp>
      <p:sp>
        <p:nvSpPr>
          <p:cNvPr id="13" name="state-pill">
            <a:extLst xmlns:a="http://schemas.openxmlformats.org/drawingml/2006/main">
              <a:ext uri="{FF2B5EF4-FFF2-40B4-BE49-F238E27FC236}">
                <a16:creationId xmlns:a16="http://schemas.microsoft.com/office/drawing/2014/main" id="{401EA441-2CD1-4DDC-B1B7-2A83EC720B58}"/>
              </a:ext>
            </a:extLst>
          </p:cNvPr>
          <p:cNvSpPr>
            <a:spLocks xmlns:a="http://schemas.openxmlformats.org/drawingml/2006/main" noGrp="1"/>
          </p:cNvSpPr>
          <p:nvPr/>
        </p:nvSpPr>
        <p:spPr>
          <a:xfrm xmlns:a="http://schemas.openxmlformats.org/drawingml/2006/main">
            <a:off x="6858000" y="235267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PEDAGOGICAL LEARNER STATE</a:t>
            </a:r>
          </a:p>
        </p:txBody>
      </p:sp>
      <p:sp>
        <p:nvSpPr>
          <p:cNvPr id="14" name="state-list">
            <a:extLst xmlns:a="http://schemas.openxmlformats.org/drawingml/2006/main">
              <a:ext uri="{FF2B5EF4-FFF2-40B4-BE49-F238E27FC236}">
                <a16:creationId xmlns:a16="http://schemas.microsoft.com/office/drawing/2014/main" id="{091E7F52-B7A5-46B2-84CA-14DF0F04762E}"/>
              </a:ext>
            </a:extLst>
          </p:cNvPr>
          <p:cNvSpPr>
            <a:spLocks xmlns:a="http://schemas.openxmlformats.org/drawingml/2006/main" noGrp="1"/>
          </p:cNvSpPr>
          <p:nvPr/>
        </p:nvSpPr>
        <p:spPr>
          <a:xfrm xmlns:a="http://schemas.openxmlformats.org/drawingml/2006/main">
            <a:off x="6858000" y="2971800"/>
            <a:ext cx="4095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950" b="1">
                <a:solidFill>
                  <a:srgbClr val="0C1D3A"/>
                </a:solidFill>
                <a:latin typeface="Malgun Gothic"/>
                <a:ea typeface="Malgun Gothic"/>
                <a:cs typeface="Malgun Gothic"/>
              </a:defRPr>
            </a:pPr>
            <a:r>
              <a:rPr sz="1950" b="1">
                <a:solidFill>
                  <a:srgbClr val="0C1D3A"/>
                </a:solidFill>
                <a:latin typeface="Malgun Gothic"/>
                <a:ea typeface="Malgun Gothic"/>
                <a:cs typeface="Malgun Gothic"/>
              </a:rPr>
              <a:t>Procedural Mastery</a:t>
            </a:r>
          </a:p>
          <a:p xmlns:a="http://schemas.openxmlformats.org/drawingml/2006/main">
            <a:pPr algn="l">
              <a:lnSpc>
                <a:spcPct val="115000"/>
              </a:lnSpc>
              <a:buNone/>
              <a:defRPr sz="1950" b="1">
                <a:solidFill>
                  <a:srgbClr val="0C1D3A"/>
                </a:solidFill>
                <a:latin typeface="Malgun Gothic"/>
                <a:ea typeface="Malgun Gothic"/>
                <a:cs typeface="Malgun Gothic"/>
              </a:defRPr>
            </a:pPr>
            <a:r>
              <a:rPr sz="1950" b="1">
                <a:solidFill>
                  <a:srgbClr val="0C1D3A"/>
                </a:solidFill>
                <a:latin typeface="Malgun Gothic"/>
                <a:ea typeface="Malgun Gothic"/>
                <a:cs typeface="Malgun Gothic"/>
              </a:rPr>
              <a:t>Help Need</a:t>
            </a:r>
          </a:p>
          <a:p xmlns:a="http://schemas.openxmlformats.org/drawingml/2006/main">
            <a:pPr algn="l">
              <a:lnSpc>
                <a:spcPct val="115000"/>
              </a:lnSpc>
              <a:buNone/>
              <a:defRPr sz="1950" b="1">
                <a:solidFill>
                  <a:srgbClr val="0C1D3A"/>
                </a:solidFill>
                <a:latin typeface="Malgun Gothic"/>
                <a:ea typeface="Malgun Gothic"/>
                <a:cs typeface="Malgun Gothic"/>
              </a:defRPr>
            </a:pPr>
            <a:r>
              <a:rPr sz="1950" b="1">
                <a:solidFill>
                  <a:srgbClr val="0C1D3A"/>
                </a:solidFill>
                <a:latin typeface="Malgun Gothic"/>
                <a:ea typeface="Malgun Gothic"/>
                <a:cs typeface="Malgun Gothic"/>
              </a:rPr>
              <a:t>Retrievability · Transferability</a:t>
            </a:r>
          </a:p>
        </p:txBody>
      </p:sp>
      <p:sp>
        <p:nvSpPr>
          <p:cNvPr id="15" name="state-question">
            <a:extLst xmlns:a="http://schemas.openxmlformats.org/drawingml/2006/main">
              <a:ext uri="{FF2B5EF4-FFF2-40B4-BE49-F238E27FC236}">
                <a16:creationId xmlns:a16="http://schemas.microsoft.com/office/drawing/2014/main" id="{8B7B6E30-27C2-4AEA-9FF4-3303EE1803E6}"/>
              </a:ext>
            </a:extLst>
          </p:cNvPr>
          <p:cNvSpPr>
            <a:spLocks xmlns:a="http://schemas.openxmlformats.org/drawingml/2006/main" noGrp="1"/>
          </p:cNvSpPr>
          <p:nvPr/>
        </p:nvSpPr>
        <p:spPr>
          <a:xfrm xmlns:a="http://schemas.openxmlformats.org/drawingml/2006/main">
            <a:off x="6858000" y="4476750"/>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746A2"/>
                </a:solidFill>
                <a:latin typeface="Malgun Gothic"/>
                <a:ea typeface="Malgun Gothic"/>
                <a:cs typeface="Malgun Gothic"/>
              </a:defRPr>
            </a:pPr>
            <a:r>
              <a:rPr sz="1725" b="1">
                <a:solidFill>
                  <a:srgbClr val="1746A2"/>
                </a:solidFill>
                <a:latin typeface="Malgun Gothic"/>
                <a:ea typeface="Malgun Gothic"/>
                <a:cs typeface="Malgun Gothic"/>
              </a:rPr>
              <a:t>How should this AI teach</a:t>
            </a:r>
          </a:p>
          <a:p xmlns:a="http://schemas.openxmlformats.org/drawingml/2006/main">
            <a:pPr algn="l">
              <a:defRPr sz="1725" b="1">
                <a:solidFill>
                  <a:srgbClr val="1746A2"/>
                </a:solidFill>
                <a:latin typeface="Malgun Gothic"/>
                <a:ea typeface="Malgun Gothic"/>
                <a:cs typeface="Malgun Gothic"/>
              </a:defRPr>
            </a:pPr>
            <a:r>
              <a:rPr sz="1725" b="1">
                <a:solidFill>
                  <a:srgbClr val="1746A2"/>
                </a:solidFill>
                <a:latin typeface="Malgun Gothic"/>
                <a:ea typeface="Malgun Gothic"/>
                <a:cs typeface="Malgun Gothic"/>
              </a:rPr>
              <a:t>this learner, right now?</a:t>
            </a:r>
          </a:p>
        </p:txBody>
      </p:sp>
      <p:sp>
        <p:nvSpPr>
          <p:cNvPr id="16" name="problem-foot">
            <a:extLst xmlns:a="http://schemas.openxmlformats.org/drawingml/2006/main">
              <a:ext uri="{FF2B5EF4-FFF2-40B4-BE49-F238E27FC236}">
                <a16:creationId xmlns:a16="http://schemas.microsoft.com/office/drawing/2014/main" id="{2040CCC2-5323-4395-8E6A-2418BB518806}"/>
              </a:ext>
            </a:extLst>
          </p:cNvPr>
          <p:cNvSpPr>
            <a:spLocks xmlns:a="http://schemas.openxmlformats.org/drawingml/2006/main" noGrp="1"/>
          </p:cNvSpPr>
          <p:nvPr/>
        </p:nvSpPr>
        <p:spPr>
          <a:xfrm xmlns:a="http://schemas.openxmlformats.org/drawingml/2006/main">
            <a:off x="685800" y="58102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8212F"/>
                </a:solidFill>
                <a:latin typeface="Malgun Gothic"/>
                <a:ea typeface="Malgun Gothic"/>
                <a:cs typeface="Malgun Gothic"/>
              </a:defRPr>
            </a:pPr>
            <a:r>
              <a:rPr sz="1725" b="1">
                <a:solidFill>
                  <a:srgbClr val="18212F"/>
                </a:solidFill>
                <a:latin typeface="Malgun Gothic"/>
                <a:ea typeface="Malgun Gothic"/>
                <a:cs typeface="Malgun Gothic"/>
              </a:rPr>
              <a:t>Memory는 맥락을 이어줍니다. StudyMeta는 그 맥락을 가르치는 결정으로 바꿉니다.</a:t>
            </a:r>
          </a:p>
        </p:txBody>
      </p:sp>
    </p:spTree>
    <p:extLst>
      <p:ext uri="{BB962C8B-B14F-4D97-AF65-F5344CB8AC3E}">
        <p14:creationId xmlns:p14="http://schemas.microsoft.com/office/powerpoint/2010/main" val="347963711"/>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4" name="eyebrow-3">
            <a:extLst xmlns:a="http://schemas.openxmlformats.org/drawingml/2006/main">
              <a:ext uri="{FF2B5EF4-FFF2-40B4-BE49-F238E27FC236}">
                <a16:creationId xmlns:a16="http://schemas.microsoft.com/office/drawing/2014/main" id="{BC043881-2F04-4E55-AFEA-9EF07AF7F72B}"/>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STUDYMETA · FKI 더하기 창업</a:t>
            </a:r>
          </a:p>
        </p:txBody>
      </p:sp>
      <p:sp>
        <p:nvSpPr>
          <p:cNvPr id="2" name="title-3">
            <a:extLst xmlns:a="http://schemas.openxmlformats.org/drawingml/2006/main">
              <a:ext uri="{FF2B5EF4-FFF2-40B4-BE49-F238E27FC236}">
                <a16:creationId xmlns:a16="http://schemas.microsoft.com/office/drawing/2014/main" id="{F4541B2C-7FF8-4462-8985-08E962AAF2B6}"/>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좋은 과외는 답변이 아니라 판단의 연속입니다</a:t>
            </a:r>
          </a:p>
        </p:txBody>
      </p:sp>
      <p:sp>
        <p:nvSpPr>
          <p:cNvPr id="3" name="page-3">
            <a:extLst xmlns:a="http://schemas.openxmlformats.org/drawingml/2006/main">
              <a:ext uri="{FF2B5EF4-FFF2-40B4-BE49-F238E27FC236}">
                <a16:creationId xmlns:a16="http://schemas.microsoft.com/office/drawing/2014/main" id="{A84FDCC2-C67F-41A0-97D3-3682955BD968}"/>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03</a:t>
            </a:r>
          </a:p>
        </p:txBody>
      </p:sp>
      <p:sp>
        <p:nvSpPr>
          <p:cNvPr id="4" name="insight-lead">
            <a:extLst xmlns:a="http://schemas.openxmlformats.org/drawingml/2006/main">
              <a:ext uri="{FF2B5EF4-FFF2-40B4-BE49-F238E27FC236}">
                <a16:creationId xmlns:a16="http://schemas.microsoft.com/office/drawing/2014/main" id="{5AD0A55F-39E4-4E14-A925-D5A959AD9F10}"/>
              </a:ext>
            </a:extLst>
          </p:cNvPr>
          <p:cNvSpPr>
            <a:spLocks xmlns:a="http://schemas.openxmlformats.org/drawingml/2006/main" noGrp="1"/>
          </p:cNvSpPr>
          <p:nvPr/>
        </p:nvSpPr>
        <p:spPr>
          <a:xfrm xmlns:a="http://schemas.openxmlformats.org/drawingml/2006/main">
            <a:off x="685800" y="131445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687386"/>
                </a:solidFill>
                <a:latin typeface="Malgun Gothic"/>
                <a:ea typeface="Malgun Gothic"/>
                <a:cs typeface="Malgun Gothic"/>
              </a:defRPr>
            </a:pPr>
            <a:r>
              <a:rPr sz="1650" b="0">
                <a:solidFill>
                  <a:srgbClr val="687386"/>
                </a:solidFill>
                <a:latin typeface="Malgun Gothic"/>
                <a:ea typeface="Malgun Gothic"/>
                <a:cs typeface="Malgun Gothic"/>
              </a:rPr>
              <a:t>관찰한 학습 행동을 기억하고, 다음 개입의 강도를 바꾸는 것이 개인화의 핵심입니다.</a:t>
            </a:r>
          </a:p>
        </p:txBody>
      </p:sp>
      <p:sp>
        <p:nvSpPr>
          <p:cNvPr id="5" name="loop-0">
            <a:extLst xmlns:a="http://schemas.openxmlformats.org/drawingml/2006/main">
              <a:ext uri="{FF2B5EF4-FFF2-40B4-BE49-F238E27FC236}">
                <a16:creationId xmlns:a16="http://schemas.microsoft.com/office/drawing/2014/main" id="{8A082168-F1B0-418E-95B8-9112B43918DF}"/>
              </a:ext>
            </a:extLst>
          </p:cNvPr>
          <p:cNvSpPr>
            <a:spLocks xmlns:a="http://schemas.openxmlformats.org/drawingml/2006/main" noGrp="1"/>
          </p:cNvSpPr>
          <p:nvPr/>
        </p:nvSpPr>
        <p:spPr>
          <a:xfrm xmlns:a="http://schemas.openxmlformats.org/drawingml/2006/main">
            <a:off x="838200" y="2209800"/>
            <a:ext cx="2000250" cy="161925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9525">
            <a:solidFill>
              <a:srgbClr val="E4E8EF"/>
            </a:solidFill>
            <a:prstDash val="solid"/>
          </a:ln>
        </p:spPr>
      </p:sp>
      <p:sp>
        <p:nvSpPr>
          <p:cNvPr id="6" name="loop-num-0">
            <a:extLst xmlns:a="http://schemas.openxmlformats.org/drawingml/2006/main">
              <a:ext uri="{FF2B5EF4-FFF2-40B4-BE49-F238E27FC236}">
                <a16:creationId xmlns:a16="http://schemas.microsoft.com/office/drawing/2014/main" id="{5BF0A116-DFA1-416C-A42F-69FB05F238B9}"/>
              </a:ext>
            </a:extLst>
          </p:cNvPr>
          <p:cNvSpPr>
            <a:spLocks xmlns:a="http://schemas.openxmlformats.org/drawingml/2006/main" noGrp="1"/>
          </p:cNvSpPr>
          <p:nvPr/>
        </p:nvSpPr>
        <p:spPr>
          <a:xfrm xmlns:a="http://schemas.openxmlformats.org/drawingml/2006/main">
            <a:off x="1047750" y="24003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563EB"/>
                </a:solidFill>
                <a:latin typeface="Malgun Gothic"/>
                <a:ea typeface="Malgun Gothic"/>
                <a:cs typeface="Malgun Gothic"/>
              </a:defRPr>
            </a:pPr>
            <a:r>
              <a:rPr sz="1125" b="1">
                <a:solidFill>
                  <a:srgbClr val="2563EB"/>
                </a:solidFill>
                <a:latin typeface="Malgun Gothic"/>
                <a:ea typeface="Malgun Gothic"/>
                <a:cs typeface="Malgun Gothic"/>
              </a:rPr>
              <a:t>01</a:t>
            </a:r>
          </a:p>
        </p:txBody>
      </p:sp>
      <p:sp>
        <p:nvSpPr>
          <p:cNvPr id="7" name="loop-title-0">
            <a:extLst xmlns:a="http://schemas.openxmlformats.org/drawingml/2006/main">
              <a:ext uri="{FF2B5EF4-FFF2-40B4-BE49-F238E27FC236}">
                <a16:creationId xmlns:a16="http://schemas.microsoft.com/office/drawing/2014/main" id="{B27D3201-1B30-42C1-9777-83AA0377313C}"/>
              </a:ext>
            </a:extLst>
          </p:cNvPr>
          <p:cNvSpPr>
            <a:spLocks xmlns:a="http://schemas.openxmlformats.org/drawingml/2006/main" noGrp="1"/>
          </p:cNvSpPr>
          <p:nvPr/>
        </p:nvSpPr>
        <p:spPr>
          <a:xfrm xmlns:a="http://schemas.openxmlformats.org/drawingml/2006/main">
            <a:off x="1047750" y="27813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C1D3A"/>
                </a:solidFill>
                <a:latin typeface="Malgun Gothic"/>
                <a:ea typeface="Malgun Gothic"/>
                <a:cs typeface="Malgun Gothic"/>
              </a:defRPr>
            </a:pPr>
            <a:r>
              <a:rPr sz="2250" b="1">
                <a:solidFill>
                  <a:srgbClr val="0C1D3A"/>
                </a:solidFill>
                <a:latin typeface="Malgun Gothic"/>
                <a:ea typeface="Malgun Gothic"/>
                <a:cs typeface="Malgun Gothic"/>
              </a:rPr>
              <a:t>관찰</a:t>
            </a:r>
          </a:p>
        </p:txBody>
      </p:sp>
      <p:sp>
        <p:nvSpPr>
          <p:cNvPr id="8" name="loop-body-0">
            <a:extLst xmlns:a="http://schemas.openxmlformats.org/drawingml/2006/main">
              <a:ext uri="{FF2B5EF4-FFF2-40B4-BE49-F238E27FC236}">
                <a16:creationId xmlns:a16="http://schemas.microsoft.com/office/drawing/2014/main" id="{61C669F3-48A6-448C-A676-39EB7D6588F8}"/>
              </a:ext>
            </a:extLst>
          </p:cNvPr>
          <p:cNvSpPr>
            <a:spLocks xmlns:a="http://schemas.openxmlformats.org/drawingml/2006/main" noGrp="1"/>
          </p:cNvSpPr>
          <p:nvPr/>
        </p:nvSpPr>
        <p:spPr>
          <a:xfrm xmlns:a="http://schemas.openxmlformats.org/drawingml/2006/main">
            <a:off x="1047750" y="327660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386"/>
                </a:solidFill>
                <a:latin typeface="Malgun Gothic"/>
                <a:ea typeface="Malgun Gothic"/>
                <a:cs typeface="Malgun Gothic"/>
              </a:defRPr>
            </a:pPr>
            <a:r>
              <a:rPr sz="1275" b="0">
                <a:solidFill>
                  <a:srgbClr val="687386"/>
                </a:solidFill>
                <a:latin typeface="Malgun Gothic"/>
                <a:ea typeface="Malgun Gothic"/>
                <a:cs typeface="Malgun Gothic"/>
              </a:rPr>
              <a:t>정오답 · 힌트 · 재시도</a:t>
            </a:r>
          </a:p>
        </p:txBody>
      </p:sp>
      <p:sp>
        <p:nvSpPr>
          <p:cNvPr id="9" name="loop-arrow-0">
            <a:extLst xmlns:a="http://schemas.openxmlformats.org/drawingml/2006/main">
              <a:ext uri="{FF2B5EF4-FFF2-40B4-BE49-F238E27FC236}">
                <a16:creationId xmlns:a16="http://schemas.microsoft.com/office/drawing/2014/main" id="{2DF0A562-D592-4D0B-A5CE-10D6906F17E1}"/>
              </a:ext>
            </a:extLst>
          </p:cNvPr>
          <p:cNvSpPr>
            <a:spLocks xmlns:a="http://schemas.openxmlformats.org/drawingml/2006/main" noGrp="1"/>
          </p:cNvSpPr>
          <p:nvPr/>
        </p:nvSpPr>
        <p:spPr>
          <a:xfrm xmlns:a="http://schemas.openxmlformats.org/drawingml/2006/main">
            <a:off x="2933700" y="27813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2563EB"/>
                </a:solidFill>
                <a:latin typeface="Malgun Gothic"/>
                <a:ea typeface="Malgun Gothic"/>
                <a:cs typeface="Malgun Gothic"/>
              </a:defRPr>
            </a:pPr>
            <a:r>
              <a:rPr sz="2100" b="1">
                <a:solidFill>
                  <a:srgbClr val="2563EB"/>
                </a:solidFill>
                <a:latin typeface="Malgun Gothic"/>
                <a:ea typeface="Malgun Gothic"/>
                <a:cs typeface="Malgun Gothic"/>
              </a:rPr>
              <a:t>→</a:t>
            </a:r>
          </a:p>
        </p:txBody>
      </p:sp>
      <p:sp>
        <p:nvSpPr>
          <p:cNvPr id="10" name="loop-1">
            <a:extLst xmlns:a="http://schemas.openxmlformats.org/drawingml/2006/main">
              <a:ext uri="{FF2B5EF4-FFF2-40B4-BE49-F238E27FC236}">
                <a16:creationId xmlns:a16="http://schemas.microsoft.com/office/drawing/2014/main" id="{C2C6BFBF-FFB9-4DF4-B06E-93C662E141A8}"/>
              </a:ext>
            </a:extLst>
          </p:cNvPr>
          <p:cNvSpPr>
            <a:spLocks xmlns:a="http://schemas.openxmlformats.org/drawingml/2006/main" noGrp="1"/>
          </p:cNvSpPr>
          <p:nvPr/>
        </p:nvSpPr>
        <p:spPr>
          <a:xfrm xmlns:a="http://schemas.openxmlformats.org/drawingml/2006/main">
            <a:off x="3371850" y="2209800"/>
            <a:ext cx="2000250" cy="161925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9525">
            <a:solidFill>
              <a:srgbClr val="E4E8EF"/>
            </a:solidFill>
            <a:prstDash val="solid"/>
          </a:ln>
        </p:spPr>
      </p:sp>
      <p:sp>
        <p:nvSpPr>
          <p:cNvPr id="11" name="loop-num-1">
            <a:extLst xmlns:a="http://schemas.openxmlformats.org/drawingml/2006/main">
              <a:ext uri="{FF2B5EF4-FFF2-40B4-BE49-F238E27FC236}">
                <a16:creationId xmlns:a16="http://schemas.microsoft.com/office/drawing/2014/main" id="{6BDC7D38-9929-4E71-85B6-C7655B918ADE}"/>
              </a:ext>
            </a:extLst>
          </p:cNvPr>
          <p:cNvSpPr>
            <a:spLocks xmlns:a="http://schemas.openxmlformats.org/drawingml/2006/main" noGrp="1"/>
          </p:cNvSpPr>
          <p:nvPr/>
        </p:nvSpPr>
        <p:spPr>
          <a:xfrm xmlns:a="http://schemas.openxmlformats.org/drawingml/2006/main">
            <a:off x="3581400" y="24003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563EB"/>
                </a:solidFill>
                <a:latin typeface="Malgun Gothic"/>
                <a:ea typeface="Malgun Gothic"/>
                <a:cs typeface="Malgun Gothic"/>
              </a:defRPr>
            </a:pPr>
            <a:r>
              <a:rPr sz="1125" b="1">
                <a:solidFill>
                  <a:srgbClr val="2563EB"/>
                </a:solidFill>
                <a:latin typeface="Malgun Gothic"/>
                <a:ea typeface="Malgun Gothic"/>
                <a:cs typeface="Malgun Gothic"/>
              </a:rPr>
              <a:t>02</a:t>
            </a:r>
          </a:p>
        </p:txBody>
      </p:sp>
      <p:sp>
        <p:nvSpPr>
          <p:cNvPr id="12" name="loop-title-1">
            <a:extLst xmlns:a="http://schemas.openxmlformats.org/drawingml/2006/main">
              <a:ext uri="{FF2B5EF4-FFF2-40B4-BE49-F238E27FC236}">
                <a16:creationId xmlns:a16="http://schemas.microsoft.com/office/drawing/2014/main" id="{67BE576A-73EE-4C8B-969D-757B1F99108C}"/>
              </a:ext>
            </a:extLst>
          </p:cNvPr>
          <p:cNvSpPr>
            <a:spLocks xmlns:a="http://schemas.openxmlformats.org/drawingml/2006/main" noGrp="1"/>
          </p:cNvSpPr>
          <p:nvPr/>
        </p:nvSpPr>
        <p:spPr>
          <a:xfrm xmlns:a="http://schemas.openxmlformats.org/drawingml/2006/main">
            <a:off x="3581400" y="27813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C1D3A"/>
                </a:solidFill>
                <a:latin typeface="Malgun Gothic"/>
                <a:ea typeface="Malgun Gothic"/>
                <a:cs typeface="Malgun Gothic"/>
              </a:defRPr>
            </a:pPr>
            <a:r>
              <a:rPr sz="2250" b="1">
                <a:solidFill>
                  <a:srgbClr val="0C1D3A"/>
                </a:solidFill>
                <a:latin typeface="Malgun Gothic"/>
                <a:ea typeface="Malgun Gothic"/>
                <a:cs typeface="Malgun Gothic"/>
              </a:rPr>
              <a:t>기억</a:t>
            </a:r>
          </a:p>
        </p:txBody>
      </p:sp>
      <p:sp>
        <p:nvSpPr>
          <p:cNvPr id="13" name="loop-body-1">
            <a:extLst xmlns:a="http://schemas.openxmlformats.org/drawingml/2006/main">
              <a:ext uri="{FF2B5EF4-FFF2-40B4-BE49-F238E27FC236}">
                <a16:creationId xmlns:a16="http://schemas.microsoft.com/office/drawing/2014/main" id="{37D6D726-95DD-4E26-B067-7ED6B2C25FAF}"/>
              </a:ext>
            </a:extLst>
          </p:cNvPr>
          <p:cNvSpPr>
            <a:spLocks xmlns:a="http://schemas.openxmlformats.org/drawingml/2006/main" noGrp="1"/>
          </p:cNvSpPr>
          <p:nvPr/>
        </p:nvSpPr>
        <p:spPr>
          <a:xfrm xmlns:a="http://schemas.openxmlformats.org/drawingml/2006/main">
            <a:off x="3581400" y="327660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386"/>
                </a:solidFill>
                <a:latin typeface="Malgun Gothic"/>
                <a:ea typeface="Malgun Gothic"/>
                <a:cs typeface="Malgun Gothic"/>
              </a:defRPr>
            </a:pPr>
            <a:r>
              <a:rPr sz="1275" b="0">
                <a:solidFill>
                  <a:srgbClr val="687386"/>
                </a:solidFill>
                <a:latin typeface="Malgun Gothic"/>
                <a:ea typeface="Malgun Gothic"/>
                <a:cs typeface="Malgun Gothic"/>
              </a:rPr>
              <a:t>개념별 학습 상태</a:t>
            </a:r>
          </a:p>
        </p:txBody>
      </p:sp>
      <p:sp>
        <p:nvSpPr>
          <p:cNvPr id="14" name="loop-arrow-1">
            <a:extLst xmlns:a="http://schemas.openxmlformats.org/drawingml/2006/main">
              <a:ext uri="{FF2B5EF4-FFF2-40B4-BE49-F238E27FC236}">
                <a16:creationId xmlns:a16="http://schemas.microsoft.com/office/drawing/2014/main" id="{80C20FC6-8DCA-4736-886D-0430A7657D08}"/>
              </a:ext>
            </a:extLst>
          </p:cNvPr>
          <p:cNvSpPr>
            <a:spLocks xmlns:a="http://schemas.openxmlformats.org/drawingml/2006/main" noGrp="1"/>
          </p:cNvSpPr>
          <p:nvPr/>
        </p:nvSpPr>
        <p:spPr>
          <a:xfrm xmlns:a="http://schemas.openxmlformats.org/drawingml/2006/main">
            <a:off x="5467350" y="27813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2563EB"/>
                </a:solidFill>
                <a:latin typeface="Malgun Gothic"/>
                <a:ea typeface="Malgun Gothic"/>
                <a:cs typeface="Malgun Gothic"/>
              </a:defRPr>
            </a:pPr>
            <a:r>
              <a:rPr sz="2100" b="1">
                <a:solidFill>
                  <a:srgbClr val="2563EB"/>
                </a:solidFill>
                <a:latin typeface="Malgun Gothic"/>
                <a:ea typeface="Malgun Gothic"/>
                <a:cs typeface="Malgun Gothic"/>
              </a:rPr>
              <a:t>→</a:t>
            </a:r>
          </a:p>
        </p:txBody>
      </p:sp>
      <p:sp>
        <p:nvSpPr>
          <p:cNvPr id="15" name="loop-2">
            <a:extLst xmlns:a="http://schemas.openxmlformats.org/drawingml/2006/main">
              <a:ext uri="{FF2B5EF4-FFF2-40B4-BE49-F238E27FC236}">
                <a16:creationId xmlns:a16="http://schemas.microsoft.com/office/drawing/2014/main" id="{68222414-516D-4D8C-8A66-D8508A9A15D7}"/>
              </a:ext>
            </a:extLst>
          </p:cNvPr>
          <p:cNvSpPr>
            <a:spLocks xmlns:a="http://schemas.openxmlformats.org/drawingml/2006/main" noGrp="1"/>
          </p:cNvSpPr>
          <p:nvPr/>
        </p:nvSpPr>
        <p:spPr>
          <a:xfrm xmlns:a="http://schemas.openxmlformats.org/drawingml/2006/main">
            <a:off x="5905500" y="2209800"/>
            <a:ext cx="2000250" cy="161925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9525">
            <a:solidFill>
              <a:srgbClr val="E4E8EF"/>
            </a:solidFill>
            <a:prstDash val="solid"/>
          </a:ln>
        </p:spPr>
      </p:sp>
      <p:sp>
        <p:nvSpPr>
          <p:cNvPr id="16" name="loop-num-2">
            <a:extLst xmlns:a="http://schemas.openxmlformats.org/drawingml/2006/main">
              <a:ext uri="{FF2B5EF4-FFF2-40B4-BE49-F238E27FC236}">
                <a16:creationId xmlns:a16="http://schemas.microsoft.com/office/drawing/2014/main" id="{7DA2497A-AF62-4C94-BDF1-EA36FA389F04}"/>
              </a:ext>
            </a:extLst>
          </p:cNvPr>
          <p:cNvSpPr>
            <a:spLocks xmlns:a="http://schemas.openxmlformats.org/drawingml/2006/main" noGrp="1"/>
          </p:cNvSpPr>
          <p:nvPr/>
        </p:nvSpPr>
        <p:spPr>
          <a:xfrm xmlns:a="http://schemas.openxmlformats.org/drawingml/2006/main">
            <a:off x="6115050" y="24003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563EB"/>
                </a:solidFill>
                <a:latin typeface="Malgun Gothic"/>
                <a:ea typeface="Malgun Gothic"/>
                <a:cs typeface="Malgun Gothic"/>
              </a:defRPr>
            </a:pPr>
            <a:r>
              <a:rPr sz="1125" b="1">
                <a:solidFill>
                  <a:srgbClr val="2563EB"/>
                </a:solidFill>
                <a:latin typeface="Malgun Gothic"/>
                <a:ea typeface="Malgun Gothic"/>
                <a:cs typeface="Malgun Gothic"/>
              </a:rPr>
              <a:t>03</a:t>
            </a:r>
          </a:p>
        </p:txBody>
      </p:sp>
      <p:sp>
        <p:nvSpPr>
          <p:cNvPr id="17" name="loop-title-2">
            <a:extLst xmlns:a="http://schemas.openxmlformats.org/drawingml/2006/main">
              <a:ext uri="{FF2B5EF4-FFF2-40B4-BE49-F238E27FC236}">
                <a16:creationId xmlns:a16="http://schemas.microsoft.com/office/drawing/2014/main" id="{3C38A405-EB30-4753-B859-D81E87486928}"/>
              </a:ext>
            </a:extLst>
          </p:cNvPr>
          <p:cNvSpPr>
            <a:spLocks xmlns:a="http://schemas.openxmlformats.org/drawingml/2006/main" noGrp="1"/>
          </p:cNvSpPr>
          <p:nvPr/>
        </p:nvSpPr>
        <p:spPr>
          <a:xfrm xmlns:a="http://schemas.openxmlformats.org/drawingml/2006/main">
            <a:off x="6115050" y="27813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C1D3A"/>
                </a:solidFill>
                <a:latin typeface="Malgun Gothic"/>
                <a:ea typeface="Malgun Gothic"/>
                <a:cs typeface="Malgun Gothic"/>
              </a:defRPr>
            </a:pPr>
            <a:r>
              <a:rPr sz="2250" b="1">
                <a:solidFill>
                  <a:srgbClr val="0C1D3A"/>
                </a:solidFill>
                <a:latin typeface="Malgun Gothic"/>
                <a:ea typeface="Malgun Gothic"/>
                <a:cs typeface="Malgun Gothic"/>
              </a:rPr>
              <a:t>판단</a:t>
            </a:r>
          </a:p>
        </p:txBody>
      </p:sp>
      <p:sp>
        <p:nvSpPr>
          <p:cNvPr id="18" name="loop-body-2">
            <a:extLst xmlns:a="http://schemas.openxmlformats.org/drawingml/2006/main">
              <a:ext uri="{FF2B5EF4-FFF2-40B4-BE49-F238E27FC236}">
                <a16:creationId xmlns:a16="http://schemas.microsoft.com/office/drawing/2014/main" id="{F6AEAD4E-D54E-4CE5-9ACC-B07BD9982AA4}"/>
              </a:ext>
            </a:extLst>
          </p:cNvPr>
          <p:cNvSpPr>
            <a:spLocks xmlns:a="http://schemas.openxmlformats.org/drawingml/2006/main" noGrp="1"/>
          </p:cNvSpPr>
          <p:nvPr/>
        </p:nvSpPr>
        <p:spPr>
          <a:xfrm xmlns:a="http://schemas.openxmlformats.org/drawingml/2006/main">
            <a:off x="6115050" y="327660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386"/>
                </a:solidFill>
                <a:latin typeface="Malgun Gothic"/>
                <a:ea typeface="Malgun Gothic"/>
                <a:cs typeface="Malgun Gothic"/>
              </a:defRPr>
            </a:pPr>
            <a:r>
              <a:rPr sz="1275" b="0">
                <a:solidFill>
                  <a:srgbClr val="687386"/>
                </a:solidFill>
                <a:latin typeface="Malgun Gothic"/>
                <a:ea typeface="Malgun Gothic"/>
                <a:cs typeface="Malgun Gothic"/>
              </a:rPr>
              <a:t>지금 필요한 개입</a:t>
            </a:r>
          </a:p>
        </p:txBody>
      </p:sp>
      <p:sp>
        <p:nvSpPr>
          <p:cNvPr id="19" name="loop-arrow-2">
            <a:extLst xmlns:a="http://schemas.openxmlformats.org/drawingml/2006/main">
              <a:ext uri="{FF2B5EF4-FFF2-40B4-BE49-F238E27FC236}">
                <a16:creationId xmlns:a16="http://schemas.microsoft.com/office/drawing/2014/main" id="{7BD3C08F-3F48-42D4-A111-5AEF69245EA2}"/>
              </a:ext>
            </a:extLst>
          </p:cNvPr>
          <p:cNvSpPr>
            <a:spLocks xmlns:a="http://schemas.openxmlformats.org/drawingml/2006/main" noGrp="1"/>
          </p:cNvSpPr>
          <p:nvPr/>
        </p:nvSpPr>
        <p:spPr>
          <a:xfrm xmlns:a="http://schemas.openxmlformats.org/drawingml/2006/main">
            <a:off x="8001000" y="27813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2563EB"/>
                </a:solidFill>
                <a:latin typeface="Malgun Gothic"/>
                <a:ea typeface="Malgun Gothic"/>
                <a:cs typeface="Malgun Gothic"/>
              </a:defRPr>
            </a:pPr>
            <a:r>
              <a:rPr sz="2100" b="1">
                <a:solidFill>
                  <a:srgbClr val="2563EB"/>
                </a:solidFill>
                <a:latin typeface="Malgun Gothic"/>
                <a:ea typeface="Malgun Gothic"/>
                <a:cs typeface="Malgun Gothic"/>
              </a:rPr>
              <a:t>→</a:t>
            </a:r>
          </a:p>
        </p:txBody>
      </p:sp>
      <p:sp>
        <p:nvSpPr>
          <p:cNvPr id="20" name="loop-3">
            <a:extLst xmlns:a="http://schemas.openxmlformats.org/drawingml/2006/main">
              <a:ext uri="{FF2B5EF4-FFF2-40B4-BE49-F238E27FC236}">
                <a16:creationId xmlns:a16="http://schemas.microsoft.com/office/drawing/2014/main" id="{EFE04E9C-4E7F-485D-A85B-B65B823CCFC7}"/>
              </a:ext>
            </a:extLst>
          </p:cNvPr>
          <p:cNvSpPr>
            <a:spLocks xmlns:a="http://schemas.openxmlformats.org/drawingml/2006/main" noGrp="1"/>
          </p:cNvSpPr>
          <p:nvPr/>
        </p:nvSpPr>
        <p:spPr>
          <a:xfrm xmlns:a="http://schemas.openxmlformats.org/drawingml/2006/main">
            <a:off x="8439150" y="2209800"/>
            <a:ext cx="2000250" cy="1619250"/>
          </a:xfrm>
          <a:prstGeom xmlns:a="http://schemas.openxmlformats.org/drawingml/2006/main" prst="roundRect">
            <a:avLst>
              <a:gd name="adj" fmla="val 10588"/>
            </a:avLst>
          </a:prstGeom>
          <a:solidFill xmlns:a="http://schemas.openxmlformats.org/drawingml/2006/main">
            <a:srgbClr val="EFF6FF"/>
          </a:solidFill>
          <a:ln xmlns:a="http://schemas.openxmlformats.org/drawingml/2006/main" w="9525">
            <a:solidFill>
              <a:srgbClr val="93C5FD"/>
            </a:solidFill>
            <a:prstDash val="solid"/>
          </a:ln>
        </p:spPr>
      </p:sp>
      <p:sp>
        <p:nvSpPr>
          <p:cNvPr id="21" name="loop-num-3">
            <a:extLst xmlns:a="http://schemas.openxmlformats.org/drawingml/2006/main">
              <a:ext uri="{FF2B5EF4-FFF2-40B4-BE49-F238E27FC236}">
                <a16:creationId xmlns:a16="http://schemas.microsoft.com/office/drawing/2014/main" id="{D3601FF1-7DAE-46F2-8A47-C09CA3B0CA35}"/>
              </a:ext>
            </a:extLst>
          </p:cNvPr>
          <p:cNvSpPr>
            <a:spLocks xmlns:a="http://schemas.openxmlformats.org/drawingml/2006/main" noGrp="1"/>
          </p:cNvSpPr>
          <p:nvPr/>
        </p:nvSpPr>
        <p:spPr>
          <a:xfrm xmlns:a="http://schemas.openxmlformats.org/drawingml/2006/main">
            <a:off x="8648700" y="24003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563EB"/>
                </a:solidFill>
                <a:latin typeface="Malgun Gothic"/>
                <a:ea typeface="Malgun Gothic"/>
                <a:cs typeface="Malgun Gothic"/>
              </a:defRPr>
            </a:pPr>
            <a:r>
              <a:rPr sz="1125" b="1">
                <a:solidFill>
                  <a:srgbClr val="2563EB"/>
                </a:solidFill>
                <a:latin typeface="Malgun Gothic"/>
                <a:ea typeface="Malgun Gothic"/>
                <a:cs typeface="Malgun Gothic"/>
              </a:rPr>
              <a:t>04</a:t>
            </a:r>
          </a:p>
        </p:txBody>
      </p:sp>
      <p:sp>
        <p:nvSpPr>
          <p:cNvPr id="22" name="loop-title-3">
            <a:extLst xmlns:a="http://schemas.openxmlformats.org/drawingml/2006/main">
              <a:ext uri="{FF2B5EF4-FFF2-40B4-BE49-F238E27FC236}">
                <a16:creationId xmlns:a16="http://schemas.microsoft.com/office/drawing/2014/main" id="{F9BE9B6E-A8C0-4BB7-A825-D39F90A160D8}"/>
              </a:ext>
            </a:extLst>
          </p:cNvPr>
          <p:cNvSpPr>
            <a:spLocks xmlns:a="http://schemas.openxmlformats.org/drawingml/2006/main" noGrp="1"/>
          </p:cNvSpPr>
          <p:nvPr/>
        </p:nvSpPr>
        <p:spPr>
          <a:xfrm xmlns:a="http://schemas.openxmlformats.org/drawingml/2006/main">
            <a:off x="8648700" y="27813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C1D3A"/>
                </a:solidFill>
                <a:latin typeface="Malgun Gothic"/>
                <a:ea typeface="Malgun Gothic"/>
                <a:cs typeface="Malgun Gothic"/>
              </a:defRPr>
            </a:pPr>
            <a:r>
              <a:rPr sz="2250" b="1">
                <a:solidFill>
                  <a:srgbClr val="0C1D3A"/>
                </a:solidFill>
                <a:latin typeface="Malgun Gothic"/>
                <a:ea typeface="Malgun Gothic"/>
                <a:cs typeface="Malgun Gothic"/>
              </a:rPr>
              <a:t>변경</a:t>
            </a:r>
          </a:p>
        </p:txBody>
      </p:sp>
      <p:sp>
        <p:nvSpPr>
          <p:cNvPr id="23" name="loop-body-3">
            <a:extLst xmlns:a="http://schemas.openxmlformats.org/drawingml/2006/main">
              <a:ext uri="{FF2B5EF4-FFF2-40B4-BE49-F238E27FC236}">
                <a16:creationId xmlns:a16="http://schemas.microsoft.com/office/drawing/2014/main" id="{9C9D27EF-1C4B-45E4-BEDE-C19F2119FE95}"/>
              </a:ext>
            </a:extLst>
          </p:cNvPr>
          <p:cNvSpPr>
            <a:spLocks xmlns:a="http://schemas.openxmlformats.org/drawingml/2006/main" noGrp="1"/>
          </p:cNvSpPr>
          <p:nvPr/>
        </p:nvSpPr>
        <p:spPr>
          <a:xfrm xmlns:a="http://schemas.openxmlformats.org/drawingml/2006/main">
            <a:off x="8648700" y="3276600"/>
            <a:ext cx="1600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386"/>
                </a:solidFill>
                <a:latin typeface="Malgun Gothic"/>
                <a:ea typeface="Malgun Gothic"/>
                <a:cs typeface="Malgun Gothic"/>
              </a:defRPr>
            </a:pPr>
            <a:r>
              <a:rPr sz="1275" b="0">
                <a:solidFill>
                  <a:srgbClr val="687386"/>
                </a:solidFill>
                <a:latin typeface="Malgun Gothic"/>
                <a:ea typeface="Malgun Gothic"/>
                <a:cs typeface="Malgun Gothic"/>
              </a:rPr>
              <a:t>설명 · 힌트 · 독립성</a:t>
            </a:r>
          </a:p>
        </p:txBody>
      </p:sp>
      <p:sp>
        <p:nvSpPr>
          <p:cNvPr id="24" name="platform-insight">
            <a:extLst xmlns:a="http://schemas.openxmlformats.org/drawingml/2006/main">
              <a:ext uri="{FF2B5EF4-FFF2-40B4-BE49-F238E27FC236}">
                <a16:creationId xmlns:a16="http://schemas.microsoft.com/office/drawing/2014/main" id="{A69ADB9E-5A3E-43E8-9457-D9EFB04F8AD0}"/>
              </a:ext>
            </a:extLst>
          </p:cNvPr>
          <p:cNvSpPr>
            <a:spLocks xmlns:a="http://schemas.openxmlformats.org/drawingml/2006/main" noGrp="1"/>
          </p:cNvSpPr>
          <p:nvPr/>
        </p:nvSpPr>
        <p:spPr>
          <a:xfrm xmlns:a="http://schemas.openxmlformats.org/drawingml/2006/main">
            <a:off x="685800" y="44577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8212F"/>
                </a:solidFill>
                <a:latin typeface="Malgun Gothic"/>
                <a:ea typeface="Malgun Gothic"/>
                <a:cs typeface="Malgun Gothic"/>
              </a:defRPr>
            </a:pPr>
            <a:r>
              <a:rPr sz="1875" b="1">
                <a:solidFill>
                  <a:srgbClr val="18212F"/>
                </a:solidFill>
                <a:latin typeface="Malgun Gothic"/>
                <a:ea typeface="Malgun Gothic"/>
                <a:cs typeface="Malgun Gothic"/>
              </a:rPr>
              <a:t>AI Tutor들은 이미 Learner Modeling으로 발전하고 있습니다.</a:t>
            </a:r>
          </a:p>
        </p:txBody>
      </p:sp>
      <p:sp>
        <p:nvSpPr>
          <p:cNvPr id="25" name="platform-bound">
            <a:extLst xmlns:a="http://schemas.openxmlformats.org/drawingml/2006/main">
              <a:ext uri="{FF2B5EF4-FFF2-40B4-BE49-F238E27FC236}">
                <a16:creationId xmlns:a16="http://schemas.microsoft.com/office/drawing/2014/main" id="{840D61BC-4F7F-40BA-B0C6-FDBD52DB658C}"/>
              </a:ext>
            </a:extLst>
          </p:cNvPr>
          <p:cNvSpPr>
            <a:spLocks xmlns:a="http://schemas.openxmlformats.org/drawingml/2006/main" noGrp="1"/>
          </p:cNvSpPr>
          <p:nvPr/>
        </p:nvSpPr>
        <p:spPr>
          <a:xfrm xmlns:a="http://schemas.openxmlformats.org/drawingml/2006/main">
            <a:off x="685800" y="489585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a:solidFill>
                  <a:srgbClr val="1746A2"/>
                </a:solidFill>
                <a:latin typeface="Malgun Gothic"/>
                <a:ea typeface="Malgun Gothic"/>
                <a:cs typeface="Malgun Gothic"/>
              </a:defRPr>
            </a:pPr>
            <a:r>
              <a:rPr sz="1800" b="0">
                <a:solidFill>
                  <a:srgbClr val="1746A2"/>
                </a:solidFill>
                <a:latin typeface="Malgun Gothic"/>
                <a:ea typeface="Malgun Gothic"/>
                <a:cs typeface="Malgun Gothic"/>
              </a:rPr>
              <a:t>하지만 그 learner intelligence는 각 서비스 안에 따로 존재합니다.</a:t>
            </a:r>
          </a:p>
        </p:txBody>
      </p:sp>
      <p:sp>
        <p:nvSpPr>
          <p:cNvPr id="26" name="aleks-box">
            <a:extLst xmlns:a="http://schemas.openxmlformats.org/drawingml/2006/main">
              <a:ext uri="{FF2B5EF4-FFF2-40B4-BE49-F238E27FC236}">
                <a16:creationId xmlns:a16="http://schemas.microsoft.com/office/drawing/2014/main" id="{D3129D5A-5B2E-448D-B8B2-6B633A6BF96C}"/>
              </a:ext>
            </a:extLst>
          </p:cNvPr>
          <p:cNvSpPr>
            <a:spLocks xmlns:a="http://schemas.openxmlformats.org/drawingml/2006/main" noGrp="1"/>
          </p:cNvSpPr>
          <p:nvPr/>
        </p:nvSpPr>
        <p:spPr>
          <a:xfrm xmlns:a="http://schemas.openxmlformats.org/drawingml/2006/main">
            <a:off x="2571750" y="5562600"/>
            <a:ext cx="1428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5DBE5"/>
            </a:solidFill>
            <a:prstDash val="solid"/>
          </a:ln>
        </p:spPr>
      </p:sp>
      <p:sp>
        <p:nvSpPr>
          <p:cNvPr id="27" name="aleks">
            <a:extLst xmlns:a="http://schemas.openxmlformats.org/drawingml/2006/main">
              <a:ext uri="{FF2B5EF4-FFF2-40B4-BE49-F238E27FC236}">
                <a16:creationId xmlns:a16="http://schemas.microsoft.com/office/drawing/2014/main" id="{3C8D19D4-4415-4244-98DF-359F34347B12}"/>
              </a:ext>
            </a:extLst>
          </p:cNvPr>
          <p:cNvSpPr>
            <a:spLocks xmlns:a="http://schemas.openxmlformats.org/drawingml/2006/main" noGrp="1"/>
          </p:cNvSpPr>
          <p:nvPr/>
        </p:nvSpPr>
        <p:spPr>
          <a:xfrm xmlns:a="http://schemas.openxmlformats.org/drawingml/2006/main">
            <a:off x="2571750" y="557212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212F"/>
                </a:solidFill>
                <a:latin typeface="Malgun Gothic"/>
                <a:ea typeface="Malgun Gothic"/>
                <a:cs typeface="Malgun Gothic"/>
              </a:defRPr>
            </a:pPr>
            <a:r>
              <a:rPr sz="1200" b="1">
                <a:solidFill>
                  <a:srgbClr val="18212F"/>
                </a:solidFill>
                <a:latin typeface="Malgun Gothic"/>
                <a:ea typeface="Malgun Gothic"/>
                <a:cs typeface="Malgun Gothic"/>
              </a:rPr>
              <a:t>ALEKS</a:t>
            </a:r>
          </a:p>
        </p:txBody>
      </p:sp>
      <p:sp>
        <p:nvSpPr>
          <p:cNvPr id="28" name="studyfetch-box">
            <a:extLst xmlns:a="http://schemas.openxmlformats.org/drawingml/2006/main">
              <a:ext uri="{FF2B5EF4-FFF2-40B4-BE49-F238E27FC236}">
                <a16:creationId xmlns:a16="http://schemas.microsoft.com/office/drawing/2014/main" id="{57E7D60E-9E9B-4A59-808D-A553D01F1F9F}"/>
              </a:ext>
            </a:extLst>
          </p:cNvPr>
          <p:cNvSpPr>
            <a:spLocks xmlns:a="http://schemas.openxmlformats.org/drawingml/2006/main" noGrp="1"/>
          </p:cNvSpPr>
          <p:nvPr/>
        </p:nvSpPr>
        <p:spPr>
          <a:xfrm xmlns:a="http://schemas.openxmlformats.org/drawingml/2006/main">
            <a:off x="4305300" y="5562600"/>
            <a:ext cx="1524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5DBE5"/>
            </a:solidFill>
            <a:prstDash val="solid"/>
          </a:ln>
        </p:spPr>
      </p:sp>
      <p:sp>
        <p:nvSpPr>
          <p:cNvPr id="29" name="studyfetch">
            <a:extLst xmlns:a="http://schemas.openxmlformats.org/drawingml/2006/main">
              <a:ext uri="{FF2B5EF4-FFF2-40B4-BE49-F238E27FC236}">
                <a16:creationId xmlns:a16="http://schemas.microsoft.com/office/drawing/2014/main" id="{FF9577FA-0DEE-4904-8E1A-B52E0C8FD065}"/>
              </a:ext>
            </a:extLst>
          </p:cNvPr>
          <p:cNvSpPr>
            <a:spLocks xmlns:a="http://schemas.openxmlformats.org/drawingml/2006/main" noGrp="1"/>
          </p:cNvSpPr>
          <p:nvPr/>
        </p:nvSpPr>
        <p:spPr>
          <a:xfrm xmlns:a="http://schemas.openxmlformats.org/drawingml/2006/main">
            <a:off x="4305300" y="55721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212F"/>
                </a:solidFill>
                <a:latin typeface="Malgun Gothic"/>
                <a:ea typeface="Malgun Gothic"/>
                <a:cs typeface="Malgun Gothic"/>
              </a:defRPr>
            </a:pPr>
            <a:r>
              <a:rPr sz="1200" b="1">
                <a:solidFill>
                  <a:srgbClr val="18212F"/>
                </a:solidFill>
                <a:latin typeface="Malgun Gothic"/>
                <a:ea typeface="Malgun Gothic"/>
                <a:cs typeface="Malgun Gothic"/>
              </a:rPr>
              <a:t>StudyFetch</a:t>
            </a:r>
          </a:p>
        </p:txBody>
      </p:sp>
      <p:sp>
        <p:nvSpPr>
          <p:cNvPr id="30" name="youlearn-box">
            <a:extLst xmlns:a="http://schemas.openxmlformats.org/drawingml/2006/main">
              <a:ext uri="{FF2B5EF4-FFF2-40B4-BE49-F238E27FC236}">
                <a16:creationId xmlns:a16="http://schemas.microsoft.com/office/drawing/2014/main" id="{8507DB23-6BAD-4FF9-9E2C-75AEA615DDD2}"/>
              </a:ext>
            </a:extLst>
          </p:cNvPr>
          <p:cNvSpPr>
            <a:spLocks xmlns:a="http://schemas.openxmlformats.org/drawingml/2006/main" noGrp="1"/>
          </p:cNvSpPr>
          <p:nvPr/>
        </p:nvSpPr>
        <p:spPr>
          <a:xfrm xmlns:a="http://schemas.openxmlformats.org/drawingml/2006/main">
            <a:off x="6134100" y="5562600"/>
            <a:ext cx="1428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5DBE5"/>
            </a:solidFill>
            <a:prstDash val="solid"/>
          </a:ln>
        </p:spPr>
      </p:sp>
      <p:sp>
        <p:nvSpPr>
          <p:cNvPr id="31" name="youlearn">
            <a:extLst xmlns:a="http://schemas.openxmlformats.org/drawingml/2006/main">
              <a:ext uri="{FF2B5EF4-FFF2-40B4-BE49-F238E27FC236}">
                <a16:creationId xmlns:a16="http://schemas.microsoft.com/office/drawing/2014/main" id="{78B47633-F3EB-4175-88B4-18A60EFB37B6}"/>
              </a:ext>
            </a:extLst>
          </p:cNvPr>
          <p:cNvSpPr>
            <a:spLocks xmlns:a="http://schemas.openxmlformats.org/drawingml/2006/main" noGrp="1"/>
          </p:cNvSpPr>
          <p:nvPr/>
        </p:nvSpPr>
        <p:spPr>
          <a:xfrm xmlns:a="http://schemas.openxmlformats.org/drawingml/2006/main">
            <a:off x="6134100" y="557212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212F"/>
                </a:solidFill>
                <a:latin typeface="Malgun Gothic"/>
                <a:ea typeface="Malgun Gothic"/>
                <a:cs typeface="Malgun Gothic"/>
              </a:defRPr>
            </a:pPr>
            <a:r>
              <a:rPr sz="1200" b="1">
                <a:solidFill>
                  <a:srgbClr val="18212F"/>
                </a:solidFill>
                <a:latin typeface="Malgun Gothic"/>
                <a:ea typeface="Malgun Gothic"/>
                <a:cs typeface="Malgun Gothic"/>
              </a:rPr>
              <a:t>YouLearn</a:t>
            </a:r>
          </a:p>
        </p:txBody>
      </p:sp>
      <p:sp>
        <p:nvSpPr>
          <p:cNvPr id="32" name="general-box">
            <a:extLst xmlns:a="http://schemas.openxmlformats.org/drawingml/2006/main">
              <a:ext uri="{FF2B5EF4-FFF2-40B4-BE49-F238E27FC236}">
                <a16:creationId xmlns:a16="http://schemas.microsoft.com/office/drawing/2014/main" id="{803CAE6C-FAAB-43B4-AFFF-D9F8A0314691}"/>
              </a:ext>
            </a:extLst>
          </p:cNvPr>
          <p:cNvSpPr>
            <a:spLocks xmlns:a="http://schemas.openxmlformats.org/drawingml/2006/main" noGrp="1"/>
          </p:cNvSpPr>
          <p:nvPr/>
        </p:nvSpPr>
        <p:spPr>
          <a:xfrm xmlns:a="http://schemas.openxmlformats.org/drawingml/2006/main">
            <a:off x="7867650" y="5562600"/>
            <a:ext cx="16192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5DBE5"/>
            </a:solidFill>
            <a:prstDash val="solid"/>
          </a:ln>
        </p:spPr>
      </p:sp>
      <p:sp>
        <p:nvSpPr>
          <p:cNvPr id="33" name="general">
            <a:extLst xmlns:a="http://schemas.openxmlformats.org/drawingml/2006/main">
              <a:ext uri="{FF2B5EF4-FFF2-40B4-BE49-F238E27FC236}">
                <a16:creationId xmlns:a16="http://schemas.microsoft.com/office/drawing/2014/main" id="{9A88450C-DF6B-4D59-B93A-09FF21CCB18D}"/>
              </a:ext>
            </a:extLst>
          </p:cNvPr>
          <p:cNvSpPr>
            <a:spLocks xmlns:a="http://schemas.openxmlformats.org/drawingml/2006/main" noGrp="1"/>
          </p:cNvSpPr>
          <p:nvPr/>
        </p:nvSpPr>
        <p:spPr>
          <a:xfrm xmlns:a="http://schemas.openxmlformats.org/drawingml/2006/main">
            <a:off x="7867650" y="55721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212F"/>
                </a:solidFill>
                <a:latin typeface="Malgun Gothic"/>
                <a:ea typeface="Malgun Gothic"/>
                <a:cs typeface="Malgun Gothic"/>
              </a:defRPr>
            </a:pPr>
            <a:r>
              <a:rPr sz="1200" b="1">
                <a:solidFill>
                  <a:srgbClr val="18212F"/>
                </a:solidFill>
                <a:latin typeface="Malgun Gothic"/>
                <a:ea typeface="Malgun Gothic"/>
                <a:cs typeface="Malgun Gothic"/>
              </a:rPr>
              <a:t>General AI</a:t>
            </a:r>
          </a:p>
        </p:txBody>
      </p:sp>
    </p:spTree>
    <p:extLst>
      <p:ext uri="{BB962C8B-B14F-4D97-AF65-F5344CB8AC3E}">
        <p14:creationId xmlns:p14="http://schemas.microsoft.com/office/powerpoint/2010/main" val="631211593"/>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eyebrow-4">
            <a:extLst xmlns:a="http://schemas.openxmlformats.org/drawingml/2006/main">
              <a:ext uri="{FF2B5EF4-FFF2-40B4-BE49-F238E27FC236}">
                <a16:creationId xmlns:a16="http://schemas.microsoft.com/office/drawing/2014/main" id="{F4613A2A-D44F-492D-80C2-9E37A0991B04}"/>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STUDYMETA · FKI 더하기 창업</a:t>
            </a:r>
          </a:p>
        </p:txBody>
      </p:sp>
      <p:sp>
        <p:nvSpPr>
          <p:cNvPr id="2" name="title-4">
            <a:extLst xmlns:a="http://schemas.openxmlformats.org/drawingml/2006/main">
              <a:ext uri="{FF2B5EF4-FFF2-40B4-BE49-F238E27FC236}">
                <a16:creationId xmlns:a16="http://schemas.microsoft.com/office/drawing/2014/main" id="{9EEE8F87-2C27-488F-9305-31D592215E2E}"/>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학습의 기억을 AI가 아니라 학생에게 귀속시킵니다</a:t>
            </a:r>
          </a:p>
        </p:txBody>
      </p:sp>
      <p:sp>
        <p:nvSpPr>
          <p:cNvPr id="3" name="page-4">
            <a:extLst xmlns:a="http://schemas.openxmlformats.org/drawingml/2006/main">
              <a:ext uri="{FF2B5EF4-FFF2-40B4-BE49-F238E27FC236}">
                <a16:creationId xmlns:a16="http://schemas.microsoft.com/office/drawing/2014/main" id="{8502B16E-25DC-4E3B-87AE-635BA3CDB1D3}"/>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04</a:t>
            </a:r>
          </a:p>
        </p:txBody>
      </p:sp>
      <p:sp>
        <p:nvSpPr>
          <p:cNvPr id="4" name="solution-lead">
            <a:extLst xmlns:a="http://schemas.openxmlformats.org/drawingml/2006/main">
              <a:ext uri="{FF2B5EF4-FFF2-40B4-BE49-F238E27FC236}">
                <a16:creationId xmlns:a16="http://schemas.microsoft.com/office/drawing/2014/main" id="{95E01AC2-1798-45D7-9BCA-2A9D066A302B}"/>
              </a:ext>
            </a:extLst>
          </p:cNvPr>
          <p:cNvSpPr>
            <a:spLocks xmlns:a="http://schemas.openxmlformats.org/drawingml/2006/main" noGrp="1"/>
          </p:cNvSpPr>
          <p:nvPr/>
        </p:nvSpPr>
        <p:spPr>
          <a:xfrm xmlns:a="http://schemas.openxmlformats.org/drawingml/2006/main">
            <a:off x="685800" y="13144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746A2"/>
                </a:solidFill>
                <a:latin typeface="Malgun Gothic"/>
                <a:ea typeface="Malgun Gothic"/>
                <a:cs typeface="Malgun Gothic"/>
              </a:defRPr>
            </a:pPr>
            <a:r>
              <a:rPr sz="1725" b="1">
                <a:solidFill>
                  <a:srgbClr val="1746A2"/>
                </a:solidFill>
                <a:latin typeface="Malgun Gothic"/>
                <a:ea typeface="Malgun Gothic"/>
                <a:cs typeface="Malgun Gothic"/>
              </a:rPr>
              <a:t>Student-owned · Cross-AI · Portable learner intelligence</a:t>
            </a:r>
          </a:p>
        </p:txBody>
      </p:sp>
      <p:sp>
        <p:nvSpPr>
          <p:cNvPr id="5" name="source-0-box">
            <a:extLst xmlns:a="http://schemas.openxmlformats.org/drawingml/2006/main">
              <a:ext uri="{FF2B5EF4-FFF2-40B4-BE49-F238E27FC236}">
                <a16:creationId xmlns:a16="http://schemas.microsoft.com/office/drawing/2014/main" id="{BA7E995A-FE5B-4215-8E60-562840792E4A}"/>
              </a:ext>
            </a:extLst>
          </p:cNvPr>
          <p:cNvSpPr>
            <a:spLocks xmlns:a="http://schemas.openxmlformats.org/drawingml/2006/main" noGrp="1"/>
          </p:cNvSpPr>
          <p:nvPr/>
        </p:nvSpPr>
        <p:spPr>
          <a:xfrm xmlns:a="http://schemas.openxmlformats.org/drawingml/2006/main">
            <a:off x="857250" y="2000250"/>
            <a:ext cx="2000250" cy="590550"/>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9525">
            <a:solidFill>
              <a:srgbClr val="D5DBE5"/>
            </a:solidFill>
            <a:prstDash val="solid"/>
          </a:ln>
        </p:spPr>
      </p:sp>
      <p:sp>
        <p:nvSpPr>
          <p:cNvPr id="6" name="source-0">
            <a:extLst xmlns:a="http://schemas.openxmlformats.org/drawingml/2006/main">
              <a:ext uri="{FF2B5EF4-FFF2-40B4-BE49-F238E27FC236}">
                <a16:creationId xmlns:a16="http://schemas.microsoft.com/office/drawing/2014/main" id="{03BAE847-1966-48B2-B327-8800A9560B32}"/>
              </a:ext>
            </a:extLst>
          </p:cNvPr>
          <p:cNvSpPr>
            <a:spLocks xmlns:a="http://schemas.openxmlformats.org/drawingml/2006/main" noGrp="1"/>
          </p:cNvSpPr>
          <p:nvPr/>
        </p:nvSpPr>
        <p:spPr>
          <a:xfrm xmlns:a="http://schemas.openxmlformats.org/drawingml/2006/main">
            <a:off x="971550" y="2076450"/>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212F"/>
                </a:solidFill>
                <a:latin typeface="Malgun Gothic"/>
                <a:ea typeface="Malgun Gothic"/>
                <a:cs typeface="Malgun Gothic"/>
              </a:defRPr>
            </a:pPr>
            <a:r>
              <a:rPr sz="1500" b="1">
                <a:solidFill>
                  <a:srgbClr val="18212F"/>
                </a:solidFill>
                <a:latin typeface="Malgun Gothic"/>
                <a:ea typeface="Malgun Gothic"/>
                <a:cs typeface="Malgun Gothic"/>
              </a:rPr>
              <a:t>ChatGPT</a:t>
            </a:r>
          </a:p>
        </p:txBody>
      </p:sp>
      <p:sp>
        <p:nvSpPr>
          <p:cNvPr id="7" name="source-1-box">
            <a:extLst xmlns:a="http://schemas.openxmlformats.org/drawingml/2006/main">
              <a:ext uri="{FF2B5EF4-FFF2-40B4-BE49-F238E27FC236}">
                <a16:creationId xmlns:a16="http://schemas.microsoft.com/office/drawing/2014/main" id="{4C959249-ABD8-42B5-97D9-1BA2C26E239B}"/>
              </a:ext>
            </a:extLst>
          </p:cNvPr>
          <p:cNvSpPr>
            <a:spLocks xmlns:a="http://schemas.openxmlformats.org/drawingml/2006/main" noGrp="1"/>
          </p:cNvSpPr>
          <p:nvPr/>
        </p:nvSpPr>
        <p:spPr>
          <a:xfrm xmlns:a="http://schemas.openxmlformats.org/drawingml/2006/main">
            <a:off x="3257550" y="2000250"/>
            <a:ext cx="2000250" cy="590550"/>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9525">
            <a:solidFill>
              <a:srgbClr val="D5DBE5"/>
            </a:solidFill>
            <a:prstDash val="solid"/>
          </a:ln>
        </p:spPr>
      </p:sp>
      <p:sp>
        <p:nvSpPr>
          <p:cNvPr id="8" name="source-1">
            <a:extLst xmlns:a="http://schemas.openxmlformats.org/drawingml/2006/main">
              <a:ext uri="{FF2B5EF4-FFF2-40B4-BE49-F238E27FC236}">
                <a16:creationId xmlns:a16="http://schemas.microsoft.com/office/drawing/2014/main" id="{DBC330A9-6BE9-4E0D-8416-038ECBD3F126}"/>
              </a:ext>
            </a:extLst>
          </p:cNvPr>
          <p:cNvSpPr>
            <a:spLocks xmlns:a="http://schemas.openxmlformats.org/drawingml/2006/main" noGrp="1"/>
          </p:cNvSpPr>
          <p:nvPr/>
        </p:nvSpPr>
        <p:spPr>
          <a:xfrm xmlns:a="http://schemas.openxmlformats.org/drawingml/2006/main">
            <a:off x="3371850" y="2076450"/>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212F"/>
                </a:solidFill>
                <a:latin typeface="Malgun Gothic"/>
                <a:ea typeface="Malgun Gothic"/>
                <a:cs typeface="Malgun Gothic"/>
              </a:defRPr>
            </a:pPr>
            <a:r>
              <a:rPr sz="1500" b="1">
                <a:solidFill>
                  <a:srgbClr val="18212F"/>
                </a:solidFill>
                <a:latin typeface="Malgun Gothic"/>
                <a:ea typeface="Malgun Gothic"/>
                <a:cs typeface="Malgun Gothic"/>
              </a:rPr>
              <a:t>Claude</a:t>
            </a:r>
          </a:p>
        </p:txBody>
      </p:sp>
      <p:sp>
        <p:nvSpPr>
          <p:cNvPr id="9" name="source-2-box">
            <a:extLst xmlns:a="http://schemas.openxmlformats.org/drawingml/2006/main">
              <a:ext uri="{FF2B5EF4-FFF2-40B4-BE49-F238E27FC236}">
                <a16:creationId xmlns:a16="http://schemas.microsoft.com/office/drawing/2014/main" id="{43E9B374-36FC-4213-8E04-043191728FB1}"/>
              </a:ext>
            </a:extLst>
          </p:cNvPr>
          <p:cNvSpPr>
            <a:spLocks xmlns:a="http://schemas.openxmlformats.org/drawingml/2006/main" noGrp="1"/>
          </p:cNvSpPr>
          <p:nvPr/>
        </p:nvSpPr>
        <p:spPr>
          <a:xfrm xmlns:a="http://schemas.openxmlformats.org/drawingml/2006/main">
            <a:off x="5657850" y="2000250"/>
            <a:ext cx="2000250" cy="590550"/>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9525">
            <a:solidFill>
              <a:srgbClr val="D5DBE5"/>
            </a:solidFill>
            <a:prstDash val="solid"/>
          </a:ln>
        </p:spPr>
      </p:sp>
      <p:sp>
        <p:nvSpPr>
          <p:cNvPr id="10" name="source-2">
            <a:extLst xmlns:a="http://schemas.openxmlformats.org/drawingml/2006/main">
              <a:ext uri="{FF2B5EF4-FFF2-40B4-BE49-F238E27FC236}">
                <a16:creationId xmlns:a16="http://schemas.microsoft.com/office/drawing/2014/main" id="{8725A611-E361-4FC1-A0B2-7C3882013C7E}"/>
              </a:ext>
            </a:extLst>
          </p:cNvPr>
          <p:cNvSpPr>
            <a:spLocks xmlns:a="http://schemas.openxmlformats.org/drawingml/2006/main" noGrp="1"/>
          </p:cNvSpPr>
          <p:nvPr/>
        </p:nvSpPr>
        <p:spPr>
          <a:xfrm xmlns:a="http://schemas.openxmlformats.org/drawingml/2006/main">
            <a:off x="5772150" y="2076450"/>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212F"/>
                </a:solidFill>
                <a:latin typeface="Malgun Gothic"/>
                <a:ea typeface="Malgun Gothic"/>
                <a:cs typeface="Malgun Gothic"/>
              </a:defRPr>
            </a:pPr>
            <a:r>
              <a:rPr sz="1500" b="1">
                <a:solidFill>
                  <a:srgbClr val="18212F"/>
                </a:solidFill>
                <a:latin typeface="Malgun Gothic"/>
                <a:ea typeface="Malgun Gothic"/>
                <a:cs typeface="Malgun Gothic"/>
              </a:rPr>
              <a:t>AI Tutor</a:t>
            </a:r>
          </a:p>
        </p:txBody>
      </p:sp>
      <p:sp>
        <p:nvSpPr>
          <p:cNvPr id="11" name="source-3-box">
            <a:extLst xmlns:a="http://schemas.openxmlformats.org/drawingml/2006/main">
              <a:ext uri="{FF2B5EF4-FFF2-40B4-BE49-F238E27FC236}">
                <a16:creationId xmlns:a16="http://schemas.microsoft.com/office/drawing/2014/main" id="{97EC7C52-96C3-4F60-B132-F088BFF93633}"/>
              </a:ext>
            </a:extLst>
          </p:cNvPr>
          <p:cNvSpPr>
            <a:spLocks xmlns:a="http://schemas.openxmlformats.org/drawingml/2006/main" noGrp="1"/>
          </p:cNvSpPr>
          <p:nvPr/>
        </p:nvSpPr>
        <p:spPr>
          <a:xfrm xmlns:a="http://schemas.openxmlformats.org/drawingml/2006/main">
            <a:off x="8058150" y="2000250"/>
            <a:ext cx="2000250" cy="590550"/>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9525">
            <a:solidFill>
              <a:srgbClr val="D5DBE5"/>
            </a:solidFill>
            <a:prstDash val="solid"/>
          </a:ln>
        </p:spPr>
      </p:sp>
      <p:sp>
        <p:nvSpPr>
          <p:cNvPr id="12" name="source-3">
            <a:extLst xmlns:a="http://schemas.openxmlformats.org/drawingml/2006/main">
              <a:ext uri="{FF2B5EF4-FFF2-40B4-BE49-F238E27FC236}">
                <a16:creationId xmlns:a16="http://schemas.microsoft.com/office/drawing/2014/main" id="{E287D44D-2C01-4D07-97C6-DDFEC8EDD74E}"/>
              </a:ext>
            </a:extLst>
          </p:cNvPr>
          <p:cNvSpPr>
            <a:spLocks xmlns:a="http://schemas.openxmlformats.org/drawingml/2006/main" noGrp="1"/>
          </p:cNvSpPr>
          <p:nvPr/>
        </p:nvSpPr>
        <p:spPr>
          <a:xfrm xmlns:a="http://schemas.openxmlformats.org/drawingml/2006/main">
            <a:off x="8172450" y="2076450"/>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212F"/>
                </a:solidFill>
                <a:latin typeface="Malgun Gothic"/>
                <a:ea typeface="Malgun Gothic"/>
                <a:cs typeface="Malgun Gothic"/>
              </a:defRPr>
            </a:pPr>
            <a:r>
              <a:rPr sz="1500" b="1">
                <a:solidFill>
                  <a:srgbClr val="18212F"/>
                </a:solidFill>
                <a:latin typeface="Malgun Gothic"/>
                <a:ea typeface="Malgun Gothic"/>
                <a:cs typeface="Malgun Gothic"/>
              </a:rPr>
              <a:t>Learning App</a:t>
            </a:r>
          </a:p>
        </p:txBody>
      </p:sp>
      <p:sp>
        <p:nvSpPr>
          <p:cNvPr id="13" name="down-1">
            <a:extLst xmlns:a="http://schemas.openxmlformats.org/drawingml/2006/main">
              <a:ext uri="{FF2B5EF4-FFF2-40B4-BE49-F238E27FC236}">
                <a16:creationId xmlns:a16="http://schemas.microsoft.com/office/drawing/2014/main" id="{98C1163D-D625-4568-BD1B-3B16F28A4BE7}"/>
              </a:ext>
            </a:extLst>
          </p:cNvPr>
          <p:cNvSpPr>
            <a:spLocks xmlns:a="http://schemas.openxmlformats.org/drawingml/2006/main" noGrp="1"/>
          </p:cNvSpPr>
          <p:nvPr/>
        </p:nvSpPr>
        <p:spPr>
          <a:xfrm xmlns:a="http://schemas.openxmlformats.org/drawingml/2006/main">
            <a:off x="5734050" y="2686050"/>
            <a:ext cx="723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2563EB"/>
                </a:solidFill>
                <a:latin typeface="Malgun Gothic"/>
                <a:ea typeface="Malgun Gothic"/>
                <a:cs typeface="Malgun Gothic"/>
              </a:defRPr>
            </a:pPr>
            <a:r>
              <a:rPr sz="2400" b="1">
                <a:solidFill>
                  <a:srgbClr val="2563EB"/>
                </a:solidFill>
                <a:latin typeface="Malgun Gothic"/>
                <a:ea typeface="Malgun Gothic"/>
                <a:cs typeface="Malgun Gothic"/>
              </a:rPr>
              <a:t>↓</a:t>
            </a:r>
          </a:p>
        </p:txBody>
      </p:sp>
      <p:sp>
        <p:nvSpPr>
          <p:cNvPr id="14" name="studymeta-layer">
            <a:extLst xmlns:a="http://schemas.openxmlformats.org/drawingml/2006/main">
              <a:ext uri="{FF2B5EF4-FFF2-40B4-BE49-F238E27FC236}">
                <a16:creationId xmlns:a16="http://schemas.microsoft.com/office/drawing/2014/main" id="{CAEE69F1-CD1C-4AE2-BB68-C417C2450CC7}"/>
              </a:ext>
            </a:extLst>
          </p:cNvPr>
          <p:cNvSpPr>
            <a:spLocks xmlns:a="http://schemas.openxmlformats.org/drawingml/2006/main" noGrp="1"/>
          </p:cNvSpPr>
          <p:nvPr/>
        </p:nvSpPr>
        <p:spPr>
          <a:xfrm xmlns:a="http://schemas.openxmlformats.org/drawingml/2006/main">
            <a:off x="1219200" y="3143250"/>
            <a:ext cx="9753600" cy="1695450"/>
          </a:xfrm>
          <a:prstGeom xmlns:a="http://schemas.openxmlformats.org/drawingml/2006/main" prst="roundRect">
            <a:avLst>
              <a:gd name="adj" fmla="val 12360"/>
            </a:avLst>
          </a:prstGeom>
          <a:solidFill xmlns:a="http://schemas.openxmlformats.org/drawingml/2006/main">
            <a:srgbClr val="2563EB"/>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5" name="studymeta-label">
            <a:extLst xmlns:a="http://schemas.openxmlformats.org/drawingml/2006/main">
              <a:ext uri="{FF2B5EF4-FFF2-40B4-BE49-F238E27FC236}">
                <a16:creationId xmlns:a16="http://schemas.microsoft.com/office/drawing/2014/main" id="{278B04A3-3901-42C2-BED3-8C7CEF71F5BF}"/>
              </a:ext>
            </a:extLst>
          </p:cNvPr>
          <p:cNvSpPr>
            <a:spLocks xmlns:a="http://schemas.openxmlformats.org/drawingml/2006/main" noGrp="1"/>
          </p:cNvSpPr>
          <p:nvPr/>
        </p:nvSpPr>
        <p:spPr>
          <a:xfrm xmlns:a="http://schemas.openxmlformats.org/drawingml/2006/main">
            <a:off x="1581150" y="33528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StudyMeta</a:t>
            </a:r>
          </a:p>
        </p:txBody>
      </p:sp>
      <p:sp>
        <p:nvSpPr>
          <p:cNvPr id="16" name="flow-0">
            <a:extLst xmlns:a="http://schemas.openxmlformats.org/drawingml/2006/main">
              <a:ext uri="{FF2B5EF4-FFF2-40B4-BE49-F238E27FC236}">
                <a16:creationId xmlns:a16="http://schemas.microsoft.com/office/drawing/2014/main" id="{73C94694-6A2E-4941-99DE-7C756816B5CF}"/>
              </a:ext>
            </a:extLst>
          </p:cNvPr>
          <p:cNvSpPr>
            <a:spLocks xmlns:a="http://schemas.openxmlformats.org/drawingml/2006/main" noGrp="1"/>
          </p:cNvSpPr>
          <p:nvPr/>
        </p:nvSpPr>
        <p:spPr>
          <a:xfrm xmlns:a="http://schemas.openxmlformats.org/drawingml/2006/main">
            <a:off x="3657600" y="3486150"/>
            <a:ext cx="1428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Learning</a:t>
            </a:r>
          </a:p>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Evidence</a:t>
            </a:r>
          </a:p>
        </p:txBody>
      </p:sp>
      <p:sp>
        <p:nvSpPr>
          <p:cNvPr id="17" name="flow-arrow-0">
            <a:extLst xmlns:a="http://schemas.openxmlformats.org/drawingml/2006/main">
              <a:ext uri="{FF2B5EF4-FFF2-40B4-BE49-F238E27FC236}">
                <a16:creationId xmlns:a16="http://schemas.microsoft.com/office/drawing/2014/main" id="{DFB8BF16-9BD6-41F2-A91B-103A898BD593}"/>
              </a:ext>
            </a:extLst>
          </p:cNvPr>
          <p:cNvSpPr>
            <a:spLocks xmlns:a="http://schemas.openxmlformats.org/drawingml/2006/main" noGrp="1"/>
          </p:cNvSpPr>
          <p:nvPr/>
        </p:nvSpPr>
        <p:spPr>
          <a:xfrm xmlns:a="http://schemas.openxmlformats.org/drawingml/2006/main">
            <a:off x="5000625" y="363855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BFD2FF"/>
                </a:solidFill>
                <a:latin typeface="Malgun Gothic"/>
                <a:ea typeface="Malgun Gothic"/>
                <a:cs typeface="Malgun Gothic"/>
              </a:defRPr>
            </a:pPr>
            <a:r>
              <a:rPr sz="1875" b="1">
                <a:solidFill>
                  <a:srgbClr val="BFD2FF"/>
                </a:solidFill>
                <a:latin typeface="Malgun Gothic"/>
                <a:ea typeface="Malgun Gothic"/>
                <a:cs typeface="Malgun Gothic"/>
              </a:rPr>
              <a:t>→</a:t>
            </a:r>
          </a:p>
        </p:txBody>
      </p:sp>
      <p:sp>
        <p:nvSpPr>
          <p:cNvPr id="18" name="flow-1">
            <a:extLst xmlns:a="http://schemas.openxmlformats.org/drawingml/2006/main">
              <a:ext uri="{FF2B5EF4-FFF2-40B4-BE49-F238E27FC236}">
                <a16:creationId xmlns:a16="http://schemas.microsoft.com/office/drawing/2014/main" id="{6251F223-9C1C-4061-81A3-8EDB746675D4}"/>
              </a:ext>
            </a:extLst>
          </p:cNvPr>
          <p:cNvSpPr>
            <a:spLocks xmlns:a="http://schemas.openxmlformats.org/drawingml/2006/main" noGrp="1"/>
          </p:cNvSpPr>
          <p:nvPr/>
        </p:nvSpPr>
        <p:spPr>
          <a:xfrm xmlns:a="http://schemas.openxmlformats.org/drawingml/2006/main">
            <a:off x="5562600" y="3486150"/>
            <a:ext cx="1428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Persistent</a:t>
            </a:r>
          </a:p>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Learner Model</a:t>
            </a:r>
          </a:p>
        </p:txBody>
      </p:sp>
      <p:sp>
        <p:nvSpPr>
          <p:cNvPr id="19" name="flow-arrow-1">
            <a:extLst xmlns:a="http://schemas.openxmlformats.org/drawingml/2006/main">
              <a:ext uri="{FF2B5EF4-FFF2-40B4-BE49-F238E27FC236}">
                <a16:creationId xmlns:a16="http://schemas.microsoft.com/office/drawing/2014/main" id="{6809719B-92DB-483C-B327-075566CC4F47}"/>
              </a:ext>
            </a:extLst>
          </p:cNvPr>
          <p:cNvSpPr>
            <a:spLocks xmlns:a="http://schemas.openxmlformats.org/drawingml/2006/main" noGrp="1"/>
          </p:cNvSpPr>
          <p:nvPr/>
        </p:nvSpPr>
        <p:spPr>
          <a:xfrm xmlns:a="http://schemas.openxmlformats.org/drawingml/2006/main">
            <a:off x="6905625" y="363855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BFD2FF"/>
                </a:solidFill>
                <a:latin typeface="Malgun Gothic"/>
                <a:ea typeface="Malgun Gothic"/>
                <a:cs typeface="Malgun Gothic"/>
              </a:defRPr>
            </a:pPr>
            <a:r>
              <a:rPr sz="1875" b="1">
                <a:solidFill>
                  <a:srgbClr val="BFD2FF"/>
                </a:solidFill>
                <a:latin typeface="Malgun Gothic"/>
                <a:ea typeface="Malgun Gothic"/>
                <a:cs typeface="Malgun Gothic"/>
              </a:rPr>
              <a:t>→</a:t>
            </a:r>
          </a:p>
        </p:txBody>
      </p:sp>
      <p:sp>
        <p:nvSpPr>
          <p:cNvPr id="20" name="flow-2">
            <a:extLst xmlns:a="http://schemas.openxmlformats.org/drawingml/2006/main">
              <a:ext uri="{FF2B5EF4-FFF2-40B4-BE49-F238E27FC236}">
                <a16:creationId xmlns:a16="http://schemas.microsoft.com/office/drawing/2014/main" id="{ADD51236-37AE-4196-B5C6-C56C11498607}"/>
              </a:ext>
            </a:extLst>
          </p:cNvPr>
          <p:cNvSpPr>
            <a:spLocks xmlns:a="http://schemas.openxmlformats.org/drawingml/2006/main" noGrp="1"/>
          </p:cNvSpPr>
          <p:nvPr/>
        </p:nvSpPr>
        <p:spPr>
          <a:xfrm xmlns:a="http://schemas.openxmlformats.org/drawingml/2006/main">
            <a:off x="7467600" y="3486150"/>
            <a:ext cx="1428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Pedagogical</a:t>
            </a:r>
          </a:p>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Policy</a:t>
            </a:r>
          </a:p>
        </p:txBody>
      </p:sp>
      <p:sp>
        <p:nvSpPr>
          <p:cNvPr id="21" name="flow-arrow-2">
            <a:extLst xmlns:a="http://schemas.openxmlformats.org/drawingml/2006/main">
              <a:ext uri="{FF2B5EF4-FFF2-40B4-BE49-F238E27FC236}">
                <a16:creationId xmlns:a16="http://schemas.microsoft.com/office/drawing/2014/main" id="{0524CF5C-4C41-40EC-A224-0C4019ABE40E}"/>
              </a:ext>
            </a:extLst>
          </p:cNvPr>
          <p:cNvSpPr>
            <a:spLocks xmlns:a="http://schemas.openxmlformats.org/drawingml/2006/main" noGrp="1"/>
          </p:cNvSpPr>
          <p:nvPr/>
        </p:nvSpPr>
        <p:spPr>
          <a:xfrm xmlns:a="http://schemas.openxmlformats.org/drawingml/2006/main">
            <a:off x="8810625" y="363855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BFD2FF"/>
                </a:solidFill>
                <a:latin typeface="Malgun Gothic"/>
                <a:ea typeface="Malgun Gothic"/>
                <a:cs typeface="Malgun Gothic"/>
              </a:defRPr>
            </a:pPr>
            <a:r>
              <a:rPr sz="1875" b="1">
                <a:solidFill>
                  <a:srgbClr val="BFD2FF"/>
                </a:solidFill>
                <a:latin typeface="Malgun Gothic"/>
                <a:ea typeface="Malgun Gothic"/>
                <a:cs typeface="Malgun Gothic"/>
              </a:rPr>
              <a:t>→</a:t>
            </a:r>
          </a:p>
        </p:txBody>
      </p:sp>
      <p:sp>
        <p:nvSpPr>
          <p:cNvPr id="22" name="flow-3">
            <a:extLst xmlns:a="http://schemas.openxmlformats.org/drawingml/2006/main">
              <a:ext uri="{FF2B5EF4-FFF2-40B4-BE49-F238E27FC236}">
                <a16:creationId xmlns:a16="http://schemas.microsoft.com/office/drawing/2014/main" id="{5C5433D2-5926-418F-9795-F5AA175D209E}"/>
              </a:ext>
            </a:extLst>
          </p:cNvPr>
          <p:cNvSpPr>
            <a:spLocks xmlns:a="http://schemas.openxmlformats.org/drawingml/2006/main" noGrp="1"/>
          </p:cNvSpPr>
          <p:nvPr/>
        </p:nvSpPr>
        <p:spPr>
          <a:xfrm xmlns:a="http://schemas.openxmlformats.org/drawingml/2006/main">
            <a:off x="9372600" y="3486150"/>
            <a:ext cx="1428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Teaching</a:t>
            </a:r>
          </a:p>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Context</a:t>
            </a:r>
          </a:p>
        </p:txBody>
      </p:sp>
      <p:sp>
        <p:nvSpPr>
          <p:cNvPr id="23" name="ownership">
            <a:extLst xmlns:a="http://schemas.openxmlformats.org/drawingml/2006/main">
              <a:ext uri="{FF2B5EF4-FFF2-40B4-BE49-F238E27FC236}">
                <a16:creationId xmlns:a16="http://schemas.microsoft.com/office/drawing/2014/main" id="{7A097BC4-3C86-4B46-8538-F77C097D5637}"/>
              </a:ext>
            </a:extLst>
          </p:cNvPr>
          <p:cNvSpPr>
            <a:spLocks xmlns:a="http://schemas.openxmlformats.org/drawingml/2006/main" noGrp="1"/>
          </p:cNvSpPr>
          <p:nvPr/>
        </p:nvSpPr>
        <p:spPr>
          <a:xfrm xmlns:a="http://schemas.openxmlformats.org/drawingml/2006/main">
            <a:off x="1581150" y="42291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DCE7FF"/>
                </a:solidFill>
                <a:latin typeface="Malgun Gothic"/>
                <a:ea typeface="Malgun Gothic"/>
                <a:cs typeface="Malgun Gothic"/>
              </a:defRPr>
            </a:pPr>
            <a:r>
              <a:rPr sz="1275" b="1">
                <a:solidFill>
                  <a:srgbClr val="DCE7FF"/>
                </a:solidFill>
                <a:latin typeface="Malgun Gothic"/>
                <a:ea typeface="Malgun Gothic"/>
                <a:cs typeface="Malgun Gothic"/>
              </a:rPr>
              <a:t>Learner Model lives with the learner</a:t>
            </a:r>
          </a:p>
        </p:txBody>
      </p:sp>
      <p:sp>
        <p:nvSpPr>
          <p:cNvPr id="24" name="down-2">
            <a:extLst xmlns:a="http://schemas.openxmlformats.org/drawingml/2006/main">
              <a:ext uri="{FF2B5EF4-FFF2-40B4-BE49-F238E27FC236}">
                <a16:creationId xmlns:a16="http://schemas.microsoft.com/office/drawing/2014/main" id="{735E9241-BF75-4E91-B629-5476D4FDBF3F}"/>
              </a:ext>
            </a:extLst>
          </p:cNvPr>
          <p:cNvSpPr>
            <a:spLocks xmlns:a="http://schemas.openxmlformats.org/drawingml/2006/main" noGrp="1"/>
          </p:cNvSpPr>
          <p:nvPr/>
        </p:nvSpPr>
        <p:spPr>
          <a:xfrm xmlns:a="http://schemas.openxmlformats.org/drawingml/2006/main">
            <a:off x="5734050" y="4914900"/>
            <a:ext cx="723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2563EB"/>
                </a:solidFill>
                <a:latin typeface="Malgun Gothic"/>
                <a:ea typeface="Malgun Gothic"/>
                <a:cs typeface="Malgun Gothic"/>
              </a:defRPr>
            </a:pPr>
            <a:r>
              <a:rPr sz="2400" b="1">
                <a:solidFill>
                  <a:srgbClr val="2563EB"/>
                </a:solidFill>
                <a:latin typeface="Malgun Gothic"/>
                <a:ea typeface="Malgun Gothic"/>
                <a:cs typeface="Malgun Gothic"/>
              </a:rPr>
              <a:t>↓</a:t>
            </a:r>
          </a:p>
        </p:txBody>
      </p:sp>
      <p:sp>
        <p:nvSpPr>
          <p:cNvPr id="25" name="any-ai-box">
            <a:extLst xmlns:a="http://schemas.openxmlformats.org/drawingml/2006/main">
              <a:ext uri="{FF2B5EF4-FFF2-40B4-BE49-F238E27FC236}">
                <a16:creationId xmlns:a16="http://schemas.microsoft.com/office/drawing/2014/main" id="{ADF88F3E-743D-4097-96E8-64B3017E8DDB}"/>
              </a:ext>
            </a:extLst>
          </p:cNvPr>
          <p:cNvSpPr>
            <a:spLocks xmlns:a="http://schemas.openxmlformats.org/drawingml/2006/main" noGrp="1"/>
          </p:cNvSpPr>
          <p:nvPr/>
        </p:nvSpPr>
        <p:spPr>
          <a:xfrm xmlns:a="http://schemas.openxmlformats.org/drawingml/2006/main">
            <a:off x="4724400" y="5429250"/>
            <a:ext cx="2743200" cy="590550"/>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9525">
            <a:solidFill>
              <a:srgbClr val="93C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any-ai">
            <a:extLst xmlns:a="http://schemas.openxmlformats.org/drawingml/2006/main">
              <a:ext uri="{FF2B5EF4-FFF2-40B4-BE49-F238E27FC236}">
                <a16:creationId xmlns:a16="http://schemas.microsoft.com/office/drawing/2014/main" id="{8EF7F4C6-234E-4E43-B350-515079B7970F}"/>
              </a:ext>
            </a:extLst>
          </p:cNvPr>
          <p:cNvSpPr>
            <a:spLocks xmlns:a="http://schemas.openxmlformats.org/drawingml/2006/main" noGrp="1"/>
          </p:cNvSpPr>
          <p:nvPr/>
        </p:nvSpPr>
        <p:spPr>
          <a:xfrm xmlns:a="http://schemas.openxmlformats.org/drawingml/2006/main">
            <a:off x="4838700" y="5505450"/>
            <a:ext cx="2514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46A2"/>
                </a:solidFill>
                <a:latin typeface="Malgun Gothic"/>
                <a:ea typeface="Malgun Gothic"/>
                <a:cs typeface="Malgun Gothic"/>
              </a:defRPr>
            </a:pPr>
            <a:r>
              <a:rPr sz="1800" b="1">
                <a:solidFill>
                  <a:srgbClr val="1746A2"/>
                </a:solidFill>
                <a:latin typeface="Malgun Gothic"/>
                <a:ea typeface="Malgun Gothic"/>
                <a:cs typeface="Malgun Gothic"/>
              </a:rPr>
              <a:t>Any AI</a:t>
            </a:r>
          </a:p>
        </p:txBody>
      </p:sp>
      <p:sp>
        <p:nvSpPr>
          <p:cNvPr id="27" name="mechanism">
            <a:extLst xmlns:a="http://schemas.openxmlformats.org/drawingml/2006/main">
              <a:ext uri="{FF2B5EF4-FFF2-40B4-BE49-F238E27FC236}">
                <a16:creationId xmlns:a16="http://schemas.microsoft.com/office/drawing/2014/main" id="{CBB1AE24-9768-4E3F-9069-DC93F21C8D79}"/>
              </a:ext>
            </a:extLst>
          </p:cNvPr>
          <p:cNvSpPr>
            <a:spLocks xmlns:a="http://schemas.openxmlformats.org/drawingml/2006/main" noGrp="1"/>
          </p:cNvSpPr>
          <p:nvPr/>
        </p:nvSpPr>
        <p:spPr>
          <a:xfrm xmlns:a="http://schemas.openxmlformats.org/drawingml/2006/main">
            <a:off x="685800" y="61912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386"/>
                </a:solidFill>
                <a:latin typeface="Malgun Gothic"/>
                <a:ea typeface="Malgun Gothic"/>
                <a:cs typeface="Malgun Gothic"/>
              </a:defRPr>
            </a:pPr>
            <a:r>
              <a:rPr sz="1200" b="0">
                <a:solidFill>
                  <a:srgbClr val="687386"/>
                </a:solidFill>
                <a:latin typeface="Malgun Gothic"/>
                <a:ea typeface="Malgun Gothic"/>
                <a:cs typeface="Malgun Gothic"/>
              </a:rPr>
              <a:t>MCP / API는 연결 수단입니다. Moat는 데이터와 모델에 쌓입니다.</a:t>
            </a:r>
          </a:p>
        </p:txBody>
      </p:sp>
    </p:spTree>
    <p:extLst>
      <p:ext uri="{BB962C8B-B14F-4D97-AF65-F5344CB8AC3E}">
        <p14:creationId xmlns:p14="http://schemas.microsoft.com/office/powerpoint/2010/main" val="1146170346"/>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eyebrow-5">
            <a:extLst xmlns:a="http://schemas.openxmlformats.org/drawingml/2006/main">
              <a:ext uri="{FF2B5EF4-FFF2-40B4-BE49-F238E27FC236}">
                <a16:creationId xmlns:a16="http://schemas.microsoft.com/office/drawing/2014/main" id="{6417080F-7612-4399-8B13-26EE3039C556}"/>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STUDYMETA · FKI 더하기 창업</a:t>
            </a:r>
          </a:p>
        </p:txBody>
      </p:sp>
      <p:sp>
        <p:nvSpPr>
          <p:cNvPr id="2" name="title-5">
            <a:extLst xmlns:a="http://schemas.openxmlformats.org/drawingml/2006/main">
              <a:ext uri="{FF2B5EF4-FFF2-40B4-BE49-F238E27FC236}">
                <a16:creationId xmlns:a16="http://schemas.microsoft.com/office/drawing/2014/main" id="{316417EE-30A3-4B2F-90AF-579E3F8D75EA}"/>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045"/>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학습 행동을 AI가 사용할 수 있는 Teaching Context로 바꿉니다</a:t>
            </a:r>
          </a:p>
        </p:txBody>
      </p:sp>
      <p:sp>
        <p:nvSpPr>
          <p:cNvPr id="3" name="page-5">
            <a:extLst xmlns:a="http://schemas.openxmlformats.org/drawingml/2006/main">
              <a:ext uri="{FF2B5EF4-FFF2-40B4-BE49-F238E27FC236}">
                <a16:creationId xmlns:a16="http://schemas.microsoft.com/office/drawing/2014/main" id="{5C702859-21FA-476B-9A12-CA7511032187}"/>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05</a:t>
            </a:r>
          </a:p>
        </p:txBody>
      </p:sp>
      <p:sp>
        <p:nvSpPr>
          <p:cNvPr id="4" name="capture-tag-box">
            <a:extLst xmlns:a="http://schemas.openxmlformats.org/drawingml/2006/main">
              <a:ext uri="{FF2B5EF4-FFF2-40B4-BE49-F238E27FC236}">
                <a16:creationId xmlns:a16="http://schemas.microsoft.com/office/drawing/2014/main" id="{7F6D42D8-F4A8-4B60-872B-A1D4F9BF3862}"/>
              </a:ext>
            </a:extLst>
          </p:cNvPr>
          <p:cNvSpPr>
            <a:spLocks xmlns:a="http://schemas.openxmlformats.org/drawingml/2006/main" noGrp="1"/>
          </p:cNvSpPr>
          <p:nvPr/>
        </p:nvSpPr>
        <p:spPr>
          <a:xfrm xmlns:a="http://schemas.openxmlformats.org/drawingml/2006/main">
            <a:off x="685800" y="1428750"/>
            <a:ext cx="10477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5" name="capture-tag">
            <a:extLst xmlns:a="http://schemas.openxmlformats.org/drawingml/2006/main">
              <a:ext uri="{FF2B5EF4-FFF2-40B4-BE49-F238E27FC236}">
                <a16:creationId xmlns:a16="http://schemas.microsoft.com/office/drawing/2014/main" id="{B98744F4-B3D9-42E8-B610-54BE51183238}"/>
              </a:ext>
            </a:extLst>
          </p:cNvPr>
          <p:cNvSpPr>
            <a:spLocks xmlns:a="http://schemas.openxmlformats.org/drawingml/2006/main" noGrp="1"/>
          </p:cNvSpPr>
          <p:nvPr/>
        </p:nvSpPr>
        <p:spPr>
          <a:xfrm xmlns:a="http://schemas.openxmlformats.org/drawingml/2006/main">
            <a:off x="685800" y="1438275"/>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CAPTURE</a:t>
            </a:r>
          </a:p>
        </p:txBody>
      </p:sp>
      <p:sp>
        <p:nvSpPr>
          <p:cNvPr id="6" name="capture-body">
            <a:extLst xmlns:a="http://schemas.openxmlformats.org/drawingml/2006/main">
              <a:ext uri="{FF2B5EF4-FFF2-40B4-BE49-F238E27FC236}">
                <a16:creationId xmlns:a16="http://schemas.microsoft.com/office/drawing/2014/main" id="{0EBFD983-AB76-4820-90F0-1E311073117C}"/>
              </a:ext>
            </a:extLst>
          </p:cNvPr>
          <p:cNvSpPr>
            <a:spLocks xmlns:a="http://schemas.openxmlformats.org/drawingml/2006/main" noGrp="1"/>
          </p:cNvSpPr>
          <p:nvPr/>
        </p:nvSpPr>
        <p:spPr>
          <a:xfrm xmlns:a="http://schemas.openxmlformats.org/drawingml/2006/main">
            <a:off x="685800" y="1943100"/>
            <a:ext cx="247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18212F"/>
                </a:solidFill>
                <a:latin typeface="Malgun Gothic"/>
                <a:ea typeface="Malgun Gothic"/>
                <a:cs typeface="Malgun Gothic"/>
              </a:defRPr>
            </a:pPr>
            <a:r>
              <a:rPr sz="1800" b="1">
                <a:solidFill>
                  <a:srgbClr val="18212F"/>
                </a:solidFill>
                <a:latin typeface="Malgun Gothic"/>
                <a:ea typeface="Malgun Gothic"/>
                <a:cs typeface="Malgun Gothic"/>
              </a:rPr>
              <a:t>Correct / Incorrect</a:t>
            </a:r>
          </a:p>
          <a:p xmlns:a="http://schemas.openxmlformats.org/drawingml/2006/main">
            <a:pPr algn="l">
              <a:lnSpc>
                <a:spcPct val="108000"/>
              </a:lnSpc>
              <a:buNone/>
              <a:defRPr sz="1800" b="1">
                <a:solidFill>
                  <a:srgbClr val="18212F"/>
                </a:solidFill>
                <a:latin typeface="Malgun Gothic"/>
                <a:ea typeface="Malgun Gothic"/>
                <a:cs typeface="Malgun Gothic"/>
              </a:defRPr>
            </a:pPr>
            <a:r>
              <a:rPr sz="1800" b="1">
                <a:solidFill>
                  <a:srgbClr val="18212F"/>
                </a:solidFill>
                <a:latin typeface="Malgun Gothic"/>
                <a:ea typeface="Malgun Gothic"/>
                <a:cs typeface="Malgun Gothic"/>
              </a:rPr>
              <a:t>Hint Use · Retry</a:t>
            </a:r>
          </a:p>
          <a:p xmlns:a="http://schemas.openxmlformats.org/drawingml/2006/main">
            <a:pPr algn="l">
              <a:lnSpc>
                <a:spcPct val="108000"/>
              </a:lnSpc>
              <a:buNone/>
              <a:defRPr sz="1800" b="1">
                <a:solidFill>
                  <a:srgbClr val="18212F"/>
                </a:solidFill>
                <a:latin typeface="Malgun Gothic"/>
                <a:ea typeface="Malgun Gothic"/>
                <a:cs typeface="Malgun Gothic"/>
              </a:defRPr>
            </a:pPr>
            <a:r>
              <a:rPr sz="1800" b="1">
                <a:solidFill>
                  <a:srgbClr val="18212F"/>
                </a:solidFill>
                <a:latin typeface="Malgun Gothic"/>
                <a:ea typeface="Malgun Gothic"/>
                <a:cs typeface="Malgun Gothic"/>
              </a:rPr>
              <a:t>Independent Success</a:t>
            </a:r>
          </a:p>
        </p:txBody>
      </p:sp>
      <p:sp>
        <p:nvSpPr>
          <p:cNvPr id="7" name="product-arrow-1">
            <a:extLst xmlns:a="http://schemas.openxmlformats.org/drawingml/2006/main">
              <a:ext uri="{FF2B5EF4-FFF2-40B4-BE49-F238E27FC236}">
                <a16:creationId xmlns:a16="http://schemas.microsoft.com/office/drawing/2014/main" id="{C02144B7-A376-4B69-83A8-2339C312310F}"/>
              </a:ext>
            </a:extLst>
          </p:cNvPr>
          <p:cNvSpPr>
            <a:spLocks xmlns:a="http://schemas.openxmlformats.org/drawingml/2006/main" noGrp="1"/>
          </p:cNvSpPr>
          <p:nvPr/>
        </p:nvSpPr>
        <p:spPr>
          <a:xfrm xmlns:a="http://schemas.openxmlformats.org/drawingml/2006/main">
            <a:off x="3143250" y="21907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2563EB"/>
                </a:solidFill>
                <a:latin typeface="Malgun Gothic"/>
                <a:ea typeface="Malgun Gothic"/>
                <a:cs typeface="Malgun Gothic"/>
              </a:defRPr>
            </a:pPr>
            <a:r>
              <a:rPr sz="2100" b="1">
                <a:solidFill>
                  <a:srgbClr val="2563EB"/>
                </a:solidFill>
                <a:latin typeface="Malgun Gothic"/>
                <a:ea typeface="Malgun Gothic"/>
                <a:cs typeface="Malgun Gothic"/>
              </a:rPr>
              <a:t>→</a:t>
            </a:r>
          </a:p>
        </p:txBody>
      </p:sp>
      <p:sp>
        <p:nvSpPr>
          <p:cNvPr id="8" name="model-tag-box">
            <a:extLst xmlns:a="http://schemas.openxmlformats.org/drawingml/2006/main">
              <a:ext uri="{FF2B5EF4-FFF2-40B4-BE49-F238E27FC236}">
                <a16:creationId xmlns:a16="http://schemas.microsoft.com/office/drawing/2014/main" id="{001783FE-3FE6-4BBE-8958-89B2DF22CA7A}"/>
              </a:ext>
            </a:extLst>
          </p:cNvPr>
          <p:cNvSpPr>
            <a:spLocks xmlns:a="http://schemas.openxmlformats.org/drawingml/2006/main" noGrp="1"/>
          </p:cNvSpPr>
          <p:nvPr/>
        </p:nvSpPr>
        <p:spPr>
          <a:xfrm xmlns:a="http://schemas.openxmlformats.org/drawingml/2006/main">
            <a:off x="3771900" y="1428750"/>
            <a:ext cx="95250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9" name="model-tag">
            <a:extLst xmlns:a="http://schemas.openxmlformats.org/drawingml/2006/main">
              <a:ext uri="{FF2B5EF4-FFF2-40B4-BE49-F238E27FC236}">
                <a16:creationId xmlns:a16="http://schemas.microsoft.com/office/drawing/2014/main" id="{638A6219-0040-4B07-B71C-C11AB3BA1561}"/>
              </a:ext>
            </a:extLst>
          </p:cNvPr>
          <p:cNvSpPr>
            <a:spLocks xmlns:a="http://schemas.openxmlformats.org/drawingml/2006/main" noGrp="1"/>
          </p:cNvSpPr>
          <p:nvPr/>
        </p:nvSpPr>
        <p:spPr>
          <a:xfrm xmlns:a="http://schemas.openxmlformats.org/drawingml/2006/main">
            <a:off x="3771900" y="1438275"/>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MODEL</a:t>
            </a:r>
          </a:p>
        </p:txBody>
      </p:sp>
      <p:sp>
        <p:nvSpPr>
          <p:cNvPr id="10" name="model-body">
            <a:extLst xmlns:a="http://schemas.openxmlformats.org/drawingml/2006/main">
              <a:ext uri="{FF2B5EF4-FFF2-40B4-BE49-F238E27FC236}">
                <a16:creationId xmlns:a16="http://schemas.microsoft.com/office/drawing/2014/main" id="{53ABA981-07D8-4E32-9B1A-B1AC5849A1CB}"/>
              </a:ext>
            </a:extLst>
          </p:cNvPr>
          <p:cNvSpPr>
            <a:spLocks xmlns:a="http://schemas.openxmlformats.org/drawingml/2006/main" noGrp="1"/>
          </p:cNvSpPr>
          <p:nvPr/>
        </p:nvSpPr>
        <p:spPr>
          <a:xfrm xmlns:a="http://schemas.openxmlformats.org/drawingml/2006/main">
            <a:off x="3771900" y="194310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986"/>
          </a:bodyPr>
          <a:lstStyle xmlns:a="http://schemas.openxmlformats.org/drawingml/2006/main"/>
          <a:p xmlns:a="http://schemas.openxmlformats.org/drawingml/2006/main">
            <a:pPr algn="l">
              <a:lnSpc>
                <a:spcPct val="110000"/>
              </a:lnSpc>
              <a:buNone/>
              <a:defRPr sz="1875" b="1">
                <a:solidFill>
                  <a:srgbClr val="0C1D3A"/>
                </a:solidFill>
                <a:latin typeface="Malgun Gothic"/>
                <a:ea typeface="Malgun Gothic"/>
                <a:cs typeface="Malgun Gothic"/>
              </a:defRPr>
            </a:pPr>
            <a:r>
              <a:rPr sz="1875" b="1">
                <a:solidFill>
                  <a:srgbClr val="0C1D3A"/>
                </a:solidFill>
                <a:latin typeface="Malgun Gothic"/>
                <a:ea typeface="Malgun Gothic"/>
                <a:cs typeface="Malgun Gothic"/>
              </a:rPr>
              <a:t>Procedural Mastery</a:t>
            </a:r>
          </a:p>
          <a:p xmlns:a="http://schemas.openxmlformats.org/drawingml/2006/main">
            <a:pPr algn="l">
              <a:lnSpc>
                <a:spcPct val="110000"/>
              </a:lnSpc>
              <a:buNone/>
              <a:defRPr sz="1875" b="1">
                <a:solidFill>
                  <a:srgbClr val="0C1D3A"/>
                </a:solidFill>
                <a:latin typeface="Malgun Gothic"/>
                <a:ea typeface="Malgun Gothic"/>
                <a:cs typeface="Malgun Gothic"/>
              </a:defRPr>
            </a:pPr>
            <a:r>
              <a:rPr sz="1875" b="1">
                <a:solidFill>
                  <a:srgbClr val="0C1D3A"/>
                </a:solidFill>
                <a:latin typeface="Malgun Gothic"/>
                <a:ea typeface="Malgun Gothic"/>
                <a:cs typeface="Malgun Gothic"/>
              </a:rPr>
              <a:t>Help Need</a:t>
            </a:r>
          </a:p>
        </p:txBody>
      </p:sp>
      <p:sp>
        <p:nvSpPr>
          <p:cNvPr id="11" name="core-label">
            <a:extLst xmlns:a="http://schemas.openxmlformats.org/drawingml/2006/main">
              <a:ext uri="{FF2B5EF4-FFF2-40B4-BE49-F238E27FC236}">
                <a16:creationId xmlns:a16="http://schemas.microsoft.com/office/drawing/2014/main" id="{E06B9375-4845-41E9-833A-C39376723FFF}"/>
              </a:ext>
            </a:extLst>
          </p:cNvPr>
          <p:cNvSpPr>
            <a:spLocks xmlns:a="http://schemas.openxmlformats.org/drawingml/2006/main" noGrp="1"/>
          </p:cNvSpPr>
          <p:nvPr/>
        </p:nvSpPr>
        <p:spPr>
          <a:xfrm xmlns:a="http://schemas.openxmlformats.org/drawingml/2006/main">
            <a:off x="3771900" y="28384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5803D"/>
                </a:solidFill>
                <a:latin typeface="Malgun Gothic"/>
                <a:ea typeface="Malgun Gothic"/>
                <a:cs typeface="Malgun Gothic"/>
              </a:defRPr>
            </a:pPr>
            <a:r>
              <a:rPr sz="1050" b="1">
                <a:solidFill>
                  <a:srgbClr val="15803D"/>
                </a:solidFill>
                <a:latin typeface="Malgun Gothic"/>
                <a:ea typeface="Malgun Gothic"/>
                <a:cs typeface="Malgun Gothic"/>
              </a:rPr>
              <a:t>2 CORE STATES · CURRENT MVP</a:t>
            </a:r>
          </a:p>
        </p:txBody>
      </p:sp>
      <p:sp>
        <p:nvSpPr>
          <p:cNvPr id="12" name="product-divider">
            <a:extLst xmlns:a="http://schemas.openxmlformats.org/drawingml/2006/main">
              <a:ext uri="{FF2B5EF4-FFF2-40B4-BE49-F238E27FC236}">
                <a16:creationId xmlns:a16="http://schemas.microsoft.com/office/drawing/2014/main" id="{98875BCE-DFEF-48F1-B5BB-B54D89F9905D}"/>
              </a:ext>
            </a:extLst>
          </p:cNvPr>
          <p:cNvSpPr>
            <a:spLocks xmlns:a="http://schemas.openxmlformats.org/drawingml/2006/main" noGrp="1"/>
          </p:cNvSpPr>
          <p:nvPr/>
        </p:nvSpPr>
        <p:spPr>
          <a:xfrm xmlns:a="http://schemas.openxmlformats.org/drawingml/2006/main">
            <a:off x="685800" y="3333750"/>
            <a:ext cx="5181600" cy="0"/>
          </a:xfrm>
          <a:prstGeom xmlns:a="http://schemas.openxmlformats.org/drawingml/2006/main" prst="line">
            <a:avLst/>
          </a:prstGeom>
          <a:noFill xmlns:a="http://schemas.openxmlformats.org/drawingml/2006/main"/>
          <a:ln xmlns:a="http://schemas.openxmlformats.org/drawingml/2006/main" w="9525">
            <a:solidFill>
              <a:srgbClr val="D5DBE5"/>
            </a:solidFill>
            <a:prstDash val="solid"/>
          </a:ln>
        </p:spPr>
      </p:sp>
      <p:sp>
        <p:nvSpPr>
          <p:cNvPr id="13" name="personalize-tag-box">
            <a:extLst xmlns:a="http://schemas.openxmlformats.org/drawingml/2006/main">
              <a:ext uri="{FF2B5EF4-FFF2-40B4-BE49-F238E27FC236}">
                <a16:creationId xmlns:a16="http://schemas.microsoft.com/office/drawing/2014/main" id="{2D344A10-26F8-4983-869A-0953A1F6B650}"/>
              </a:ext>
            </a:extLst>
          </p:cNvPr>
          <p:cNvSpPr>
            <a:spLocks xmlns:a="http://schemas.openxmlformats.org/drawingml/2006/main" noGrp="1"/>
          </p:cNvSpPr>
          <p:nvPr/>
        </p:nvSpPr>
        <p:spPr>
          <a:xfrm xmlns:a="http://schemas.openxmlformats.org/drawingml/2006/main">
            <a:off x="685800" y="3638550"/>
            <a:ext cx="133350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14" name="personalize-tag">
            <a:extLst xmlns:a="http://schemas.openxmlformats.org/drawingml/2006/main">
              <a:ext uri="{FF2B5EF4-FFF2-40B4-BE49-F238E27FC236}">
                <a16:creationId xmlns:a16="http://schemas.microsoft.com/office/drawing/2014/main" id="{9A89BB1E-0ECB-40AB-9136-205612B4B259}"/>
              </a:ext>
            </a:extLst>
          </p:cNvPr>
          <p:cNvSpPr>
            <a:spLocks xmlns:a="http://schemas.openxmlformats.org/drawingml/2006/main" noGrp="1"/>
          </p:cNvSpPr>
          <p:nvPr/>
        </p:nvSpPr>
        <p:spPr>
          <a:xfrm xmlns:a="http://schemas.openxmlformats.org/drawingml/2006/main">
            <a:off x="685800" y="3648075"/>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PERSONALIZE</a:t>
            </a:r>
          </a:p>
        </p:txBody>
      </p:sp>
      <p:sp>
        <p:nvSpPr>
          <p:cNvPr id="15" name="personalize-body">
            <a:extLst xmlns:a="http://schemas.openxmlformats.org/drawingml/2006/main">
              <a:ext uri="{FF2B5EF4-FFF2-40B4-BE49-F238E27FC236}">
                <a16:creationId xmlns:a16="http://schemas.microsoft.com/office/drawing/2014/main" id="{22810BF7-E799-4B41-8343-80EAB5F15C79}"/>
              </a:ext>
            </a:extLst>
          </p:cNvPr>
          <p:cNvSpPr>
            <a:spLocks xmlns:a="http://schemas.openxmlformats.org/drawingml/2006/main" noGrp="1"/>
          </p:cNvSpPr>
          <p:nvPr/>
        </p:nvSpPr>
        <p:spPr>
          <a:xfrm xmlns:a="http://schemas.openxmlformats.org/drawingml/2006/main">
            <a:off x="685800" y="4133850"/>
            <a:ext cx="476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725" b="1">
                <a:solidFill>
                  <a:srgbClr val="18212F"/>
                </a:solidFill>
                <a:latin typeface="Malgun Gothic"/>
                <a:ea typeface="Malgun Gothic"/>
                <a:cs typeface="Malgun Gothic"/>
              </a:defRPr>
            </a:pPr>
            <a:r>
              <a:rPr sz="1725" b="1">
                <a:solidFill>
                  <a:srgbClr val="18212F"/>
                </a:solidFill>
                <a:latin typeface="Malgun Gothic"/>
                <a:ea typeface="Malgun Gothic"/>
                <a:cs typeface="Malgun Gothic"/>
              </a:rPr>
              <a:t>Explanation depth</a:t>
            </a:r>
          </a:p>
          <a:p xmlns:a="http://schemas.openxmlformats.org/drawingml/2006/main">
            <a:pPr algn="l">
              <a:lnSpc>
                <a:spcPct val="110000"/>
              </a:lnSpc>
              <a:buNone/>
              <a:defRPr sz="1725" b="1">
                <a:solidFill>
                  <a:srgbClr val="18212F"/>
                </a:solidFill>
                <a:latin typeface="Malgun Gothic"/>
                <a:ea typeface="Malgun Gothic"/>
                <a:cs typeface="Malgun Gothic"/>
              </a:defRPr>
            </a:pPr>
            <a:r>
              <a:rPr sz="1725" b="1">
                <a:solidFill>
                  <a:srgbClr val="18212F"/>
                </a:solidFill>
                <a:latin typeface="Malgun Gothic"/>
                <a:ea typeface="Malgun Gothic"/>
                <a:cs typeface="Malgun Gothic"/>
              </a:rPr>
              <a:t>Hint level · Scaffolding</a:t>
            </a:r>
          </a:p>
          <a:p xmlns:a="http://schemas.openxmlformats.org/drawingml/2006/main">
            <a:pPr algn="l">
              <a:lnSpc>
                <a:spcPct val="110000"/>
              </a:lnSpc>
              <a:buNone/>
              <a:defRPr sz="1725" b="1">
                <a:solidFill>
                  <a:srgbClr val="18212F"/>
                </a:solidFill>
                <a:latin typeface="Malgun Gothic"/>
                <a:ea typeface="Malgun Gothic"/>
                <a:cs typeface="Malgun Gothic"/>
              </a:defRPr>
            </a:pPr>
            <a:r>
              <a:rPr sz="1725" b="1">
                <a:solidFill>
                  <a:srgbClr val="18212F"/>
                </a:solidFill>
                <a:latin typeface="Malgun Gothic"/>
                <a:ea typeface="Malgun Gothic"/>
                <a:cs typeface="Malgun Gothic"/>
              </a:rPr>
              <a:t>Review priority · Direct-answer policy</a:t>
            </a:r>
          </a:p>
        </p:txBody>
      </p:sp>
      <p:sp>
        <p:nvSpPr>
          <p:cNvPr id="16" name="future-label">
            <a:extLst xmlns:a="http://schemas.openxmlformats.org/drawingml/2006/main">
              <a:ext uri="{FF2B5EF4-FFF2-40B4-BE49-F238E27FC236}">
                <a16:creationId xmlns:a16="http://schemas.microsoft.com/office/drawing/2014/main" id="{86444368-4852-4A08-B81B-376A60B7704E}"/>
              </a:ext>
            </a:extLst>
          </p:cNvPr>
          <p:cNvSpPr>
            <a:spLocks xmlns:a="http://schemas.openxmlformats.org/drawingml/2006/main" noGrp="1"/>
          </p:cNvSpPr>
          <p:nvPr/>
        </p:nvSpPr>
        <p:spPr>
          <a:xfrm xmlns:a="http://schemas.openxmlformats.org/drawingml/2006/main">
            <a:off x="685800" y="55435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386"/>
                </a:solidFill>
                <a:latin typeface="Malgun Gothic"/>
                <a:ea typeface="Malgun Gothic"/>
                <a:cs typeface="Malgun Gothic"/>
              </a:defRPr>
            </a:pPr>
            <a:r>
              <a:rPr sz="1200" b="0">
                <a:solidFill>
                  <a:srgbClr val="687386"/>
                </a:solidFill>
                <a:latin typeface="Malgun Gothic"/>
                <a:ea typeface="Malgun Gothic"/>
                <a:cs typeface="Malgun Gothic"/>
              </a:rPr>
              <a:t>Future / experimental: Retrievability · Transferability · Multimodal Evidence</a:t>
            </a:r>
          </a:p>
        </p:txBody>
      </p:sp>
      <p:sp>
        <p:nvSpPr>
          <p:cNvPr id="17" name="viewer-frame">
            <a:extLst xmlns:a="http://schemas.openxmlformats.org/drawingml/2006/main">
              <a:ext uri="{FF2B5EF4-FFF2-40B4-BE49-F238E27FC236}">
                <a16:creationId xmlns:a16="http://schemas.microsoft.com/office/drawing/2014/main" id="{222AC60A-95AA-4A1D-BFEA-5E0BDE602DD2}"/>
              </a:ext>
            </a:extLst>
          </p:cNvPr>
          <p:cNvSpPr>
            <a:spLocks xmlns:a="http://schemas.openxmlformats.org/drawingml/2006/main" noGrp="1"/>
          </p:cNvSpPr>
          <p:nvPr/>
        </p:nvSpPr>
        <p:spPr>
          <a:xfrm xmlns:a="http://schemas.openxmlformats.org/drawingml/2006/main">
            <a:off x="6457950" y="1409700"/>
            <a:ext cx="5048250" cy="4552950"/>
          </a:xfrm>
          <a:prstGeom xmlns:a="http://schemas.openxmlformats.org/drawingml/2006/main" prst="roundRect">
            <a:avLst>
              <a:gd name="adj" fmla="val 3766"/>
            </a:avLst>
          </a:prstGeom>
          <a:solidFill xmlns:a="http://schemas.openxmlformats.org/drawingml/2006/main">
            <a:srgbClr val="FFFFFF"/>
          </a:solidFill>
          <a:ln xmlns:a="http://schemas.openxmlformats.org/drawingml/2006/main" w="9525">
            <a:solidFill>
              <a:srgbClr val="E4E8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9" name="viewer-global"/>
          <p:cNvPicPr>
            <a:picLocks xmlns:a="http://schemas.openxmlformats.org/drawingml/2006/main" noChangeAspect="1"/>
          </p:cNvPicPr>
          <p:nvPr/>
        </p:nvPicPr>
        <p:blipFill>
          <a:blip xmlns:r="http://schemas.openxmlformats.org/officeDocument/2006/relationships" xmlns:a="http://schemas.openxmlformats.org/drawingml/2006/main" r:embed="R302ca4c5f4af4251"/>
          <a:srcRect xmlns:a="http://schemas.openxmlformats.org/drawingml/2006/main" l="0" t="32249" r="0" b="32249"/>
          <a:stretch xmlns:a="http://schemas.openxmlformats.org/drawingml/2006/main">
            <a:fillRect l="0" t="0" r="0" b="0"/>
          </a:stretch>
        </p:blipFill>
        <p:spPr>
          <a:xfrm xmlns:a="http://schemas.openxmlformats.org/drawingml/2006/main">
            <a:off x="6629400" y="1581150"/>
            <a:ext cx="4705350" cy="2362200"/>
          </a:xfrm>
          <a:prstGeom xmlns:a="http://schemas.openxmlformats.org/drawingml/2006/main" prst="roundRect">
            <a:avLst>
              <a:gd name="adj" fmla="val 4839"/>
            </a:avLst>
          </a:prstGeom>
        </p:spPr>
      </p:pic>
      <p:pic>
        <p:nvPicPr>
          <p:cNvPr id="40" name="viewer-skill"/>
          <p:cNvPicPr>
            <a:picLocks xmlns:a="http://schemas.openxmlformats.org/drawingml/2006/main" noChangeAspect="1"/>
          </p:cNvPicPr>
          <p:nvPr/>
        </p:nvPicPr>
        <p:blipFill>
          <a:blip xmlns:r="http://schemas.openxmlformats.org/officeDocument/2006/relationships" xmlns:a="http://schemas.openxmlformats.org/drawingml/2006/main" r:embed="R07fd5e3a4ec44602"/>
          <a:srcRect xmlns:a="http://schemas.openxmlformats.org/drawingml/2006/main" l="0" t="37546" r="0" b="37546"/>
          <a:stretch xmlns:a="http://schemas.openxmlformats.org/drawingml/2006/main">
            <a:fillRect l="0" t="0" r="0" b="0"/>
          </a:stretch>
        </p:blipFill>
        <p:spPr>
          <a:xfrm xmlns:a="http://schemas.openxmlformats.org/drawingml/2006/main">
            <a:off x="6629400" y="4095750"/>
            <a:ext cx="4705350" cy="1657350"/>
          </a:xfrm>
          <a:prstGeom xmlns:a="http://schemas.openxmlformats.org/drawingml/2006/main" prst="roundRect">
            <a:avLst>
              <a:gd name="adj" fmla="val 6897"/>
            </a:avLst>
          </a:prstGeom>
        </p:spPr>
      </p:pic>
      <p:sp>
        <p:nvSpPr>
          <p:cNvPr id="20" name="viewer-proof-box">
            <a:extLst xmlns:a="http://schemas.openxmlformats.org/drawingml/2006/main">
              <a:ext uri="{FF2B5EF4-FFF2-40B4-BE49-F238E27FC236}">
                <a16:creationId xmlns:a16="http://schemas.microsoft.com/office/drawing/2014/main" id="{49DEEE19-D4ED-46D4-B9F4-E5A8DEF31883}"/>
              </a:ext>
            </a:extLst>
          </p:cNvPr>
          <p:cNvSpPr>
            <a:spLocks xmlns:a="http://schemas.openxmlformats.org/drawingml/2006/main" noGrp="1"/>
          </p:cNvSpPr>
          <p:nvPr/>
        </p:nvSpPr>
        <p:spPr>
          <a:xfrm xmlns:a="http://schemas.openxmlformats.org/drawingml/2006/main">
            <a:off x="7772400" y="5829300"/>
            <a:ext cx="316230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21" name="viewer-proof">
            <a:extLst xmlns:a="http://schemas.openxmlformats.org/drawingml/2006/main">
              <a:ext uri="{FF2B5EF4-FFF2-40B4-BE49-F238E27FC236}">
                <a16:creationId xmlns:a16="http://schemas.microsoft.com/office/drawing/2014/main" id="{9B17475B-7DEA-4429-9122-A6E225F94D1A}"/>
              </a:ext>
            </a:extLst>
          </p:cNvPr>
          <p:cNvSpPr>
            <a:spLocks xmlns:a="http://schemas.openxmlformats.org/drawingml/2006/main" noGrp="1"/>
          </p:cNvSpPr>
          <p:nvPr/>
        </p:nvSpPr>
        <p:spPr>
          <a:xfrm xmlns:a="http://schemas.openxmlformats.org/drawingml/2006/main">
            <a:off x="7772400" y="583882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SEPARATE LEARNER INTELLIGENCE LAYER</a:t>
            </a:r>
          </a:p>
        </p:txBody>
      </p:sp>
    </p:spTree>
    <p:extLst>
      <p:ext uri="{BB962C8B-B14F-4D97-AF65-F5344CB8AC3E}">
        <p14:creationId xmlns:p14="http://schemas.microsoft.com/office/powerpoint/2010/main" val="2118727486"/>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eyebrow-6">
            <a:extLst xmlns:a="http://schemas.openxmlformats.org/drawingml/2006/main">
              <a:ext uri="{FF2B5EF4-FFF2-40B4-BE49-F238E27FC236}">
                <a16:creationId xmlns:a16="http://schemas.microsoft.com/office/drawing/2014/main" id="{504DCAA0-7AAF-4EBA-9C5C-0FF7268892BA}"/>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ACTUAL PRODUCT DEMO</a:t>
            </a:r>
          </a:p>
        </p:txBody>
      </p:sp>
      <p:sp>
        <p:nvSpPr>
          <p:cNvPr id="2" name="title-6">
            <a:extLst xmlns:a="http://schemas.openxmlformats.org/drawingml/2006/main">
              <a:ext uri="{FF2B5EF4-FFF2-40B4-BE49-F238E27FC236}">
                <a16:creationId xmlns:a16="http://schemas.microsoft.com/office/drawing/2014/main" id="{3BBFB5CD-5E85-4AE8-A19C-CFFAAD1A3C93}"/>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SAME AI. SAME QUESTION. DIFFERENT TEACHING.</a:t>
            </a:r>
          </a:p>
        </p:txBody>
      </p:sp>
      <p:sp>
        <p:nvSpPr>
          <p:cNvPr id="3" name="page-6">
            <a:extLst xmlns:a="http://schemas.openxmlformats.org/drawingml/2006/main">
              <a:ext uri="{FF2B5EF4-FFF2-40B4-BE49-F238E27FC236}">
                <a16:creationId xmlns:a16="http://schemas.microsoft.com/office/drawing/2014/main" id="{FFFB7F31-7E0C-472D-B766-FDB06D04CAC3}"/>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06</a:t>
            </a:r>
          </a:p>
        </p:txBody>
      </p:sp>
      <p:sp>
        <p:nvSpPr>
          <p:cNvPr id="4" name="demo-subtitle">
            <a:extLst xmlns:a="http://schemas.openxmlformats.org/drawingml/2006/main">
              <a:ext uri="{FF2B5EF4-FFF2-40B4-BE49-F238E27FC236}">
                <a16:creationId xmlns:a16="http://schemas.microsoft.com/office/drawing/2014/main" id="{CFD44F74-CEC6-4999-831C-9169F85A0E0D}"/>
              </a:ext>
            </a:extLst>
          </p:cNvPr>
          <p:cNvSpPr>
            <a:spLocks xmlns:a="http://schemas.openxmlformats.org/drawingml/2006/main" noGrp="1"/>
          </p:cNvSpPr>
          <p:nvPr/>
        </p:nvSpPr>
        <p:spPr>
          <a:xfrm xmlns:a="http://schemas.openxmlformats.org/drawingml/2006/main">
            <a:off x="685800" y="1257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87386"/>
                </a:solidFill>
                <a:latin typeface="Malgun Gothic"/>
                <a:ea typeface="Malgun Gothic"/>
                <a:cs typeface="Malgun Gothic"/>
              </a:defRPr>
            </a:pPr>
            <a:r>
              <a:rPr sz="1500" b="0">
                <a:solidFill>
                  <a:srgbClr val="687386"/>
                </a:solidFill>
                <a:latin typeface="Malgun Gothic"/>
                <a:ea typeface="Malgun Gothic"/>
                <a:cs typeface="Malgun Gothic"/>
              </a:rPr>
              <a:t>같은 질문이라도 Learner Context가 있으면 먼저 평가하고, 관찰하며, 도움의 강도를 바꿉니다.</a:t>
            </a:r>
          </a:p>
        </p:txBody>
      </p:sp>
      <p:sp>
        <p:nvSpPr>
          <p:cNvPr id="5" name="without-label-box">
            <a:extLst xmlns:a="http://schemas.openxmlformats.org/drawingml/2006/main">
              <a:ext uri="{FF2B5EF4-FFF2-40B4-BE49-F238E27FC236}">
                <a16:creationId xmlns:a16="http://schemas.microsoft.com/office/drawing/2014/main" id="{D566A330-CBBB-41CA-82CD-AA44535647E7}"/>
              </a:ext>
            </a:extLst>
          </p:cNvPr>
          <p:cNvSpPr>
            <a:spLocks xmlns:a="http://schemas.openxmlformats.org/drawingml/2006/main" noGrp="1"/>
          </p:cNvSpPr>
          <p:nvPr/>
        </p:nvSpPr>
        <p:spPr>
          <a:xfrm xmlns:a="http://schemas.openxmlformats.org/drawingml/2006/main">
            <a:off x="685800" y="1714500"/>
            <a:ext cx="2095500" cy="323850"/>
          </a:xfrm>
          <a:prstGeom xmlns:a="http://schemas.openxmlformats.org/drawingml/2006/main" prst="roundRect">
            <a:avLst>
              <a:gd name="adj" fmla="val 50000"/>
            </a:avLst>
          </a:prstGeom>
          <a:solidFill xmlns:a="http://schemas.openxmlformats.org/drawingml/2006/main">
            <a:srgbClr val="F9FAFB"/>
          </a:solidFill>
          <a:ln xmlns:a="http://schemas.openxmlformats.org/drawingml/2006/main" w="9525">
            <a:solidFill>
              <a:srgbClr val="D5DBE5"/>
            </a:solidFill>
            <a:prstDash val="solid"/>
          </a:ln>
        </p:spPr>
      </p:sp>
      <p:sp>
        <p:nvSpPr>
          <p:cNvPr id="6" name="without-label">
            <a:extLst xmlns:a="http://schemas.openxmlformats.org/drawingml/2006/main">
              <a:ext uri="{FF2B5EF4-FFF2-40B4-BE49-F238E27FC236}">
                <a16:creationId xmlns:a16="http://schemas.microsoft.com/office/drawing/2014/main" id="{FB80C88E-E3C4-4335-9417-BE6764400262}"/>
              </a:ext>
            </a:extLst>
          </p:cNvPr>
          <p:cNvSpPr>
            <a:spLocks xmlns:a="http://schemas.openxmlformats.org/drawingml/2006/main" noGrp="1"/>
          </p:cNvSpPr>
          <p:nvPr/>
        </p:nvSpPr>
        <p:spPr>
          <a:xfrm xmlns:a="http://schemas.openxmlformats.org/drawingml/2006/main">
            <a:off x="685800" y="172402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687386"/>
                </a:solidFill>
                <a:latin typeface="Malgun Gothic"/>
                <a:ea typeface="Malgun Gothic"/>
                <a:cs typeface="Malgun Gothic"/>
              </a:defRPr>
            </a:pPr>
            <a:r>
              <a:rPr sz="1200" b="1">
                <a:solidFill>
                  <a:srgbClr val="687386"/>
                </a:solidFill>
                <a:latin typeface="Malgun Gothic"/>
                <a:ea typeface="Malgun Gothic"/>
                <a:cs typeface="Malgun Gothic"/>
              </a:rPr>
              <a:t>WITHOUT STUDYMETA</a:t>
            </a:r>
          </a:p>
        </p:txBody>
      </p:sp>
      <p:sp>
        <p:nvSpPr>
          <p:cNvPr id="7" name="with-label-box">
            <a:extLst xmlns:a="http://schemas.openxmlformats.org/drawingml/2006/main">
              <a:ext uri="{FF2B5EF4-FFF2-40B4-BE49-F238E27FC236}">
                <a16:creationId xmlns:a16="http://schemas.microsoft.com/office/drawing/2014/main" id="{C4A83C96-E2E2-4C88-892E-4C67C6892379}"/>
              </a:ext>
            </a:extLst>
          </p:cNvPr>
          <p:cNvSpPr>
            <a:spLocks xmlns:a="http://schemas.openxmlformats.org/drawingml/2006/main" noGrp="1"/>
          </p:cNvSpPr>
          <p:nvPr/>
        </p:nvSpPr>
        <p:spPr>
          <a:xfrm xmlns:a="http://schemas.openxmlformats.org/drawingml/2006/main">
            <a:off x="6362700" y="1714500"/>
            <a:ext cx="190500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8" name="with-label">
            <a:extLst xmlns:a="http://schemas.openxmlformats.org/drawingml/2006/main">
              <a:ext uri="{FF2B5EF4-FFF2-40B4-BE49-F238E27FC236}">
                <a16:creationId xmlns:a16="http://schemas.microsoft.com/office/drawing/2014/main" id="{20F151EC-7130-41BB-BFFF-D81AA98518ED}"/>
              </a:ext>
            </a:extLst>
          </p:cNvPr>
          <p:cNvSpPr>
            <a:spLocks xmlns:a="http://schemas.openxmlformats.org/drawingml/2006/main" noGrp="1"/>
          </p:cNvSpPr>
          <p:nvPr/>
        </p:nvSpPr>
        <p:spPr>
          <a:xfrm xmlns:a="http://schemas.openxmlformats.org/drawingml/2006/main">
            <a:off x="6362700" y="172402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WITH STUDYMETA</a:t>
            </a:r>
          </a:p>
        </p:txBody>
      </p:sp>
      <p:sp>
        <p:nvSpPr>
          <p:cNvPr id="9" name="without-frame">
            <a:extLst xmlns:a="http://schemas.openxmlformats.org/drawingml/2006/main">
              <a:ext uri="{FF2B5EF4-FFF2-40B4-BE49-F238E27FC236}">
                <a16:creationId xmlns:a16="http://schemas.microsoft.com/office/drawing/2014/main" id="{241201B5-3F3A-4FC9-8255-7446A890E39C}"/>
              </a:ext>
            </a:extLst>
          </p:cNvPr>
          <p:cNvSpPr>
            <a:spLocks xmlns:a="http://schemas.openxmlformats.org/drawingml/2006/main" noGrp="1"/>
          </p:cNvSpPr>
          <p:nvPr/>
        </p:nvSpPr>
        <p:spPr>
          <a:xfrm xmlns:a="http://schemas.openxmlformats.org/drawingml/2006/main">
            <a:off x="685800" y="2152650"/>
            <a:ext cx="5105400" cy="314325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E4E8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5" name="without-crop"/>
          <p:cNvPicPr>
            <a:picLocks xmlns:a="http://schemas.openxmlformats.org/drawingml/2006/main" noChangeAspect="1"/>
          </p:cNvPicPr>
          <p:nvPr/>
        </p:nvPicPr>
        <p:blipFill>
          <a:blip xmlns:r="http://schemas.openxmlformats.org/officeDocument/2006/relationships" xmlns:a="http://schemas.openxmlformats.org/drawingml/2006/main" r:embed="R386a5577e6db40b1"/>
          <a:srcRect xmlns:a="http://schemas.openxmlformats.org/drawingml/2006/main" l="0" t="29104" r="0" b="29104"/>
          <a:stretch xmlns:a="http://schemas.openxmlformats.org/drawingml/2006/main">
            <a:fillRect l="0" t="0" r="0" b="0"/>
          </a:stretch>
        </p:blipFill>
        <p:spPr>
          <a:xfrm xmlns:a="http://schemas.openxmlformats.org/drawingml/2006/main">
            <a:off x="838200" y="2305050"/>
            <a:ext cx="4800600" cy="2838450"/>
          </a:xfrm>
          <a:prstGeom xmlns:a="http://schemas.openxmlformats.org/drawingml/2006/main" prst="roundRect">
            <a:avLst>
              <a:gd name="adj" fmla="val 4027"/>
            </a:avLst>
          </a:prstGeom>
        </p:spPr>
      </p:pic>
      <p:sp>
        <p:nvSpPr>
          <p:cNvPr id="11" name="with-frame">
            <a:extLst xmlns:a="http://schemas.openxmlformats.org/drawingml/2006/main">
              <a:ext uri="{FF2B5EF4-FFF2-40B4-BE49-F238E27FC236}">
                <a16:creationId xmlns:a16="http://schemas.microsoft.com/office/drawing/2014/main" id="{A600B37A-E94A-4D7C-B1B6-8AF173DCB44B}"/>
              </a:ext>
            </a:extLst>
          </p:cNvPr>
          <p:cNvSpPr>
            <a:spLocks xmlns:a="http://schemas.openxmlformats.org/drawingml/2006/main" noGrp="1"/>
          </p:cNvSpPr>
          <p:nvPr/>
        </p:nvSpPr>
        <p:spPr>
          <a:xfrm xmlns:a="http://schemas.openxmlformats.org/drawingml/2006/main">
            <a:off x="6362700" y="2152650"/>
            <a:ext cx="5143500" cy="314325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93C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7" name="with-crop"/>
          <p:cNvPicPr>
            <a:picLocks xmlns:a="http://schemas.openxmlformats.org/drawingml/2006/main" noChangeAspect="1"/>
          </p:cNvPicPr>
          <p:nvPr/>
        </p:nvPicPr>
        <p:blipFill>
          <a:blip xmlns:r="http://schemas.openxmlformats.org/officeDocument/2006/relationships" xmlns:a="http://schemas.openxmlformats.org/drawingml/2006/main" r:embed="R77346f4a81714e34"/>
          <a:srcRect xmlns:a="http://schemas.openxmlformats.org/drawingml/2006/main" l="0" t="29258" r="0" b="29258"/>
          <a:stretch xmlns:a="http://schemas.openxmlformats.org/drawingml/2006/main">
            <a:fillRect l="0" t="0" r="0" b="0"/>
          </a:stretch>
        </p:blipFill>
        <p:spPr>
          <a:xfrm xmlns:a="http://schemas.openxmlformats.org/drawingml/2006/main">
            <a:off x="6515100" y="2305050"/>
            <a:ext cx="4838700" cy="2838450"/>
          </a:xfrm>
          <a:prstGeom xmlns:a="http://schemas.openxmlformats.org/drawingml/2006/main" prst="roundRect">
            <a:avLst>
              <a:gd name="adj" fmla="val 4027"/>
            </a:avLst>
          </a:prstGeom>
        </p:spPr>
      </p:pic>
      <p:sp>
        <p:nvSpPr>
          <p:cNvPr id="13" name="explains-first">
            <a:extLst xmlns:a="http://schemas.openxmlformats.org/drawingml/2006/main">
              <a:ext uri="{FF2B5EF4-FFF2-40B4-BE49-F238E27FC236}">
                <a16:creationId xmlns:a16="http://schemas.microsoft.com/office/drawing/2014/main" id="{6E0EDCCF-E624-4D44-BC03-4206BDD3BCD1}"/>
              </a:ext>
            </a:extLst>
          </p:cNvPr>
          <p:cNvSpPr>
            <a:spLocks xmlns:a="http://schemas.openxmlformats.org/drawingml/2006/main" noGrp="1"/>
          </p:cNvSpPr>
          <p:nvPr/>
        </p:nvSpPr>
        <p:spPr>
          <a:xfrm xmlns:a="http://schemas.openxmlformats.org/drawingml/2006/main">
            <a:off x="685800" y="5410200"/>
            <a:ext cx="510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87386"/>
                </a:solidFill>
                <a:latin typeface="Malgun Gothic"/>
                <a:ea typeface="Malgun Gothic"/>
                <a:cs typeface="Malgun Gothic"/>
              </a:defRPr>
            </a:pPr>
            <a:r>
              <a:rPr sz="1500" b="1">
                <a:solidFill>
                  <a:srgbClr val="687386"/>
                </a:solidFill>
                <a:latin typeface="Malgun Gothic"/>
                <a:ea typeface="Malgun Gothic"/>
                <a:cs typeface="Malgun Gothic"/>
              </a:rPr>
              <a:t>Explains first</a:t>
            </a:r>
          </a:p>
        </p:txBody>
      </p:sp>
      <p:sp>
        <p:nvSpPr>
          <p:cNvPr id="14" name="assesses-adapts">
            <a:extLst xmlns:a="http://schemas.openxmlformats.org/drawingml/2006/main">
              <a:ext uri="{FF2B5EF4-FFF2-40B4-BE49-F238E27FC236}">
                <a16:creationId xmlns:a16="http://schemas.microsoft.com/office/drawing/2014/main" id="{7CA968C6-9008-4FD2-B70E-3FEC24287CBA}"/>
              </a:ext>
            </a:extLst>
          </p:cNvPr>
          <p:cNvSpPr>
            <a:spLocks xmlns:a="http://schemas.openxmlformats.org/drawingml/2006/main" noGrp="1"/>
          </p:cNvSpPr>
          <p:nvPr/>
        </p:nvSpPr>
        <p:spPr>
          <a:xfrm xmlns:a="http://schemas.openxmlformats.org/drawingml/2006/main">
            <a:off x="6362700" y="54102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1746A2"/>
                </a:solidFill>
                <a:latin typeface="Malgun Gothic"/>
                <a:ea typeface="Malgun Gothic"/>
                <a:cs typeface="Malgun Gothic"/>
              </a:defRPr>
            </a:pPr>
            <a:r>
              <a:rPr sz="1500" b="1">
                <a:solidFill>
                  <a:srgbClr val="1746A2"/>
                </a:solidFill>
                <a:latin typeface="Malgun Gothic"/>
                <a:ea typeface="Malgun Gothic"/>
                <a:cs typeface="Malgun Gothic"/>
              </a:rPr>
              <a:t>Assesses and adapts</a:t>
            </a:r>
          </a:p>
        </p:txBody>
      </p:sp>
      <p:sp>
        <p:nvSpPr>
          <p:cNvPr id="15" name="demo-step-0-box">
            <a:extLst xmlns:a="http://schemas.openxmlformats.org/drawingml/2006/main">
              <a:ext uri="{FF2B5EF4-FFF2-40B4-BE49-F238E27FC236}">
                <a16:creationId xmlns:a16="http://schemas.microsoft.com/office/drawing/2014/main" id="{7D51FE8B-BE19-410C-B8C6-371C4040C5E3}"/>
              </a:ext>
            </a:extLst>
          </p:cNvPr>
          <p:cNvSpPr>
            <a:spLocks xmlns:a="http://schemas.openxmlformats.org/drawingml/2006/main" noGrp="1"/>
          </p:cNvSpPr>
          <p:nvPr/>
        </p:nvSpPr>
        <p:spPr>
          <a:xfrm xmlns:a="http://schemas.openxmlformats.org/drawingml/2006/main">
            <a:off x="1314450" y="5886450"/>
            <a:ext cx="1866900" cy="514350"/>
          </a:xfrm>
          <a:prstGeom xmlns:a="http://schemas.openxmlformats.org/drawingml/2006/main" prst="roundRect">
            <a:avLst>
              <a:gd name="adj" fmla="val 22222"/>
            </a:avLst>
          </a:prstGeom>
          <a:solidFill xmlns:a="http://schemas.openxmlformats.org/drawingml/2006/main">
            <a:srgbClr val="EFF6FF"/>
          </a:solidFill>
          <a:ln xmlns:a="http://schemas.openxmlformats.org/drawingml/2006/main" w="9525">
            <a:solidFill>
              <a:srgbClr val="93C5FD"/>
            </a:solidFill>
            <a:prstDash val="solid"/>
          </a:ln>
        </p:spPr>
      </p:sp>
      <p:sp>
        <p:nvSpPr>
          <p:cNvPr id="16" name="demo-step-0">
            <a:extLst xmlns:a="http://schemas.openxmlformats.org/drawingml/2006/main">
              <a:ext uri="{FF2B5EF4-FFF2-40B4-BE49-F238E27FC236}">
                <a16:creationId xmlns:a16="http://schemas.microsoft.com/office/drawing/2014/main" id="{77B725F5-211A-467A-8261-760691A6F8B1}"/>
              </a:ext>
            </a:extLst>
          </p:cNvPr>
          <p:cNvSpPr>
            <a:spLocks xmlns:a="http://schemas.openxmlformats.org/drawingml/2006/main" noGrp="1"/>
          </p:cNvSpPr>
          <p:nvPr/>
        </p:nvSpPr>
        <p:spPr>
          <a:xfrm xmlns:a="http://schemas.openxmlformats.org/drawingml/2006/main">
            <a:off x="1428750" y="59626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58"/>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READ</a:t>
            </a:r>
          </a:p>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Learner State</a:t>
            </a:r>
          </a:p>
        </p:txBody>
      </p:sp>
      <p:sp>
        <p:nvSpPr>
          <p:cNvPr id="17" name="demo-bottom-arrow-0">
            <a:extLst xmlns:a="http://schemas.openxmlformats.org/drawingml/2006/main">
              <a:ext uri="{FF2B5EF4-FFF2-40B4-BE49-F238E27FC236}">
                <a16:creationId xmlns:a16="http://schemas.microsoft.com/office/drawing/2014/main" id="{7170BB24-C41E-4831-9C44-49B72E259948}"/>
              </a:ext>
            </a:extLst>
          </p:cNvPr>
          <p:cNvSpPr>
            <a:spLocks xmlns:a="http://schemas.openxmlformats.org/drawingml/2006/main" noGrp="1"/>
          </p:cNvSpPr>
          <p:nvPr/>
        </p:nvSpPr>
        <p:spPr>
          <a:xfrm xmlns:a="http://schemas.openxmlformats.org/drawingml/2006/main">
            <a:off x="3257550" y="595312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2563EB"/>
                </a:solidFill>
                <a:latin typeface="Malgun Gothic"/>
                <a:ea typeface="Malgun Gothic"/>
                <a:cs typeface="Malgun Gothic"/>
              </a:defRPr>
            </a:pPr>
            <a:r>
              <a:rPr sz="2100" b="1">
                <a:solidFill>
                  <a:srgbClr val="2563EB"/>
                </a:solidFill>
                <a:latin typeface="Malgun Gothic"/>
                <a:ea typeface="Malgun Gothic"/>
                <a:cs typeface="Malgun Gothic"/>
              </a:rPr>
              <a:t>→</a:t>
            </a:r>
          </a:p>
        </p:txBody>
      </p:sp>
      <p:sp>
        <p:nvSpPr>
          <p:cNvPr id="18" name="demo-step-1-box">
            <a:extLst xmlns:a="http://schemas.openxmlformats.org/drawingml/2006/main">
              <a:ext uri="{FF2B5EF4-FFF2-40B4-BE49-F238E27FC236}">
                <a16:creationId xmlns:a16="http://schemas.microsoft.com/office/drawing/2014/main" id="{595FF36A-7E7B-4A3E-8EB2-08961D0B5446}"/>
              </a:ext>
            </a:extLst>
          </p:cNvPr>
          <p:cNvSpPr>
            <a:spLocks xmlns:a="http://schemas.openxmlformats.org/drawingml/2006/main" noGrp="1"/>
          </p:cNvSpPr>
          <p:nvPr/>
        </p:nvSpPr>
        <p:spPr>
          <a:xfrm xmlns:a="http://schemas.openxmlformats.org/drawingml/2006/main">
            <a:off x="3676650" y="5886450"/>
            <a:ext cx="1866900" cy="514350"/>
          </a:xfrm>
          <a:prstGeom xmlns:a="http://schemas.openxmlformats.org/drawingml/2006/main" prst="roundRect">
            <a:avLst>
              <a:gd name="adj" fmla="val 22222"/>
            </a:avLst>
          </a:prstGeom>
          <a:solidFill xmlns:a="http://schemas.openxmlformats.org/drawingml/2006/main">
            <a:srgbClr val="EFF6FF"/>
          </a:solidFill>
          <a:ln xmlns:a="http://schemas.openxmlformats.org/drawingml/2006/main" w="9525">
            <a:solidFill>
              <a:srgbClr val="93C5FD"/>
            </a:solidFill>
            <a:prstDash val="solid"/>
          </a:ln>
        </p:spPr>
      </p:sp>
      <p:sp>
        <p:nvSpPr>
          <p:cNvPr id="19" name="demo-step-1">
            <a:extLst xmlns:a="http://schemas.openxmlformats.org/drawingml/2006/main">
              <a:ext uri="{FF2B5EF4-FFF2-40B4-BE49-F238E27FC236}">
                <a16:creationId xmlns:a16="http://schemas.microsoft.com/office/drawing/2014/main" id="{C22B5806-9504-40FD-BAC8-B95369D5D9A4}"/>
              </a:ext>
            </a:extLst>
          </p:cNvPr>
          <p:cNvSpPr>
            <a:spLocks xmlns:a="http://schemas.openxmlformats.org/drawingml/2006/main" noGrp="1"/>
          </p:cNvSpPr>
          <p:nvPr/>
        </p:nvSpPr>
        <p:spPr>
          <a:xfrm xmlns:a="http://schemas.openxmlformats.org/drawingml/2006/main">
            <a:off x="3790950" y="59626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58"/>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ADAPT</a:t>
            </a:r>
          </a:p>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Teaching Policy</a:t>
            </a:r>
          </a:p>
        </p:txBody>
      </p:sp>
      <p:sp>
        <p:nvSpPr>
          <p:cNvPr id="20" name="demo-bottom-arrow-1">
            <a:extLst xmlns:a="http://schemas.openxmlformats.org/drawingml/2006/main">
              <a:ext uri="{FF2B5EF4-FFF2-40B4-BE49-F238E27FC236}">
                <a16:creationId xmlns:a16="http://schemas.microsoft.com/office/drawing/2014/main" id="{FBE5681E-8330-47E1-993A-DD35EEF8BF98}"/>
              </a:ext>
            </a:extLst>
          </p:cNvPr>
          <p:cNvSpPr>
            <a:spLocks xmlns:a="http://schemas.openxmlformats.org/drawingml/2006/main" noGrp="1"/>
          </p:cNvSpPr>
          <p:nvPr/>
        </p:nvSpPr>
        <p:spPr>
          <a:xfrm xmlns:a="http://schemas.openxmlformats.org/drawingml/2006/main">
            <a:off x="5619750" y="595312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2563EB"/>
                </a:solidFill>
                <a:latin typeface="Malgun Gothic"/>
                <a:ea typeface="Malgun Gothic"/>
                <a:cs typeface="Malgun Gothic"/>
              </a:defRPr>
            </a:pPr>
            <a:r>
              <a:rPr sz="2100" b="1">
                <a:solidFill>
                  <a:srgbClr val="2563EB"/>
                </a:solidFill>
                <a:latin typeface="Malgun Gothic"/>
                <a:ea typeface="Malgun Gothic"/>
                <a:cs typeface="Malgun Gothic"/>
              </a:rPr>
              <a:t>→</a:t>
            </a:r>
          </a:p>
        </p:txBody>
      </p:sp>
      <p:sp>
        <p:nvSpPr>
          <p:cNvPr id="21" name="demo-step-2-box">
            <a:extLst xmlns:a="http://schemas.openxmlformats.org/drawingml/2006/main">
              <a:ext uri="{FF2B5EF4-FFF2-40B4-BE49-F238E27FC236}">
                <a16:creationId xmlns:a16="http://schemas.microsoft.com/office/drawing/2014/main" id="{0694BC7B-3075-4102-AF02-3EAEAF467C78}"/>
              </a:ext>
            </a:extLst>
          </p:cNvPr>
          <p:cNvSpPr>
            <a:spLocks xmlns:a="http://schemas.openxmlformats.org/drawingml/2006/main" noGrp="1"/>
          </p:cNvSpPr>
          <p:nvPr/>
        </p:nvSpPr>
        <p:spPr>
          <a:xfrm xmlns:a="http://schemas.openxmlformats.org/drawingml/2006/main">
            <a:off x="6038850" y="5886450"/>
            <a:ext cx="1866900" cy="514350"/>
          </a:xfrm>
          <a:prstGeom xmlns:a="http://schemas.openxmlformats.org/drawingml/2006/main" prst="roundRect">
            <a:avLst>
              <a:gd name="adj" fmla="val 22222"/>
            </a:avLst>
          </a:prstGeom>
          <a:solidFill xmlns:a="http://schemas.openxmlformats.org/drawingml/2006/main">
            <a:srgbClr val="EFF6FF"/>
          </a:solidFill>
          <a:ln xmlns:a="http://schemas.openxmlformats.org/drawingml/2006/main" w="9525">
            <a:solidFill>
              <a:srgbClr val="93C5FD"/>
            </a:solidFill>
            <a:prstDash val="solid"/>
          </a:ln>
        </p:spPr>
      </p:sp>
      <p:sp>
        <p:nvSpPr>
          <p:cNvPr id="22" name="demo-step-2">
            <a:extLst xmlns:a="http://schemas.openxmlformats.org/drawingml/2006/main">
              <a:ext uri="{FF2B5EF4-FFF2-40B4-BE49-F238E27FC236}">
                <a16:creationId xmlns:a16="http://schemas.microsoft.com/office/drawing/2014/main" id="{794F2ED6-3B43-4D83-B5FE-8A253DFB05F8}"/>
              </a:ext>
            </a:extLst>
          </p:cNvPr>
          <p:cNvSpPr>
            <a:spLocks xmlns:a="http://schemas.openxmlformats.org/drawingml/2006/main" noGrp="1"/>
          </p:cNvSpPr>
          <p:nvPr/>
        </p:nvSpPr>
        <p:spPr>
          <a:xfrm xmlns:a="http://schemas.openxmlformats.org/drawingml/2006/main">
            <a:off x="6153150" y="59626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58"/>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LEARN</a:t>
            </a:r>
          </a:p>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STEP 1 → 4</a:t>
            </a:r>
          </a:p>
        </p:txBody>
      </p:sp>
      <p:sp>
        <p:nvSpPr>
          <p:cNvPr id="23" name="demo-bottom-arrow-2">
            <a:extLst xmlns:a="http://schemas.openxmlformats.org/drawingml/2006/main">
              <a:ext uri="{FF2B5EF4-FFF2-40B4-BE49-F238E27FC236}">
                <a16:creationId xmlns:a16="http://schemas.microsoft.com/office/drawing/2014/main" id="{AA73A33F-0DE5-4D3C-B6A7-269CE2803797}"/>
              </a:ext>
            </a:extLst>
          </p:cNvPr>
          <p:cNvSpPr>
            <a:spLocks xmlns:a="http://schemas.openxmlformats.org/drawingml/2006/main" noGrp="1"/>
          </p:cNvSpPr>
          <p:nvPr/>
        </p:nvSpPr>
        <p:spPr>
          <a:xfrm xmlns:a="http://schemas.openxmlformats.org/drawingml/2006/main">
            <a:off x="7981950" y="595312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2563EB"/>
                </a:solidFill>
                <a:latin typeface="Malgun Gothic"/>
                <a:ea typeface="Malgun Gothic"/>
                <a:cs typeface="Malgun Gothic"/>
              </a:defRPr>
            </a:pPr>
            <a:r>
              <a:rPr sz="2100" b="1">
                <a:solidFill>
                  <a:srgbClr val="2563EB"/>
                </a:solidFill>
                <a:latin typeface="Malgun Gothic"/>
                <a:ea typeface="Malgun Gothic"/>
                <a:cs typeface="Malgun Gothic"/>
              </a:rPr>
              <a:t>→</a:t>
            </a:r>
          </a:p>
        </p:txBody>
      </p:sp>
      <p:sp>
        <p:nvSpPr>
          <p:cNvPr id="24" name="demo-step-3-box">
            <a:extLst xmlns:a="http://schemas.openxmlformats.org/drawingml/2006/main">
              <a:ext uri="{FF2B5EF4-FFF2-40B4-BE49-F238E27FC236}">
                <a16:creationId xmlns:a16="http://schemas.microsoft.com/office/drawing/2014/main" id="{6B65F1B0-6526-40D9-B43D-0858FDC3E233}"/>
              </a:ext>
            </a:extLst>
          </p:cNvPr>
          <p:cNvSpPr>
            <a:spLocks xmlns:a="http://schemas.openxmlformats.org/drawingml/2006/main" noGrp="1"/>
          </p:cNvSpPr>
          <p:nvPr/>
        </p:nvSpPr>
        <p:spPr>
          <a:xfrm xmlns:a="http://schemas.openxmlformats.org/drawingml/2006/main">
            <a:off x="8401050" y="5886450"/>
            <a:ext cx="1866900" cy="514350"/>
          </a:xfrm>
          <a:prstGeom xmlns:a="http://schemas.openxmlformats.org/drawingml/2006/main" prst="roundRect">
            <a:avLst>
              <a:gd name="adj" fmla="val 22222"/>
            </a:avLst>
          </a:prstGeom>
          <a:solidFill xmlns:a="http://schemas.openxmlformats.org/drawingml/2006/main">
            <a:srgbClr val="F0FDF4"/>
          </a:solidFill>
          <a:ln xmlns:a="http://schemas.openxmlformats.org/drawingml/2006/main" w="9525">
            <a:solidFill>
              <a:srgbClr val="86C99A"/>
            </a:solidFill>
            <a:prstDash val="solid"/>
          </a:ln>
        </p:spPr>
      </p:sp>
      <p:sp>
        <p:nvSpPr>
          <p:cNvPr id="25" name="demo-step-3">
            <a:extLst xmlns:a="http://schemas.openxmlformats.org/drawingml/2006/main">
              <a:ext uri="{FF2B5EF4-FFF2-40B4-BE49-F238E27FC236}">
                <a16:creationId xmlns:a16="http://schemas.microsoft.com/office/drawing/2014/main" id="{BBF079DE-B371-4971-9D46-589BDC2AA22F}"/>
              </a:ext>
            </a:extLst>
          </p:cNvPr>
          <p:cNvSpPr>
            <a:spLocks xmlns:a="http://schemas.openxmlformats.org/drawingml/2006/main" noGrp="1"/>
          </p:cNvSpPr>
          <p:nvPr/>
        </p:nvSpPr>
        <p:spPr>
          <a:xfrm xmlns:a="http://schemas.openxmlformats.org/drawingml/2006/main">
            <a:off x="8515350" y="59626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58"/>
          </a:bodyPr>
          <a:lstStyle xmlns:a="http://schemas.openxmlformats.org/drawingml/2006/main"/>
          <a:p xmlns:a="http://schemas.openxmlformats.org/drawingml/2006/main">
            <a:pPr algn="ctr">
              <a:defRPr sz="1200" b="1">
                <a:solidFill>
                  <a:srgbClr val="15803D"/>
                </a:solidFill>
                <a:latin typeface="Malgun Gothic"/>
                <a:ea typeface="Malgun Gothic"/>
                <a:cs typeface="Malgun Gothic"/>
              </a:defRPr>
            </a:pPr>
            <a:r>
              <a:rPr sz="1200" b="1">
                <a:solidFill>
                  <a:srgbClr val="15803D"/>
                </a:solidFill>
                <a:latin typeface="Malgun Gothic"/>
                <a:ea typeface="Malgun Gothic"/>
                <a:cs typeface="Malgun Gothic"/>
              </a:rPr>
              <a:t>WRITE</a:t>
            </a:r>
          </a:p>
          <a:p xmlns:a="http://schemas.openxmlformats.org/drawingml/2006/main">
            <a:pPr algn="ctr">
              <a:defRPr sz="1200" b="1">
                <a:solidFill>
                  <a:srgbClr val="15803D"/>
                </a:solidFill>
                <a:latin typeface="Malgun Gothic"/>
                <a:ea typeface="Malgun Gothic"/>
                <a:cs typeface="Malgun Gothic"/>
              </a:defRPr>
            </a:pPr>
            <a:r>
              <a:rPr sz="1200" b="1">
                <a:solidFill>
                  <a:srgbClr val="15803D"/>
                </a:solidFill>
                <a:latin typeface="Malgun Gothic"/>
                <a:ea typeface="Malgun Gothic"/>
                <a:cs typeface="Malgun Gothic"/>
              </a:rPr>
              <a:t>Evidence</a:t>
            </a:r>
          </a:p>
        </p:txBody>
      </p:sp>
    </p:spTree>
    <p:extLst>
      <p:ext uri="{BB962C8B-B14F-4D97-AF65-F5344CB8AC3E}">
        <p14:creationId xmlns:p14="http://schemas.microsoft.com/office/powerpoint/2010/main" val="1391020241"/>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6" name="eyebrow-7">
            <a:extLst xmlns:a="http://schemas.openxmlformats.org/drawingml/2006/main">
              <a:ext uri="{FF2B5EF4-FFF2-40B4-BE49-F238E27FC236}">
                <a16:creationId xmlns:a16="http://schemas.microsoft.com/office/drawing/2014/main" id="{460D312E-C886-4015-8F58-94F99D456409}"/>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STUDYMETA · FKI 더하기 창업</a:t>
            </a:r>
          </a:p>
        </p:txBody>
      </p:sp>
      <p:sp>
        <p:nvSpPr>
          <p:cNvPr id="2" name="title-7">
            <a:extLst xmlns:a="http://schemas.openxmlformats.org/drawingml/2006/main">
              <a:ext uri="{FF2B5EF4-FFF2-40B4-BE49-F238E27FC236}">
                <a16:creationId xmlns:a16="http://schemas.microsoft.com/office/drawing/2014/main" id="{E9EB3961-D65A-48E5-A8A2-AB0970A57F36}"/>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82"/>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Evidence 후보는 먼저 검증하고, 제품 효과는 이제 검증합니다</a:t>
            </a:r>
          </a:p>
        </p:txBody>
      </p:sp>
      <p:sp>
        <p:nvSpPr>
          <p:cNvPr id="3" name="page-7">
            <a:extLst xmlns:a="http://schemas.openxmlformats.org/drawingml/2006/main">
              <a:ext uri="{FF2B5EF4-FFF2-40B4-BE49-F238E27FC236}">
                <a16:creationId xmlns:a16="http://schemas.microsoft.com/office/drawing/2014/main" id="{2B4B8737-AA04-4ED5-96DE-8D58FBDC54A1}"/>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07</a:t>
            </a:r>
          </a:p>
        </p:txBody>
      </p:sp>
      <p:sp>
        <p:nvSpPr>
          <p:cNvPr id="4" name="validation-number-panel">
            <a:extLst xmlns:a="http://schemas.openxmlformats.org/drawingml/2006/main">
              <a:ext uri="{FF2B5EF4-FFF2-40B4-BE49-F238E27FC236}">
                <a16:creationId xmlns:a16="http://schemas.microsoft.com/office/drawing/2014/main" id="{6E0EF321-931B-4670-BB6B-B1054D8E5821}"/>
              </a:ext>
            </a:extLst>
          </p:cNvPr>
          <p:cNvSpPr>
            <a:spLocks xmlns:a="http://schemas.openxmlformats.org/drawingml/2006/main" noGrp="1"/>
          </p:cNvSpPr>
          <p:nvPr/>
        </p:nvSpPr>
        <p:spPr>
          <a:xfrm xmlns:a="http://schemas.openxmlformats.org/drawingml/2006/main">
            <a:off x="685800" y="1485900"/>
            <a:ext cx="4095750" cy="3943350"/>
          </a:xfrm>
          <a:prstGeom xmlns:a="http://schemas.openxmlformats.org/drawingml/2006/main" prst="roundRect">
            <a:avLst>
              <a:gd name="adj" fmla="val 4831"/>
            </a:avLst>
          </a:prstGeom>
          <a:solidFill xmlns:a="http://schemas.openxmlformats.org/drawingml/2006/main">
            <a:srgbClr val="0C1D3A"/>
          </a:solidFill>
          <a:ln xmlns:a="http://schemas.openxmlformats.org/drawingml/2006/main" w="9525">
            <a:solidFill>
              <a:srgbClr val="0C1D3A"/>
            </a:solidFill>
            <a:prstDash val="solid"/>
          </a:ln>
        </p:spPr>
      </p:sp>
      <p:sp>
        <p:nvSpPr>
          <p:cNvPr id="5" name="validation-number">
            <a:extLst xmlns:a="http://schemas.openxmlformats.org/drawingml/2006/main">
              <a:ext uri="{FF2B5EF4-FFF2-40B4-BE49-F238E27FC236}">
                <a16:creationId xmlns:a16="http://schemas.microsoft.com/office/drawing/2014/main" id="{30F8C8B3-A64F-4960-B2DF-09D7BF70D6D6}"/>
              </a:ext>
            </a:extLst>
          </p:cNvPr>
          <p:cNvSpPr>
            <a:spLocks xmlns:a="http://schemas.openxmlformats.org/drawingml/2006/main" noGrp="1"/>
          </p:cNvSpPr>
          <p:nvPr/>
        </p:nvSpPr>
        <p:spPr>
          <a:xfrm xmlns:a="http://schemas.openxmlformats.org/drawingml/2006/main">
            <a:off x="990600" y="198120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5850" b="1">
                <a:solidFill>
                  <a:srgbClr val="FFFFFF"/>
                </a:solidFill>
                <a:latin typeface="Malgun Gothic"/>
                <a:ea typeface="Malgun Gothic"/>
                <a:cs typeface="Malgun Gothic"/>
              </a:defRPr>
            </a:pPr>
            <a:r>
              <a:rPr sz="5850" b="1">
                <a:solidFill>
                  <a:srgbClr val="FFFFFF"/>
                </a:solidFill>
                <a:latin typeface="Malgun Gothic"/>
                <a:ea typeface="Malgun Gothic"/>
                <a:cs typeface="Malgun Gothic"/>
              </a:rPr>
              <a:t>1.17M</a:t>
            </a:r>
          </a:p>
        </p:txBody>
      </p:sp>
      <p:sp>
        <p:nvSpPr>
          <p:cNvPr id="6" name="validation-label">
            <a:extLst xmlns:a="http://schemas.openxmlformats.org/drawingml/2006/main">
              <a:ext uri="{FF2B5EF4-FFF2-40B4-BE49-F238E27FC236}">
                <a16:creationId xmlns:a16="http://schemas.microsoft.com/office/drawing/2014/main" id="{738D57D3-ED67-4E51-9BC2-9B83FAAD6A0F}"/>
              </a:ext>
            </a:extLst>
          </p:cNvPr>
          <p:cNvSpPr>
            <a:spLocks xmlns:a="http://schemas.openxmlformats.org/drawingml/2006/main" noGrp="1"/>
          </p:cNvSpPr>
          <p:nvPr/>
        </p:nvSpPr>
        <p:spPr>
          <a:xfrm xmlns:a="http://schemas.openxmlformats.org/drawingml/2006/main">
            <a:off x="990600" y="310515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C9D8F8"/>
                </a:solidFill>
                <a:latin typeface="Malgun Gothic"/>
                <a:ea typeface="Malgun Gothic"/>
                <a:cs typeface="Malgun Gothic"/>
              </a:defRPr>
            </a:pPr>
            <a:r>
              <a:rPr sz="1650" b="1">
                <a:solidFill>
                  <a:srgbClr val="C9D8F8"/>
                </a:solidFill>
                <a:latin typeface="Malgun Gothic"/>
                <a:ea typeface="Malgun Gothic"/>
                <a:cs typeface="Malgun Gothic"/>
              </a:rPr>
              <a:t>REAL LEARNING</a:t>
            </a:r>
          </a:p>
          <a:p xmlns:a="http://schemas.openxmlformats.org/drawingml/2006/main">
            <a:pPr algn="ctr">
              <a:defRPr sz="1650" b="1">
                <a:solidFill>
                  <a:srgbClr val="C9D8F8"/>
                </a:solidFill>
                <a:latin typeface="Malgun Gothic"/>
                <a:ea typeface="Malgun Gothic"/>
                <a:cs typeface="Malgun Gothic"/>
              </a:defRPr>
            </a:pPr>
            <a:r>
              <a:rPr sz="1650" b="1">
                <a:solidFill>
                  <a:srgbClr val="C9D8F8"/>
                </a:solidFill>
                <a:latin typeface="Malgun Gothic"/>
                <a:ea typeface="Malgun Gothic"/>
                <a:cs typeface="Malgun Gothic"/>
              </a:rPr>
              <a:t>INTERACTIONS ANALYZED</a:t>
            </a:r>
          </a:p>
        </p:txBody>
      </p:sp>
      <p:sp>
        <p:nvSpPr>
          <p:cNvPr id="7" name="validation-white-rule">
            <a:extLst xmlns:a="http://schemas.openxmlformats.org/drawingml/2006/main">
              <a:ext uri="{FF2B5EF4-FFF2-40B4-BE49-F238E27FC236}">
                <a16:creationId xmlns:a16="http://schemas.microsoft.com/office/drawing/2014/main" id="{1343FCE9-96F2-465F-9C9B-DF1BC36A63F7}"/>
              </a:ext>
            </a:extLst>
          </p:cNvPr>
          <p:cNvSpPr>
            <a:spLocks xmlns:a="http://schemas.openxmlformats.org/drawingml/2006/main" noGrp="1"/>
          </p:cNvSpPr>
          <p:nvPr/>
        </p:nvSpPr>
        <p:spPr>
          <a:xfrm xmlns:a="http://schemas.openxmlformats.org/drawingml/2006/main">
            <a:off x="1257300" y="4076700"/>
            <a:ext cx="2971800" cy="0"/>
          </a:xfrm>
          <a:prstGeom xmlns:a="http://schemas.openxmlformats.org/drawingml/2006/main" prst="line">
            <a:avLst/>
          </a:prstGeom>
          <a:noFill xmlns:a="http://schemas.openxmlformats.org/drawingml/2006/main"/>
          <a:ln xmlns:a="http://schemas.openxmlformats.org/drawingml/2006/main" w="9525">
            <a:solidFill>
              <a:srgbClr val="476084"/>
            </a:solidFill>
            <a:prstDash val="solid"/>
          </a:ln>
        </p:spPr>
      </p:sp>
      <p:sp>
        <p:nvSpPr>
          <p:cNvPr id="8" name="assist-count">
            <a:extLst xmlns:a="http://schemas.openxmlformats.org/drawingml/2006/main">
              <a:ext uri="{FF2B5EF4-FFF2-40B4-BE49-F238E27FC236}">
                <a16:creationId xmlns:a16="http://schemas.microsoft.com/office/drawing/2014/main" id="{ED39DDF1-FE07-4C04-9BA0-D195EB72C85D}"/>
              </a:ext>
            </a:extLst>
          </p:cNvPr>
          <p:cNvSpPr>
            <a:spLocks xmlns:a="http://schemas.openxmlformats.org/drawingml/2006/main" noGrp="1"/>
          </p:cNvSpPr>
          <p:nvPr/>
        </p:nvSpPr>
        <p:spPr>
          <a:xfrm xmlns:a="http://schemas.openxmlformats.org/drawingml/2006/main">
            <a:off x="1066800" y="4362450"/>
            <a:ext cx="1638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Malgun Gothic"/>
                <a:ea typeface="Malgun Gothic"/>
                <a:cs typeface="Malgun Gothic"/>
              </a:defRPr>
            </a:pPr>
            <a:r>
              <a:rPr sz="1500" b="1">
                <a:solidFill>
                  <a:srgbClr val="FFFFFF"/>
                </a:solidFill>
                <a:latin typeface="Malgun Gothic"/>
                <a:ea typeface="Malgun Gothic"/>
                <a:cs typeface="Malgun Gothic"/>
              </a:rPr>
              <a:t>ASSISTments</a:t>
            </a:r>
          </a:p>
          <a:p xmlns:a="http://schemas.openxmlformats.org/drawingml/2006/main">
            <a:pPr algn="ctr">
              <a:defRPr sz="1500" b="1">
                <a:solidFill>
                  <a:srgbClr val="FFFFFF"/>
                </a:solidFill>
                <a:latin typeface="Malgun Gothic"/>
                <a:ea typeface="Malgun Gothic"/>
                <a:cs typeface="Malgun Gothic"/>
              </a:defRPr>
            </a:pPr>
            <a:r>
              <a:rPr sz="1500" b="1">
                <a:solidFill>
                  <a:srgbClr val="FFFFFF"/>
                </a:solidFill>
                <a:latin typeface="Malgun Gothic"/>
                <a:ea typeface="Malgun Gothic"/>
                <a:cs typeface="Malgun Gothic"/>
              </a:rPr>
              <a:t>525,534</a:t>
            </a:r>
          </a:p>
        </p:txBody>
      </p:sp>
      <p:sp>
        <p:nvSpPr>
          <p:cNvPr id="9" name="junyi-count">
            <a:extLst xmlns:a="http://schemas.openxmlformats.org/drawingml/2006/main">
              <a:ext uri="{FF2B5EF4-FFF2-40B4-BE49-F238E27FC236}">
                <a16:creationId xmlns:a16="http://schemas.microsoft.com/office/drawing/2014/main" id="{4DF3CA54-C6D1-4639-AF14-E2F185874114}"/>
              </a:ext>
            </a:extLst>
          </p:cNvPr>
          <p:cNvSpPr>
            <a:spLocks xmlns:a="http://schemas.openxmlformats.org/drawingml/2006/main" noGrp="1"/>
          </p:cNvSpPr>
          <p:nvPr/>
        </p:nvSpPr>
        <p:spPr>
          <a:xfrm xmlns:a="http://schemas.openxmlformats.org/drawingml/2006/main">
            <a:off x="2762250" y="43624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Malgun Gothic"/>
                <a:ea typeface="Malgun Gothic"/>
                <a:cs typeface="Malgun Gothic"/>
              </a:defRPr>
            </a:pPr>
            <a:r>
              <a:rPr sz="1500" b="1">
                <a:solidFill>
                  <a:srgbClr val="FFFFFF"/>
                </a:solidFill>
                <a:latin typeface="Malgun Gothic"/>
                <a:ea typeface="Malgun Gothic"/>
                <a:cs typeface="Malgun Gothic"/>
              </a:rPr>
              <a:t>Junyi Academy</a:t>
            </a:r>
          </a:p>
          <a:p xmlns:a="http://schemas.openxmlformats.org/drawingml/2006/main">
            <a:pPr algn="ctr">
              <a:defRPr sz="1500" b="1">
                <a:solidFill>
                  <a:srgbClr val="FFFFFF"/>
                </a:solidFill>
                <a:latin typeface="Malgun Gothic"/>
                <a:ea typeface="Malgun Gothic"/>
                <a:cs typeface="Malgun Gothic"/>
              </a:defRPr>
            </a:pPr>
            <a:r>
              <a:rPr sz="1500" b="1">
                <a:solidFill>
                  <a:srgbClr val="FFFFFF"/>
                </a:solidFill>
                <a:latin typeface="Malgun Gothic"/>
                <a:ea typeface="Malgun Gothic"/>
                <a:cs typeface="Malgun Gothic"/>
              </a:rPr>
              <a:t>647,461</a:t>
            </a:r>
          </a:p>
        </p:txBody>
      </p:sp>
      <p:sp>
        <p:nvSpPr>
          <p:cNvPr id="10" name="matrix-title">
            <a:extLst xmlns:a="http://schemas.openxmlformats.org/drawingml/2006/main">
              <a:ext uri="{FF2B5EF4-FFF2-40B4-BE49-F238E27FC236}">
                <a16:creationId xmlns:a16="http://schemas.microsoft.com/office/drawing/2014/main" id="{DDFE99DD-A5F9-4D05-8F8D-C1698772C052}"/>
              </a:ext>
            </a:extLst>
          </p:cNvPr>
          <p:cNvSpPr>
            <a:spLocks xmlns:a="http://schemas.openxmlformats.org/drawingml/2006/main" noGrp="1"/>
          </p:cNvSpPr>
          <p:nvPr/>
        </p:nvSpPr>
        <p:spPr>
          <a:xfrm xmlns:a="http://schemas.openxmlformats.org/drawingml/2006/main">
            <a:off x="5314950" y="158115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87386"/>
                </a:solidFill>
                <a:latin typeface="Malgun Gothic"/>
                <a:ea typeface="Malgun Gothic"/>
                <a:cs typeface="Malgun Gothic"/>
              </a:defRPr>
            </a:pPr>
            <a:r>
              <a:rPr sz="1125" b="1">
                <a:solidFill>
                  <a:srgbClr val="687386"/>
                </a:solidFill>
                <a:latin typeface="Malgun Gothic"/>
                <a:ea typeface="Malgun Gothic"/>
                <a:cs typeface="Malgun Gothic"/>
              </a:rPr>
              <a:t>EVIDENCE CANDIDATE STATUS</a:t>
            </a:r>
          </a:p>
        </p:txBody>
      </p:sp>
      <p:sp>
        <p:nvSpPr>
          <p:cNvPr id="11" name="matrix-state-0">
            <a:extLst xmlns:a="http://schemas.openxmlformats.org/drawingml/2006/main">
              <a:ext uri="{FF2B5EF4-FFF2-40B4-BE49-F238E27FC236}">
                <a16:creationId xmlns:a16="http://schemas.microsoft.com/office/drawing/2014/main" id="{A8AE64A6-729F-4279-9FBF-A4512E72702B}"/>
              </a:ext>
            </a:extLst>
          </p:cNvPr>
          <p:cNvSpPr>
            <a:spLocks xmlns:a="http://schemas.openxmlformats.org/drawingml/2006/main" noGrp="1"/>
          </p:cNvSpPr>
          <p:nvPr/>
        </p:nvSpPr>
        <p:spPr>
          <a:xfrm xmlns:a="http://schemas.openxmlformats.org/drawingml/2006/main">
            <a:off x="5314950" y="2000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212F"/>
                </a:solidFill>
                <a:latin typeface="Malgun Gothic"/>
                <a:ea typeface="Malgun Gothic"/>
                <a:cs typeface="Malgun Gothic"/>
              </a:defRPr>
            </a:pPr>
            <a:r>
              <a:rPr sz="1575" b="1">
                <a:solidFill>
                  <a:srgbClr val="18212F"/>
                </a:solidFill>
                <a:latin typeface="Malgun Gothic"/>
                <a:ea typeface="Malgun Gothic"/>
                <a:cs typeface="Malgun Gothic"/>
              </a:rPr>
              <a:t>Procedural Mastery</a:t>
            </a:r>
          </a:p>
        </p:txBody>
      </p:sp>
      <p:sp>
        <p:nvSpPr>
          <p:cNvPr id="12" name="matrix-status-0-box">
            <a:extLst xmlns:a="http://schemas.openxmlformats.org/drawingml/2006/main">
              <a:ext uri="{FF2B5EF4-FFF2-40B4-BE49-F238E27FC236}">
                <a16:creationId xmlns:a16="http://schemas.microsoft.com/office/drawing/2014/main" id="{697D5CD7-7063-4792-88AD-7A5B0154D979}"/>
              </a:ext>
            </a:extLst>
          </p:cNvPr>
          <p:cNvSpPr>
            <a:spLocks xmlns:a="http://schemas.openxmlformats.org/drawingml/2006/main" noGrp="1"/>
          </p:cNvSpPr>
          <p:nvPr/>
        </p:nvSpPr>
        <p:spPr>
          <a:xfrm xmlns:a="http://schemas.openxmlformats.org/drawingml/2006/main">
            <a:off x="8858250" y="2000250"/>
            <a:ext cx="2000250" cy="323850"/>
          </a:xfrm>
          <a:prstGeom xmlns:a="http://schemas.openxmlformats.org/drawingml/2006/main" prst="roundRect">
            <a:avLst>
              <a:gd name="adj" fmla="val 50000"/>
            </a:avLst>
          </a:prstGeom>
          <a:solidFill xmlns:a="http://schemas.openxmlformats.org/drawingml/2006/main">
            <a:srgbClr val="F0FDF4"/>
          </a:solidFill>
          <a:ln xmlns:a="http://schemas.openxmlformats.org/drawingml/2006/main" w="9525">
            <a:solidFill>
              <a:srgbClr val="15803D"/>
            </a:solidFill>
            <a:prstDash val="solid"/>
          </a:ln>
        </p:spPr>
      </p:sp>
      <p:sp>
        <p:nvSpPr>
          <p:cNvPr id="13" name="matrix-status-0">
            <a:extLst xmlns:a="http://schemas.openxmlformats.org/drawingml/2006/main">
              <a:ext uri="{FF2B5EF4-FFF2-40B4-BE49-F238E27FC236}">
                <a16:creationId xmlns:a16="http://schemas.microsoft.com/office/drawing/2014/main" id="{B7520503-F230-4AB1-A117-5090978FE26E}"/>
              </a:ext>
            </a:extLst>
          </p:cNvPr>
          <p:cNvSpPr>
            <a:spLocks xmlns:a="http://schemas.openxmlformats.org/drawingml/2006/main" noGrp="1"/>
          </p:cNvSpPr>
          <p:nvPr/>
        </p:nvSpPr>
        <p:spPr>
          <a:xfrm xmlns:a="http://schemas.openxmlformats.org/drawingml/2006/main">
            <a:off x="8858250" y="20097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5803D"/>
                </a:solidFill>
                <a:latin typeface="Malgun Gothic"/>
                <a:ea typeface="Malgun Gothic"/>
                <a:cs typeface="Malgun Gothic"/>
              </a:defRPr>
            </a:pPr>
            <a:r>
              <a:rPr sz="1200" b="1">
                <a:solidFill>
                  <a:srgbClr val="15803D"/>
                </a:solidFill>
                <a:latin typeface="Malgun Gothic"/>
                <a:ea typeface="Malgun Gothic"/>
                <a:cs typeface="Malgun Gothic"/>
              </a:rPr>
              <a:t>REPLICATED</a:t>
            </a:r>
          </a:p>
        </p:txBody>
      </p:sp>
      <p:sp>
        <p:nvSpPr>
          <p:cNvPr id="14" name="matrix-line-0">
            <a:extLst xmlns:a="http://schemas.openxmlformats.org/drawingml/2006/main">
              <a:ext uri="{FF2B5EF4-FFF2-40B4-BE49-F238E27FC236}">
                <a16:creationId xmlns:a16="http://schemas.microsoft.com/office/drawing/2014/main" id="{896C9CD9-80A6-4B1F-85C7-66AA7B7C8D5C}"/>
              </a:ext>
            </a:extLst>
          </p:cNvPr>
          <p:cNvSpPr>
            <a:spLocks xmlns:a="http://schemas.openxmlformats.org/drawingml/2006/main" noGrp="1"/>
          </p:cNvSpPr>
          <p:nvPr/>
        </p:nvSpPr>
        <p:spPr>
          <a:xfrm xmlns:a="http://schemas.openxmlformats.org/drawingml/2006/main">
            <a:off x="5314950" y="2447925"/>
            <a:ext cx="5543550" cy="0"/>
          </a:xfrm>
          <a:prstGeom xmlns:a="http://schemas.openxmlformats.org/drawingml/2006/main" prst="line">
            <a:avLst/>
          </a:prstGeom>
          <a:noFill xmlns:a="http://schemas.openxmlformats.org/drawingml/2006/main"/>
          <a:ln xmlns:a="http://schemas.openxmlformats.org/drawingml/2006/main" w="9525">
            <a:solidFill>
              <a:srgbClr val="E4E8EF"/>
            </a:solidFill>
            <a:prstDash val="solid"/>
          </a:ln>
        </p:spPr>
      </p:sp>
      <p:sp>
        <p:nvSpPr>
          <p:cNvPr id="15" name="matrix-state-1">
            <a:extLst xmlns:a="http://schemas.openxmlformats.org/drawingml/2006/main">
              <a:ext uri="{FF2B5EF4-FFF2-40B4-BE49-F238E27FC236}">
                <a16:creationId xmlns:a16="http://schemas.microsoft.com/office/drawing/2014/main" id="{5F119DB9-D9F3-45B2-AA13-E8F26FCD3635}"/>
              </a:ext>
            </a:extLst>
          </p:cNvPr>
          <p:cNvSpPr>
            <a:spLocks xmlns:a="http://schemas.openxmlformats.org/drawingml/2006/main" noGrp="1"/>
          </p:cNvSpPr>
          <p:nvPr/>
        </p:nvSpPr>
        <p:spPr>
          <a:xfrm xmlns:a="http://schemas.openxmlformats.org/drawingml/2006/main">
            <a:off x="5314950" y="25527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212F"/>
                </a:solidFill>
                <a:latin typeface="Malgun Gothic"/>
                <a:ea typeface="Malgun Gothic"/>
                <a:cs typeface="Malgun Gothic"/>
              </a:defRPr>
            </a:pPr>
            <a:r>
              <a:rPr sz="1575" b="1">
                <a:solidFill>
                  <a:srgbClr val="18212F"/>
                </a:solidFill>
                <a:latin typeface="Malgun Gothic"/>
                <a:ea typeface="Malgun Gothic"/>
                <a:cs typeface="Malgun Gothic"/>
              </a:rPr>
              <a:t>Help Need</a:t>
            </a:r>
          </a:p>
        </p:txBody>
      </p:sp>
      <p:sp>
        <p:nvSpPr>
          <p:cNvPr id="16" name="matrix-status-1-box">
            <a:extLst xmlns:a="http://schemas.openxmlformats.org/drawingml/2006/main">
              <a:ext uri="{FF2B5EF4-FFF2-40B4-BE49-F238E27FC236}">
                <a16:creationId xmlns:a16="http://schemas.microsoft.com/office/drawing/2014/main" id="{85C2EFA6-5F8B-458A-A9E7-07B57ABFE438}"/>
              </a:ext>
            </a:extLst>
          </p:cNvPr>
          <p:cNvSpPr>
            <a:spLocks xmlns:a="http://schemas.openxmlformats.org/drawingml/2006/main" noGrp="1"/>
          </p:cNvSpPr>
          <p:nvPr/>
        </p:nvSpPr>
        <p:spPr>
          <a:xfrm xmlns:a="http://schemas.openxmlformats.org/drawingml/2006/main">
            <a:off x="8858250" y="2552700"/>
            <a:ext cx="2000250" cy="323850"/>
          </a:xfrm>
          <a:prstGeom xmlns:a="http://schemas.openxmlformats.org/drawingml/2006/main" prst="roundRect">
            <a:avLst>
              <a:gd name="adj" fmla="val 50000"/>
            </a:avLst>
          </a:prstGeom>
          <a:solidFill xmlns:a="http://schemas.openxmlformats.org/drawingml/2006/main">
            <a:srgbClr val="F0FDF4"/>
          </a:solidFill>
          <a:ln xmlns:a="http://schemas.openxmlformats.org/drawingml/2006/main" w="9525">
            <a:solidFill>
              <a:srgbClr val="15803D"/>
            </a:solidFill>
            <a:prstDash val="solid"/>
          </a:ln>
        </p:spPr>
      </p:sp>
      <p:sp>
        <p:nvSpPr>
          <p:cNvPr id="17" name="matrix-status-1">
            <a:extLst xmlns:a="http://schemas.openxmlformats.org/drawingml/2006/main">
              <a:ext uri="{FF2B5EF4-FFF2-40B4-BE49-F238E27FC236}">
                <a16:creationId xmlns:a16="http://schemas.microsoft.com/office/drawing/2014/main" id="{791D170B-8707-472F-8453-6CC76A5756FD}"/>
              </a:ext>
            </a:extLst>
          </p:cNvPr>
          <p:cNvSpPr>
            <a:spLocks xmlns:a="http://schemas.openxmlformats.org/drawingml/2006/main" noGrp="1"/>
          </p:cNvSpPr>
          <p:nvPr/>
        </p:nvSpPr>
        <p:spPr>
          <a:xfrm xmlns:a="http://schemas.openxmlformats.org/drawingml/2006/main">
            <a:off x="8858250" y="25622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5803D"/>
                </a:solidFill>
                <a:latin typeface="Malgun Gothic"/>
                <a:ea typeface="Malgun Gothic"/>
                <a:cs typeface="Malgun Gothic"/>
              </a:defRPr>
            </a:pPr>
            <a:r>
              <a:rPr sz="1200" b="1">
                <a:solidFill>
                  <a:srgbClr val="15803D"/>
                </a:solidFill>
                <a:latin typeface="Malgun Gothic"/>
                <a:ea typeface="Malgun Gothic"/>
                <a:cs typeface="Malgun Gothic"/>
              </a:rPr>
              <a:t>REPLICATED</a:t>
            </a:r>
          </a:p>
        </p:txBody>
      </p:sp>
      <p:sp>
        <p:nvSpPr>
          <p:cNvPr id="18" name="matrix-line-1">
            <a:extLst xmlns:a="http://schemas.openxmlformats.org/drawingml/2006/main">
              <a:ext uri="{FF2B5EF4-FFF2-40B4-BE49-F238E27FC236}">
                <a16:creationId xmlns:a16="http://schemas.microsoft.com/office/drawing/2014/main" id="{BEEFC926-DB30-4A65-8DC0-681519EA8620}"/>
              </a:ext>
            </a:extLst>
          </p:cNvPr>
          <p:cNvSpPr>
            <a:spLocks xmlns:a="http://schemas.openxmlformats.org/drawingml/2006/main" noGrp="1"/>
          </p:cNvSpPr>
          <p:nvPr/>
        </p:nvSpPr>
        <p:spPr>
          <a:xfrm xmlns:a="http://schemas.openxmlformats.org/drawingml/2006/main">
            <a:off x="5314950" y="3000375"/>
            <a:ext cx="5543550" cy="0"/>
          </a:xfrm>
          <a:prstGeom xmlns:a="http://schemas.openxmlformats.org/drawingml/2006/main" prst="line">
            <a:avLst/>
          </a:prstGeom>
          <a:noFill xmlns:a="http://schemas.openxmlformats.org/drawingml/2006/main"/>
          <a:ln xmlns:a="http://schemas.openxmlformats.org/drawingml/2006/main" w="9525">
            <a:solidFill>
              <a:srgbClr val="E4E8EF"/>
            </a:solidFill>
            <a:prstDash val="solid"/>
          </a:ln>
        </p:spPr>
      </p:sp>
      <p:sp>
        <p:nvSpPr>
          <p:cNvPr id="19" name="matrix-state-2">
            <a:extLst xmlns:a="http://schemas.openxmlformats.org/drawingml/2006/main">
              <a:ext uri="{FF2B5EF4-FFF2-40B4-BE49-F238E27FC236}">
                <a16:creationId xmlns:a16="http://schemas.microsoft.com/office/drawing/2014/main" id="{AB4B7FCD-A235-4552-A9A2-8386E325B980}"/>
              </a:ext>
            </a:extLst>
          </p:cNvPr>
          <p:cNvSpPr>
            <a:spLocks xmlns:a="http://schemas.openxmlformats.org/drawingml/2006/main" noGrp="1"/>
          </p:cNvSpPr>
          <p:nvPr/>
        </p:nvSpPr>
        <p:spPr>
          <a:xfrm xmlns:a="http://schemas.openxmlformats.org/drawingml/2006/main">
            <a:off x="5314950" y="31051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212F"/>
                </a:solidFill>
                <a:latin typeface="Malgun Gothic"/>
                <a:ea typeface="Malgun Gothic"/>
                <a:cs typeface="Malgun Gothic"/>
              </a:defRPr>
            </a:pPr>
            <a:r>
              <a:rPr sz="1575" b="0">
                <a:solidFill>
                  <a:srgbClr val="18212F"/>
                </a:solidFill>
                <a:latin typeface="Malgun Gothic"/>
                <a:ea typeface="Malgun Gothic"/>
                <a:cs typeface="Malgun Gothic"/>
              </a:rPr>
              <a:t>Retrievability</a:t>
            </a:r>
          </a:p>
        </p:txBody>
      </p:sp>
      <p:sp>
        <p:nvSpPr>
          <p:cNvPr id="20" name="matrix-status-2-box">
            <a:extLst xmlns:a="http://schemas.openxmlformats.org/drawingml/2006/main">
              <a:ext uri="{FF2B5EF4-FFF2-40B4-BE49-F238E27FC236}">
                <a16:creationId xmlns:a16="http://schemas.microsoft.com/office/drawing/2014/main" id="{59BEE222-B26A-4BBB-82E8-24713E24C1ED}"/>
              </a:ext>
            </a:extLst>
          </p:cNvPr>
          <p:cNvSpPr>
            <a:spLocks xmlns:a="http://schemas.openxmlformats.org/drawingml/2006/main" noGrp="1"/>
          </p:cNvSpPr>
          <p:nvPr/>
        </p:nvSpPr>
        <p:spPr>
          <a:xfrm xmlns:a="http://schemas.openxmlformats.org/drawingml/2006/main">
            <a:off x="8858250" y="3105150"/>
            <a:ext cx="2000250" cy="323850"/>
          </a:xfrm>
          <a:prstGeom xmlns:a="http://schemas.openxmlformats.org/drawingml/2006/main" prst="roundRect">
            <a:avLst>
              <a:gd name="adj" fmla="val 50000"/>
            </a:avLst>
          </a:prstGeom>
          <a:solidFill xmlns:a="http://schemas.openxmlformats.org/drawingml/2006/main">
            <a:srgbClr val="FFFBEB"/>
          </a:solidFill>
          <a:ln xmlns:a="http://schemas.openxmlformats.org/drawingml/2006/main" w="9525">
            <a:solidFill>
              <a:srgbClr val="A16207"/>
            </a:solidFill>
            <a:prstDash val="solid"/>
          </a:ln>
        </p:spPr>
      </p:sp>
      <p:sp>
        <p:nvSpPr>
          <p:cNvPr id="21" name="matrix-status-2">
            <a:extLst xmlns:a="http://schemas.openxmlformats.org/drawingml/2006/main">
              <a:ext uri="{FF2B5EF4-FFF2-40B4-BE49-F238E27FC236}">
                <a16:creationId xmlns:a16="http://schemas.microsoft.com/office/drawing/2014/main" id="{7E586C29-BD61-4D54-88A8-1AF308BDC16F}"/>
              </a:ext>
            </a:extLst>
          </p:cNvPr>
          <p:cNvSpPr>
            <a:spLocks xmlns:a="http://schemas.openxmlformats.org/drawingml/2006/main" noGrp="1"/>
          </p:cNvSpPr>
          <p:nvPr/>
        </p:nvSpPr>
        <p:spPr>
          <a:xfrm xmlns:a="http://schemas.openxmlformats.org/drawingml/2006/main">
            <a:off x="8858250" y="31146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A16207"/>
                </a:solidFill>
                <a:latin typeface="Malgun Gothic"/>
                <a:ea typeface="Malgun Gothic"/>
                <a:cs typeface="Malgun Gothic"/>
              </a:defRPr>
            </a:pPr>
            <a:r>
              <a:rPr sz="1200" b="1">
                <a:solidFill>
                  <a:srgbClr val="A16207"/>
                </a:solidFill>
                <a:latin typeface="Malgun Gothic"/>
                <a:ea typeface="Malgun Gothic"/>
                <a:cs typeface="Malgun Gothic"/>
              </a:rPr>
              <a:t>PARTIAL</a:t>
            </a:r>
          </a:p>
        </p:txBody>
      </p:sp>
      <p:sp>
        <p:nvSpPr>
          <p:cNvPr id="22" name="matrix-line-2">
            <a:extLst xmlns:a="http://schemas.openxmlformats.org/drawingml/2006/main">
              <a:ext uri="{FF2B5EF4-FFF2-40B4-BE49-F238E27FC236}">
                <a16:creationId xmlns:a16="http://schemas.microsoft.com/office/drawing/2014/main" id="{C8075F3E-F9BB-4955-B5B7-32CE543EBF85}"/>
              </a:ext>
            </a:extLst>
          </p:cNvPr>
          <p:cNvSpPr>
            <a:spLocks xmlns:a="http://schemas.openxmlformats.org/drawingml/2006/main" noGrp="1"/>
          </p:cNvSpPr>
          <p:nvPr/>
        </p:nvSpPr>
        <p:spPr>
          <a:xfrm xmlns:a="http://schemas.openxmlformats.org/drawingml/2006/main">
            <a:off x="5314950" y="3552825"/>
            <a:ext cx="5543550" cy="0"/>
          </a:xfrm>
          <a:prstGeom xmlns:a="http://schemas.openxmlformats.org/drawingml/2006/main" prst="line">
            <a:avLst/>
          </a:prstGeom>
          <a:noFill xmlns:a="http://schemas.openxmlformats.org/drawingml/2006/main"/>
          <a:ln xmlns:a="http://schemas.openxmlformats.org/drawingml/2006/main" w="9525">
            <a:solidFill>
              <a:srgbClr val="E4E8EF"/>
            </a:solidFill>
            <a:prstDash val="solid"/>
          </a:ln>
        </p:spPr>
      </p:sp>
      <p:sp>
        <p:nvSpPr>
          <p:cNvPr id="23" name="matrix-state-3">
            <a:extLst xmlns:a="http://schemas.openxmlformats.org/drawingml/2006/main">
              <a:ext uri="{FF2B5EF4-FFF2-40B4-BE49-F238E27FC236}">
                <a16:creationId xmlns:a16="http://schemas.microsoft.com/office/drawing/2014/main" id="{3EE642AC-6C97-42A6-BFA0-D11110CBC281}"/>
              </a:ext>
            </a:extLst>
          </p:cNvPr>
          <p:cNvSpPr>
            <a:spLocks xmlns:a="http://schemas.openxmlformats.org/drawingml/2006/main" noGrp="1"/>
          </p:cNvSpPr>
          <p:nvPr/>
        </p:nvSpPr>
        <p:spPr>
          <a:xfrm xmlns:a="http://schemas.openxmlformats.org/drawingml/2006/main">
            <a:off x="5314950" y="36576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212F"/>
                </a:solidFill>
                <a:latin typeface="Malgun Gothic"/>
                <a:ea typeface="Malgun Gothic"/>
                <a:cs typeface="Malgun Gothic"/>
              </a:defRPr>
            </a:pPr>
            <a:r>
              <a:rPr sz="1575" b="0">
                <a:solidFill>
                  <a:srgbClr val="18212F"/>
                </a:solidFill>
                <a:latin typeface="Malgun Gothic"/>
                <a:ea typeface="Malgun Gothic"/>
                <a:cs typeface="Malgun Gothic"/>
              </a:rPr>
              <a:t>Transferability</a:t>
            </a:r>
          </a:p>
        </p:txBody>
      </p:sp>
      <p:sp>
        <p:nvSpPr>
          <p:cNvPr id="24" name="matrix-status-3-box">
            <a:extLst xmlns:a="http://schemas.openxmlformats.org/drawingml/2006/main">
              <a:ext uri="{FF2B5EF4-FFF2-40B4-BE49-F238E27FC236}">
                <a16:creationId xmlns:a16="http://schemas.microsoft.com/office/drawing/2014/main" id="{41F23085-3596-4DA5-85F0-029E2407C0B2}"/>
              </a:ext>
            </a:extLst>
          </p:cNvPr>
          <p:cNvSpPr>
            <a:spLocks xmlns:a="http://schemas.openxmlformats.org/drawingml/2006/main" noGrp="1"/>
          </p:cNvSpPr>
          <p:nvPr/>
        </p:nvSpPr>
        <p:spPr>
          <a:xfrm xmlns:a="http://schemas.openxmlformats.org/drawingml/2006/main">
            <a:off x="8858250" y="3657600"/>
            <a:ext cx="2000250" cy="323850"/>
          </a:xfrm>
          <a:prstGeom xmlns:a="http://schemas.openxmlformats.org/drawingml/2006/main" prst="roundRect">
            <a:avLst>
              <a:gd name="adj" fmla="val 50000"/>
            </a:avLst>
          </a:prstGeom>
          <a:solidFill xmlns:a="http://schemas.openxmlformats.org/drawingml/2006/main">
            <a:srgbClr val="FFFBEB"/>
          </a:solidFill>
          <a:ln xmlns:a="http://schemas.openxmlformats.org/drawingml/2006/main" w="9525">
            <a:solidFill>
              <a:srgbClr val="A16207"/>
            </a:solidFill>
            <a:prstDash val="solid"/>
          </a:ln>
        </p:spPr>
      </p:sp>
      <p:sp>
        <p:nvSpPr>
          <p:cNvPr id="25" name="matrix-status-3">
            <a:extLst xmlns:a="http://schemas.openxmlformats.org/drawingml/2006/main">
              <a:ext uri="{FF2B5EF4-FFF2-40B4-BE49-F238E27FC236}">
                <a16:creationId xmlns:a16="http://schemas.microsoft.com/office/drawing/2014/main" id="{34268A99-9A67-454C-B90B-395C471C584C}"/>
              </a:ext>
            </a:extLst>
          </p:cNvPr>
          <p:cNvSpPr>
            <a:spLocks xmlns:a="http://schemas.openxmlformats.org/drawingml/2006/main" noGrp="1"/>
          </p:cNvSpPr>
          <p:nvPr/>
        </p:nvSpPr>
        <p:spPr>
          <a:xfrm xmlns:a="http://schemas.openxmlformats.org/drawingml/2006/main">
            <a:off x="8858250" y="36671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A16207"/>
                </a:solidFill>
                <a:latin typeface="Malgun Gothic"/>
                <a:ea typeface="Malgun Gothic"/>
                <a:cs typeface="Malgun Gothic"/>
              </a:defRPr>
            </a:pPr>
            <a:r>
              <a:rPr sz="1200" b="1">
                <a:solidFill>
                  <a:srgbClr val="A16207"/>
                </a:solidFill>
                <a:latin typeface="Malgun Gothic"/>
                <a:ea typeface="Malgun Gothic"/>
                <a:cs typeface="Malgun Gothic"/>
              </a:rPr>
              <a:t>PARTIAL</a:t>
            </a:r>
          </a:p>
        </p:txBody>
      </p:sp>
      <p:sp>
        <p:nvSpPr>
          <p:cNvPr id="26" name="matrix-line-3">
            <a:extLst xmlns:a="http://schemas.openxmlformats.org/drawingml/2006/main">
              <a:ext uri="{FF2B5EF4-FFF2-40B4-BE49-F238E27FC236}">
                <a16:creationId xmlns:a16="http://schemas.microsoft.com/office/drawing/2014/main" id="{5CA1BF02-4B3D-4345-9E7C-D72981E02D56}"/>
              </a:ext>
            </a:extLst>
          </p:cNvPr>
          <p:cNvSpPr>
            <a:spLocks xmlns:a="http://schemas.openxmlformats.org/drawingml/2006/main" noGrp="1"/>
          </p:cNvSpPr>
          <p:nvPr/>
        </p:nvSpPr>
        <p:spPr>
          <a:xfrm xmlns:a="http://schemas.openxmlformats.org/drawingml/2006/main">
            <a:off x="5314950" y="4105275"/>
            <a:ext cx="5543550" cy="0"/>
          </a:xfrm>
          <a:prstGeom xmlns:a="http://schemas.openxmlformats.org/drawingml/2006/main" prst="line">
            <a:avLst/>
          </a:prstGeom>
          <a:noFill xmlns:a="http://schemas.openxmlformats.org/drawingml/2006/main"/>
          <a:ln xmlns:a="http://schemas.openxmlformats.org/drawingml/2006/main" w="9525">
            <a:solidFill>
              <a:srgbClr val="E4E8EF"/>
            </a:solidFill>
            <a:prstDash val="solid"/>
          </a:ln>
        </p:spPr>
      </p:sp>
      <p:sp>
        <p:nvSpPr>
          <p:cNvPr id="27" name="matrix-state-4">
            <a:extLst xmlns:a="http://schemas.openxmlformats.org/drawingml/2006/main">
              <a:ext uri="{FF2B5EF4-FFF2-40B4-BE49-F238E27FC236}">
                <a16:creationId xmlns:a16="http://schemas.microsoft.com/office/drawing/2014/main" id="{D4B1A8FF-DFEA-460B-A657-97EDF6AFD4C6}"/>
              </a:ext>
            </a:extLst>
          </p:cNvPr>
          <p:cNvSpPr>
            <a:spLocks xmlns:a="http://schemas.openxmlformats.org/drawingml/2006/main" noGrp="1"/>
          </p:cNvSpPr>
          <p:nvPr/>
        </p:nvSpPr>
        <p:spPr>
          <a:xfrm xmlns:a="http://schemas.openxmlformats.org/drawingml/2006/main">
            <a:off x="5314950" y="4210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212F"/>
                </a:solidFill>
                <a:latin typeface="Malgun Gothic"/>
                <a:ea typeface="Malgun Gothic"/>
                <a:cs typeface="Malgun Gothic"/>
              </a:defRPr>
            </a:pPr>
            <a:r>
              <a:rPr sz="1575" b="0">
                <a:solidFill>
                  <a:srgbClr val="18212F"/>
                </a:solidFill>
                <a:latin typeface="Malgun Gothic"/>
                <a:ea typeface="Malgun Gothic"/>
                <a:cs typeface="Malgun Gothic"/>
              </a:rPr>
              <a:t>Calibration</a:t>
            </a:r>
          </a:p>
        </p:txBody>
      </p:sp>
      <p:sp>
        <p:nvSpPr>
          <p:cNvPr id="28" name="matrix-status-4-box">
            <a:extLst xmlns:a="http://schemas.openxmlformats.org/drawingml/2006/main">
              <a:ext uri="{FF2B5EF4-FFF2-40B4-BE49-F238E27FC236}">
                <a16:creationId xmlns:a16="http://schemas.microsoft.com/office/drawing/2014/main" id="{61C77700-C7DF-4A7B-B8E3-4719CBA69616}"/>
              </a:ext>
            </a:extLst>
          </p:cNvPr>
          <p:cNvSpPr>
            <a:spLocks xmlns:a="http://schemas.openxmlformats.org/drawingml/2006/main" noGrp="1"/>
          </p:cNvSpPr>
          <p:nvPr/>
        </p:nvSpPr>
        <p:spPr>
          <a:xfrm xmlns:a="http://schemas.openxmlformats.org/drawingml/2006/main">
            <a:off x="8858250" y="4210050"/>
            <a:ext cx="2000250" cy="323850"/>
          </a:xfrm>
          <a:prstGeom xmlns:a="http://schemas.openxmlformats.org/drawingml/2006/main" prst="roundRect">
            <a:avLst>
              <a:gd name="adj" fmla="val 50000"/>
            </a:avLst>
          </a:prstGeom>
          <a:solidFill xmlns:a="http://schemas.openxmlformats.org/drawingml/2006/main">
            <a:srgbClr val="F9FAFB"/>
          </a:solidFill>
          <a:ln xmlns:a="http://schemas.openxmlformats.org/drawingml/2006/main" w="9525">
            <a:solidFill>
              <a:srgbClr val="D5DBE5"/>
            </a:solidFill>
            <a:prstDash val="solid"/>
          </a:ln>
        </p:spPr>
      </p:sp>
      <p:sp>
        <p:nvSpPr>
          <p:cNvPr id="29" name="matrix-status-4">
            <a:extLst xmlns:a="http://schemas.openxmlformats.org/drawingml/2006/main">
              <a:ext uri="{FF2B5EF4-FFF2-40B4-BE49-F238E27FC236}">
                <a16:creationId xmlns:a16="http://schemas.microsoft.com/office/drawing/2014/main" id="{2E645372-81CA-4214-8CF2-060C18EC2B9D}"/>
              </a:ext>
            </a:extLst>
          </p:cNvPr>
          <p:cNvSpPr>
            <a:spLocks xmlns:a="http://schemas.openxmlformats.org/drawingml/2006/main" noGrp="1"/>
          </p:cNvSpPr>
          <p:nvPr/>
        </p:nvSpPr>
        <p:spPr>
          <a:xfrm xmlns:a="http://schemas.openxmlformats.org/drawingml/2006/main">
            <a:off x="8858250" y="4219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687386"/>
                </a:solidFill>
                <a:latin typeface="Malgun Gothic"/>
                <a:ea typeface="Malgun Gothic"/>
                <a:cs typeface="Malgun Gothic"/>
              </a:defRPr>
            </a:pPr>
            <a:r>
              <a:rPr sz="1200" b="1">
                <a:solidFill>
                  <a:srgbClr val="687386"/>
                </a:solidFill>
                <a:latin typeface="Malgun Gothic"/>
                <a:ea typeface="Malgun Gothic"/>
                <a:cs typeface="Malgun Gothic"/>
              </a:rPr>
              <a:t>NOT VALIDATED</a:t>
            </a:r>
          </a:p>
        </p:txBody>
      </p:sp>
      <p:sp>
        <p:nvSpPr>
          <p:cNvPr id="30" name="matrix-line-4">
            <a:extLst xmlns:a="http://schemas.openxmlformats.org/drawingml/2006/main">
              <a:ext uri="{FF2B5EF4-FFF2-40B4-BE49-F238E27FC236}">
                <a16:creationId xmlns:a16="http://schemas.microsoft.com/office/drawing/2014/main" id="{9704ECAA-A922-495C-B22D-B878448C50D0}"/>
              </a:ext>
            </a:extLst>
          </p:cNvPr>
          <p:cNvSpPr>
            <a:spLocks xmlns:a="http://schemas.openxmlformats.org/drawingml/2006/main" noGrp="1"/>
          </p:cNvSpPr>
          <p:nvPr/>
        </p:nvSpPr>
        <p:spPr>
          <a:xfrm xmlns:a="http://schemas.openxmlformats.org/drawingml/2006/main">
            <a:off x="5314950" y="4657725"/>
            <a:ext cx="5543550" cy="0"/>
          </a:xfrm>
          <a:prstGeom xmlns:a="http://schemas.openxmlformats.org/drawingml/2006/main" prst="line">
            <a:avLst/>
          </a:prstGeom>
          <a:noFill xmlns:a="http://schemas.openxmlformats.org/drawingml/2006/main"/>
          <a:ln xmlns:a="http://schemas.openxmlformats.org/drawingml/2006/main" w="9525">
            <a:solidFill>
              <a:srgbClr val="E4E8EF"/>
            </a:solidFill>
            <a:prstDash val="solid"/>
          </a:ln>
        </p:spPr>
      </p:sp>
      <p:sp>
        <p:nvSpPr>
          <p:cNvPr id="31" name="matrix-state-5">
            <a:extLst xmlns:a="http://schemas.openxmlformats.org/drawingml/2006/main">
              <a:ext uri="{FF2B5EF4-FFF2-40B4-BE49-F238E27FC236}">
                <a16:creationId xmlns:a16="http://schemas.microsoft.com/office/drawing/2014/main" id="{971A2976-9185-48B3-B86E-AF7A09EC311D}"/>
              </a:ext>
            </a:extLst>
          </p:cNvPr>
          <p:cNvSpPr>
            <a:spLocks xmlns:a="http://schemas.openxmlformats.org/drawingml/2006/main" noGrp="1"/>
          </p:cNvSpPr>
          <p:nvPr/>
        </p:nvSpPr>
        <p:spPr>
          <a:xfrm xmlns:a="http://schemas.openxmlformats.org/drawingml/2006/main">
            <a:off x="5314950" y="47625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212F"/>
                </a:solidFill>
                <a:latin typeface="Malgun Gothic"/>
                <a:ea typeface="Malgun Gothic"/>
                <a:cs typeface="Malgun Gothic"/>
              </a:defRPr>
            </a:pPr>
            <a:r>
              <a:rPr sz="1575" b="0">
                <a:solidFill>
                  <a:srgbClr val="18212F"/>
                </a:solidFill>
                <a:latin typeface="Malgun Gothic"/>
                <a:ea typeface="Malgun Gothic"/>
                <a:cs typeface="Malgun Gothic"/>
              </a:rPr>
              <a:t>Misconception</a:t>
            </a:r>
          </a:p>
        </p:txBody>
      </p:sp>
      <p:sp>
        <p:nvSpPr>
          <p:cNvPr id="32" name="matrix-status-5-box">
            <a:extLst xmlns:a="http://schemas.openxmlformats.org/drawingml/2006/main">
              <a:ext uri="{FF2B5EF4-FFF2-40B4-BE49-F238E27FC236}">
                <a16:creationId xmlns:a16="http://schemas.microsoft.com/office/drawing/2014/main" id="{23EA1924-18B1-451A-B5D4-E7C5ED7AD4E5}"/>
              </a:ext>
            </a:extLst>
          </p:cNvPr>
          <p:cNvSpPr>
            <a:spLocks xmlns:a="http://schemas.openxmlformats.org/drawingml/2006/main" noGrp="1"/>
          </p:cNvSpPr>
          <p:nvPr/>
        </p:nvSpPr>
        <p:spPr>
          <a:xfrm xmlns:a="http://schemas.openxmlformats.org/drawingml/2006/main">
            <a:off x="8858250" y="4762500"/>
            <a:ext cx="2000250" cy="323850"/>
          </a:xfrm>
          <a:prstGeom xmlns:a="http://schemas.openxmlformats.org/drawingml/2006/main" prst="roundRect">
            <a:avLst>
              <a:gd name="adj" fmla="val 50000"/>
            </a:avLst>
          </a:prstGeom>
          <a:solidFill xmlns:a="http://schemas.openxmlformats.org/drawingml/2006/main">
            <a:srgbClr val="F9FAFB"/>
          </a:solidFill>
          <a:ln xmlns:a="http://schemas.openxmlformats.org/drawingml/2006/main" w="9525">
            <a:solidFill>
              <a:srgbClr val="D5DBE5"/>
            </a:solidFill>
            <a:prstDash val="solid"/>
          </a:ln>
        </p:spPr>
      </p:sp>
      <p:sp>
        <p:nvSpPr>
          <p:cNvPr id="33" name="matrix-status-5">
            <a:extLst xmlns:a="http://schemas.openxmlformats.org/drawingml/2006/main">
              <a:ext uri="{FF2B5EF4-FFF2-40B4-BE49-F238E27FC236}">
                <a16:creationId xmlns:a16="http://schemas.microsoft.com/office/drawing/2014/main" id="{410C84D4-A5FE-4FD9-A656-40E127828E50}"/>
              </a:ext>
            </a:extLst>
          </p:cNvPr>
          <p:cNvSpPr>
            <a:spLocks xmlns:a="http://schemas.openxmlformats.org/drawingml/2006/main" noGrp="1"/>
          </p:cNvSpPr>
          <p:nvPr/>
        </p:nvSpPr>
        <p:spPr>
          <a:xfrm xmlns:a="http://schemas.openxmlformats.org/drawingml/2006/main">
            <a:off x="8858250" y="47720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687386"/>
                </a:solidFill>
                <a:latin typeface="Malgun Gothic"/>
                <a:ea typeface="Malgun Gothic"/>
                <a:cs typeface="Malgun Gothic"/>
              </a:defRPr>
            </a:pPr>
            <a:r>
              <a:rPr sz="1200" b="1">
                <a:solidFill>
                  <a:srgbClr val="687386"/>
                </a:solidFill>
                <a:latin typeface="Malgun Gothic"/>
                <a:ea typeface="Malgun Gothic"/>
                <a:cs typeface="Malgun Gothic"/>
              </a:rPr>
              <a:t>DEFERRED</a:t>
            </a:r>
          </a:p>
        </p:txBody>
      </p:sp>
      <p:sp>
        <p:nvSpPr>
          <p:cNvPr id="34" name="validation-integrity">
            <a:extLst xmlns:a="http://schemas.openxmlformats.org/drawingml/2006/main">
              <a:ext uri="{FF2B5EF4-FFF2-40B4-BE49-F238E27FC236}">
                <a16:creationId xmlns:a16="http://schemas.microsoft.com/office/drawing/2014/main" id="{26CF1164-571D-40BB-8F9C-F5210B17C2EE}"/>
              </a:ext>
            </a:extLst>
          </p:cNvPr>
          <p:cNvSpPr>
            <a:spLocks xmlns:a="http://schemas.openxmlformats.org/drawingml/2006/main" noGrp="1"/>
          </p:cNvSpPr>
          <p:nvPr/>
        </p:nvSpPr>
        <p:spPr>
          <a:xfrm xmlns:a="http://schemas.openxmlformats.org/drawingml/2006/main">
            <a:off x="685800" y="5715000"/>
            <a:ext cx="10820400" cy="552450"/>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9525">
            <a:solidFill>
              <a:srgbClr val="D5DBE5"/>
            </a:solidFill>
            <a:prstDash val="solid"/>
          </a:ln>
        </p:spPr>
      </p:sp>
      <p:sp>
        <p:nvSpPr>
          <p:cNvPr id="35" name="integrity-text">
            <a:extLst xmlns:a="http://schemas.openxmlformats.org/drawingml/2006/main">
              <a:ext uri="{FF2B5EF4-FFF2-40B4-BE49-F238E27FC236}">
                <a16:creationId xmlns:a16="http://schemas.microsoft.com/office/drawing/2014/main" id="{BA85CB2F-1503-44A9-844F-0D21275B1423}"/>
              </a:ext>
            </a:extLst>
          </p:cNvPr>
          <p:cNvSpPr>
            <a:spLocks xmlns:a="http://schemas.openxmlformats.org/drawingml/2006/main" noGrp="1"/>
          </p:cNvSpPr>
          <p:nvPr/>
        </p:nvSpPr>
        <p:spPr>
          <a:xfrm xmlns:a="http://schemas.openxmlformats.org/drawingml/2006/main">
            <a:off x="952500" y="583882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1746A2"/>
                </a:solidFill>
                <a:latin typeface="Malgun Gothic"/>
                <a:ea typeface="Malgun Gothic"/>
                <a:cs typeface="Malgun Gothic"/>
              </a:defRPr>
            </a:pPr>
            <a:r>
              <a:rPr sz="1725" b="1">
                <a:solidFill>
                  <a:srgbClr val="1746A2"/>
                </a:solidFill>
                <a:latin typeface="Malgun Gothic"/>
                <a:ea typeface="Malgun Gothic"/>
                <a:cs typeface="Malgun Gothic"/>
              </a:rPr>
              <a:t>“We rejected unreliable signals instead of forcing positive results.”</a:t>
            </a:r>
          </a:p>
        </p:txBody>
      </p:sp>
    </p:spTree>
    <p:extLst>
      <p:ext uri="{BB962C8B-B14F-4D97-AF65-F5344CB8AC3E}">
        <p14:creationId xmlns:p14="http://schemas.microsoft.com/office/powerpoint/2010/main" val="104384853"/>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eyebrow-8">
            <a:extLst xmlns:a="http://schemas.openxmlformats.org/drawingml/2006/main">
              <a:ext uri="{FF2B5EF4-FFF2-40B4-BE49-F238E27FC236}">
                <a16:creationId xmlns:a16="http://schemas.microsoft.com/office/drawing/2014/main" id="{3F8AAE64-9F68-4BE9-93B5-7B004D4C7135}"/>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STUDYMETA · FKI 더하기 창업</a:t>
            </a:r>
          </a:p>
        </p:txBody>
      </p:sp>
      <p:sp>
        <p:nvSpPr>
          <p:cNvPr id="2" name="title-8">
            <a:extLst xmlns:a="http://schemas.openxmlformats.org/drawingml/2006/main">
              <a:ext uri="{FF2B5EF4-FFF2-40B4-BE49-F238E27FC236}">
                <a16:creationId xmlns:a16="http://schemas.microsoft.com/office/drawing/2014/main" id="{BBB34BE8-BAD3-4900-BAA3-D9DD712E09DD}"/>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462"/>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경쟁의 핵심은 ‘누가 모델링하나’보다 ‘어디에 사나’입니다</a:t>
            </a:r>
          </a:p>
        </p:txBody>
      </p:sp>
      <p:sp>
        <p:nvSpPr>
          <p:cNvPr id="3" name="page-8">
            <a:extLst xmlns:a="http://schemas.openxmlformats.org/drawingml/2006/main">
              <a:ext uri="{FF2B5EF4-FFF2-40B4-BE49-F238E27FC236}">
                <a16:creationId xmlns:a16="http://schemas.microsoft.com/office/drawing/2014/main" id="{37E1952C-204A-44C6-9218-BE0E347D359D}"/>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08</a:t>
            </a:r>
          </a:p>
        </p:txBody>
      </p:sp>
      <p:sp>
        <p:nvSpPr>
          <p:cNvPr id="4" name="competition-question">
            <a:extLst xmlns:a="http://schemas.openxmlformats.org/drawingml/2006/main">
              <a:ext uri="{FF2B5EF4-FFF2-40B4-BE49-F238E27FC236}">
                <a16:creationId xmlns:a16="http://schemas.microsoft.com/office/drawing/2014/main" id="{355F86CC-FDB3-4A43-A16A-410B7D977AD6}"/>
              </a:ext>
            </a:extLst>
          </p:cNvPr>
          <p:cNvSpPr>
            <a:spLocks xmlns:a="http://schemas.openxmlformats.org/drawingml/2006/main" noGrp="1"/>
          </p:cNvSpPr>
          <p:nvPr/>
        </p:nvSpPr>
        <p:spPr>
          <a:xfrm xmlns:a="http://schemas.openxmlformats.org/drawingml/2006/main">
            <a:off x="685800" y="13144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746A2"/>
                </a:solidFill>
                <a:latin typeface="Malgun Gothic"/>
                <a:ea typeface="Malgun Gothic"/>
                <a:cs typeface="Malgun Gothic"/>
              </a:defRPr>
            </a:pPr>
            <a:r>
              <a:rPr sz="1800" b="1">
                <a:solidFill>
                  <a:srgbClr val="1746A2"/>
                </a:solidFill>
                <a:latin typeface="Malgun Gothic"/>
                <a:ea typeface="Malgun Gothic"/>
                <a:cs typeface="Malgun Gothic"/>
              </a:rPr>
              <a:t>WHERE DOES THE LEARNER MODEL LIVE?</a:t>
            </a:r>
          </a:p>
        </p:txBody>
      </p:sp>
      <p:sp>
        <p:nvSpPr>
          <p:cNvPr id="5" name="x-axis">
            <a:extLst xmlns:a="http://schemas.openxmlformats.org/drawingml/2006/main">
              <a:ext uri="{FF2B5EF4-FFF2-40B4-BE49-F238E27FC236}">
                <a16:creationId xmlns:a16="http://schemas.microsoft.com/office/drawing/2014/main" id="{1684924D-3651-4B6F-A83C-902C3593ED54}"/>
              </a:ext>
            </a:extLst>
          </p:cNvPr>
          <p:cNvSpPr>
            <a:spLocks xmlns:a="http://schemas.openxmlformats.org/drawingml/2006/main" noGrp="1"/>
          </p:cNvSpPr>
          <p:nvPr/>
        </p:nvSpPr>
        <p:spPr>
          <a:xfrm xmlns:a="http://schemas.openxmlformats.org/drawingml/2006/main">
            <a:off x="1619250" y="5448300"/>
            <a:ext cx="8382000" cy="0"/>
          </a:xfrm>
          <a:prstGeom xmlns:a="http://schemas.openxmlformats.org/drawingml/2006/main" prst="line">
            <a:avLst/>
          </a:prstGeom>
          <a:noFill xmlns:a="http://schemas.openxmlformats.org/drawingml/2006/main"/>
          <a:ln xmlns:a="http://schemas.openxmlformats.org/drawingml/2006/main" w="19050">
            <a:solidFill>
              <a:srgbClr val="18212F"/>
            </a:solidFill>
            <a:prstDash val="solid"/>
          </a:ln>
        </p:spPr>
      </p:sp>
      <p:sp>
        <p:nvSpPr>
          <p:cNvPr id="6" name="y-axis">
            <a:extLst xmlns:a="http://schemas.openxmlformats.org/drawingml/2006/main">
              <a:ext uri="{FF2B5EF4-FFF2-40B4-BE49-F238E27FC236}">
                <a16:creationId xmlns:a16="http://schemas.microsoft.com/office/drawing/2014/main" id="{C2E70212-8AE5-4EEF-A92B-E7AD756B7432}"/>
              </a:ext>
            </a:extLst>
          </p:cNvPr>
          <p:cNvSpPr>
            <a:spLocks xmlns:a="http://schemas.openxmlformats.org/drawingml/2006/main" noGrp="1"/>
          </p:cNvSpPr>
          <p:nvPr/>
        </p:nvSpPr>
        <p:spPr>
          <a:xfrm xmlns:a="http://schemas.openxmlformats.org/drawingml/2006/main">
            <a:off x="1619250" y="2114550"/>
            <a:ext cx="0" cy="3333750"/>
          </a:xfrm>
          <a:prstGeom xmlns:a="http://schemas.openxmlformats.org/drawingml/2006/main" prst="line">
            <a:avLst/>
          </a:prstGeom>
          <a:noFill xmlns:a="http://schemas.openxmlformats.org/drawingml/2006/main"/>
          <a:ln xmlns:a="http://schemas.openxmlformats.org/drawingml/2006/main" w="19050">
            <a:solidFill>
              <a:srgbClr val="18212F"/>
            </a:solidFill>
            <a:prstDash val="solid"/>
          </a:ln>
        </p:spPr>
      </p:sp>
      <p:sp>
        <p:nvSpPr>
          <p:cNvPr id="7" name="x-left">
            <a:extLst xmlns:a="http://schemas.openxmlformats.org/drawingml/2006/main">
              <a:ext uri="{FF2B5EF4-FFF2-40B4-BE49-F238E27FC236}">
                <a16:creationId xmlns:a16="http://schemas.microsoft.com/office/drawing/2014/main" id="{650CEF4D-863C-412B-8EE5-6649E6E3FB3E}"/>
              </a:ext>
            </a:extLst>
          </p:cNvPr>
          <p:cNvSpPr>
            <a:spLocks xmlns:a="http://schemas.openxmlformats.org/drawingml/2006/main" noGrp="1"/>
          </p:cNvSpPr>
          <p:nvPr/>
        </p:nvSpPr>
        <p:spPr>
          <a:xfrm xmlns:a="http://schemas.openxmlformats.org/drawingml/2006/main">
            <a:off x="1619250" y="5657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87386"/>
                </a:solidFill>
                <a:latin typeface="Malgun Gothic"/>
                <a:ea typeface="Malgun Gothic"/>
                <a:cs typeface="Malgun Gothic"/>
              </a:defRPr>
            </a:pPr>
            <a:r>
              <a:rPr sz="1125" b="1">
                <a:solidFill>
                  <a:srgbClr val="687386"/>
                </a:solidFill>
                <a:latin typeface="Malgun Gothic"/>
                <a:ea typeface="Malgun Gothic"/>
                <a:cs typeface="Malgun Gothic"/>
              </a:rPr>
              <a:t>PLATFORM-BOUND</a:t>
            </a:r>
          </a:p>
        </p:txBody>
      </p:sp>
      <p:sp>
        <p:nvSpPr>
          <p:cNvPr id="8" name="x-right">
            <a:extLst xmlns:a="http://schemas.openxmlformats.org/drawingml/2006/main">
              <a:ext uri="{FF2B5EF4-FFF2-40B4-BE49-F238E27FC236}">
                <a16:creationId xmlns:a16="http://schemas.microsoft.com/office/drawing/2014/main" id="{84AC68F9-8685-49AA-8118-1ECCCEA47BD5}"/>
              </a:ext>
            </a:extLst>
          </p:cNvPr>
          <p:cNvSpPr>
            <a:spLocks xmlns:a="http://schemas.openxmlformats.org/drawingml/2006/main" noGrp="1"/>
          </p:cNvSpPr>
          <p:nvPr/>
        </p:nvSpPr>
        <p:spPr>
          <a:xfrm xmlns:a="http://schemas.openxmlformats.org/drawingml/2006/main">
            <a:off x="7620000" y="56578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746A2"/>
                </a:solidFill>
                <a:latin typeface="Malgun Gothic"/>
                <a:ea typeface="Malgun Gothic"/>
                <a:cs typeface="Malgun Gothic"/>
              </a:defRPr>
            </a:pPr>
            <a:r>
              <a:rPr sz="1125" b="1">
                <a:solidFill>
                  <a:srgbClr val="1746A2"/>
                </a:solidFill>
                <a:latin typeface="Malgun Gothic"/>
                <a:ea typeface="Malgun Gothic"/>
                <a:cs typeface="Malgun Gothic"/>
              </a:rPr>
              <a:t>AI-INDEPENDENT</a:t>
            </a:r>
          </a:p>
        </p:txBody>
      </p:sp>
      <p:sp>
        <p:nvSpPr>
          <p:cNvPr id="9" name="y-top">
            <a:extLst xmlns:a="http://schemas.openxmlformats.org/drawingml/2006/main">
              <a:ext uri="{FF2B5EF4-FFF2-40B4-BE49-F238E27FC236}">
                <a16:creationId xmlns:a16="http://schemas.microsoft.com/office/drawing/2014/main" id="{DDC7AF30-71AB-4147-9526-62CE59754A47}"/>
              </a:ext>
            </a:extLst>
          </p:cNvPr>
          <p:cNvSpPr>
            <a:spLocks xmlns:a="http://schemas.openxmlformats.org/drawingml/2006/main" noGrp="1"/>
          </p:cNvSpPr>
          <p:nvPr/>
        </p:nvSpPr>
        <p:spPr>
          <a:xfrm xmlns:a="http://schemas.openxmlformats.org/drawingml/2006/main">
            <a:off x="266700" y="2076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687386"/>
                </a:solidFill>
                <a:latin typeface="Malgun Gothic"/>
                <a:ea typeface="Malgun Gothic"/>
                <a:cs typeface="Malgun Gothic"/>
              </a:defRPr>
            </a:pPr>
            <a:r>
              <a:rPr sz="1050" b="1">
                <a:solidFill>
                  <a:srgbClr val="687386"/>
                </a:solidFill>
                <a:latin typeface="Malgun Gothic"/>
                <a:ea typeface="Malgun Gothic"/>
                <a:cs typeface="Malgun Gothic"/>
              </a:rPr>
              <a:t>DEEP LEARNER MODELING</a:t>
            </a:r>
          </a:p>
        </p:txBody>
      </p:sp>
      <p:sp>
        <p:nvSpPr>
          <p:cNvPr id="10" name="y-bottom">
            <a:extLst xmlns:a="http://schemas.openxmlformats.org/drawingml/2006/main">
              <a:ext uri="{FF2B5EF4-FFF2-40B4-BE49-F238E27FC236}">
                <a16:creationId xmlns:a16="http://schemas.microsoft.com/office/drawing/2014/main" id="{F0DBC2B0-BDB5-497B-BF84-898122D00EAD}"/>
              </a:ext>
            </a:extLst>
          </p:cNvPr>
          <p:cNvSpPr>
            <a:spLocks xmlns:a="http://schemas.openxmlformats.org/drawingml/2006/main" noGrp="1"/>
          </p:cNvSpPr>
          <p:nvPr/>
        </p:nvSpPr>
        <p:spPr>
          <a:xfrm xmlns:a="http://schemas.openxmlformats.org/drawingml/2006/main">
            <a:off x="342900" y="52768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687386"/>
                </a:solidFill>
                <a:latin typeface="Malgun Gothic"/>
                <a:ea typeface="Malgun Gothic"/>
                <a:cs typeface="Malgun Gothic"/>
              </a:defRPr>
            </a:pPr>
            <a:r>
              <a:rPr sz="1050" b="1">
                <a:solidFill>
                  <a:srgbClr val="687386"/>
                </a:solidFill>
                <a:latin typeface="Malgun Gothic"/>
                <a:ea typeface="Malgun Gothic"/>
                <a:cs typeface="Malgun Gothic"/>
              </a:rPr>
              <a:t>CONTENT ASSISTANCE</a:t>
            </a:r>
          </a:p>
        </p:txBody>
      </p:sp>
      <p:sp>
        <p:nvSpPr>
          <p:cNvPr id="11" name="mid-v">
            <a:extLst xmlns:a="http://schemas.openxmlformats.org/drawingml/2006/main">
              <a:ext uri="{FF2B5EF4-FFF2-40B4-BE49-F238E27FC236}">
                <a16:creationId xmlns:a16="http://schemas.microsoft.com/office/drawing/2014/main" id="{9F00C961-E7D0-4D16-87FC-B8344751A438}"/>
              </a:ext>
            </a:extLst>
          </p:cNvPr>
          <p:cNvSpPr>
            <a:spLocks xmlns:a="http://schemas.openxmlformats.org/drawingml/2006/main" noGrp="1"/>
          </p:cNvSpPr>
          <p:nvPr/>
        </p:nvSpPr>
        <p:spPr>
          <a:xfrm xmlns:a="http://schemas.openxmlformats.org/drawingml/2006/main">
            <a:off x="5810250" y="2114550"/>
            <a:ext cx="0" cy="3333750"/>
          </a:xfrm>
          <a:prstGeom xmlns:a="http://schemas.openxmlformats.org/drawingml/2006/main" prst="line">
            <a:avLst/>
          </a:prstGeom>
          <a:noFill xmlns:a="http://schemas.openxmlformats.org/drawingml/2006/main"/>
          <a:ln xmlns:a="http://schemas.openxmlformats.org/drawingml/2006/main" w="9525">
            <a:solidFill>
              <a:srgbClr val="E4E8EF"/>
            </a:solidFill>
            <a:prstDash val="solid"/>
          </a:ln>
        </p:spPr>
      </p:sp>
      <p:sp>
        <p:nvSpPr>
          <p:cNvPr id="12" name="mid-h">
            <a:extLst xmlns:a="http://schemas.openxmlformats.org/drawingml/2006/main">
              <a:ext uri="{FF2B5EF4-FFF2-40B4-BE49-F238E27FC236}">
                <a16:creationId xmlns:a16="http://schemas.microsoft.com/office/drawing/2014/main" id="{71C07667-2E63-472B-82B1-4051AFCA307A}"/>
              </a:ext>
            </a:extLst>
          </p:cNvPr>
          <p:cNvSpPr>
            <a:spLocks xmlns:a="http://schemas.openxmlformats.org/drawingml/2006/main" noGrp="1"/>
          </p:cNvSpPr>
          <p:nvPr/>
        </p:nvSpPr>
        <p:spPr>
          <a:xfrm xmlns:a="http://schemas.openxmlformats.org/drawingml/2006/main">
            <a:off x="1619250" y="3781425"/>
            <a:ext cx="8382000" cy="0"/>
          </a:xfrm>
          <a:prstGeom xmlns:a="http://schemas.openxmlformats.org/drawingml/2006/main" prst="line">
            <a:avLst/>
          </a:prstGeom>
          <a:noFill xmlns:a="http://schemas.openxmlformats.org/drawingml/2006/main"/>
          <a:ln xmlns:a="http://schemas.openxmlformats.org/drawingml/2006/main" w="9525">
            <a:solidFill>
              <a:srgbClr val="E4E8EF"/>
            </a:solidFill>
            <a:prstDash val="solid"/>
          </a:ln>
        </p:spPr>
      </p:sp>
      <p:sp>
        <p:nvSpPr>
          <p:cNvPr id="13" name="comp-0-box">
            <a:extLst xmlns:a="http://schemas.openxmlformats.org/drawingml/2006/main">
              <a:ext uri="{FF2B5EF4-FFF2-40B4-BE49-F238E27FC236}">
                <a16:creationId xmlns:a16="http://schemas.microsoft.com/office/drawing/2014/main" id="{E3FF3314-311E-4ACB-889A-C850C67559E1}"/>
              </a:ext>
            </a:extLst>
          </p:cNvPr>
          <p:cNvSpPr>
            <a:spLocks xmlns:a="http://schemas.openxmlformats.org/drawingml/2006/main" noGrp="1"/>
          </p:cNvSpPr>
          <p:nvPr/>
        </p:nvSpPr>
        <p:spPr>
          <a:xfrm xmlns:a="http://schemas.openxmlformats.org/drawingml/2006/main">
            <a:off x="2524125" y="4495800"/>
            <a:ext cx="1085850" cy="4762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5DBE5"/>
            </a:solidFill>
            <a:prstDash val="solid"/>
          </a:ln>
        </p:spPr>
      </p:sp>
      <p:sp>
        <p:nvSpPr>
          <p:cNvPr id="14" name="comp-0">
            <a:extLst xmlns:a="http://schemas.openxmlformats.org/drawingml/2006/main">
              <a:ext uri="{FF2B5EF4-FFF2-40B4-BE49-F238E27FC236}">
                <a16:creationId xmlns:a16="http://schemas.microsoft.com/office/drawing/2014/main" id="{16471730-63A8-46B3-AA9A-5908F81A303D}"/>
              </a:ext>
            </a:extLst>
          </p:cNvPr>
          <p:cNvSpPr>
            <a:spLocks xmlns:a="http://schemas.openxmlformats.org/drawingml/2006/main" noGrp="1"/>
          </p:cNvSpPr>
          <p:nvPr/>
        </p:nvSpPr>
        <p:spPr>
          <a:xfrm xmlns:a="http://schemas.openxmlformats.org/drawingml/2006/main">
            <a:off x="2638425" y="457200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687386"/>
                </a:solidFill>
                <a:latin typeface="Malgun Gothic"/>
                <a:ea typeface="Malgun Gothic"/>
                <a:cs typeface="Malgun Gothic"/>
              </a:defRPr>
            </a:pPr>
            <a:r>
              <a:rPr sz="1200" b="1">
                <a:solidFill>
                  <a:srgbClr val="687386"/>
                </a:solidFill>
                <a:latin typeface="Malgun Gothic"/>
                <a:ea typeface="Malgun Gothic"/>
                <a:cs typeface="Malgun Gothic"/>
              </a:rPr>
              <a:t>Mindgrasp</a:t>
            </a:r>
          </a:p>
        </p:txBody>
      </p:sp>
      <p:sp>
        <p:nvSpPr>
          <p:cNvPr id="15" name="comp-1-box">
            <a:extLst xmlns:a="http://schemas.openxmlformats.org/drawingml/2006/main">
              <a:ext uri="{FF2B5EF4-FFF2-40B4-BE49-F238E27FC236}">
                <a16:creationId xmlns:a16="http://schemas.microsoft.com/office/drawing/2014/main" id="{FEE18B14-47BA-4EDD-BF49-BCFD80106E58}"/>
              </a:ext>
            </a:extLst>
          </p:cNvPr>
          <p:cNvSpPr>
            <a:spLocks xmlns:a="http://schemas.openxmlformats.org/drawingml/2006/main" noGrp="1"/>
          </p:cNvSpPr>
          <p:nvPr/>
        </p:nvSpPr>
        <p:spPr>
          <a:xfrm xmlns:a="http://schemas.openxmlformats.org/drawingml/2006/main">
            <a:off x="3381375" y="3562350"/>
            <a:ext cx="1028700" cy="4762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16" name="comp-1">
            <a:extLst xmlns:a="http://schemas.openxmlformats.org/drawingml/2006/main">
              <a:ext uri="{FF2B5EF4-FFF2-40B4-BE49-F238E27FC236}">
                <a16:creationId xmlns:a16="http://schemas.microsoft.com/office/drawing/2014/main" id="{90A59A8C-6440-4B62-A45C-4C5AECF82A0D}"/>
              </a:ext>
            </a:extLst>
          </p:cNvPr>
          <p:cNvSpPr>
            <a:spLocks xmlns:a="http://schemas.openxmlformats.org/drawingml/2006/main" noGrp="1"/>
          </p:cNvSpPr>
          <p:nvPr/>
        </p:nvSpPr>
        <p:spPr>
          <a:xfrm xmlns:a="http://schemas.openxmlformats.org/drawingml/2006/main">
            <a:off x="3495675" y="36385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YouLearn</a:t>
            </a:r>
          </a:p>
        </p:txBody>
      </p:sp>
      <p:sp>
        <p:nvSpPr>
          <p:cNvPr id="17" name="comp-2-box">
            <a:extLst xmlns:a="http://schemas.openxmlformats.org/drawingml/2006/main">
              <a:ext uri="{FF2B5EF4-FFF2-40B4-BE49-F238E27FC236}">
                <a16:creationId xmlns:a16="http://schemas.microsoft.com/office/drawing/2014/main" id="{CE30A38B-B765-409B-8597-DFF689B3FD67}"/>
              </a:ext>
            </a:extLst>
          </p:cNvPr>
          <p:cNvSpPr>
            <a:spLocks xmlns:a="http://schemas.openxmlformats.org/drawingml/2006/main" noGrp="1"/>
          </p:cNvSpPr>
          <p:nvPr/>
        </p:nvSpPr>
        <p:spPr>
          <a:xfrm xmlns:a="http://schemas.openxmlformats.org/drawingml/2006/main">
            <a:off x="4476750" y="2857500"/>
            <a:ext cx="1181100" cy="4762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18" name="comp-2">
            <a:extLst xmlns:a="http://schemas.openxmlformats.org/drawingml/2006/main">
              <a:ext uri="{FF2B5EF4-FFF2-40B4-BE49-F238E27FC236}">
                <a16:creationId xmlns:a16="http://schemas.microsoft.com/office/drawing/2014/main" id="{FC0016B1-94DA-4CD4-B885-972734D0293A}"/>
              </a:ext>
            </a:extLst>
          </p:cNvPr>
          <p:cNvSpPr>
            <a:spLocks xmlns:a="http://schemas.openxmlformats.org/drawingml/2006/main" noGrp="1"/>
          </p:cNvSpPr>
          <p:nvPr/>
        </p:nvSpPr>
        <p:spPr>
          <a:xfrm xmlns:a="http://schemas.openxmlformats.org/drawingml/2006/main">
            <a:off x="4591050" y="29337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StudyFetch</a:t>
            </a:r>
          </a:p>
        </p:txBody>
      </p:sp>
      <p:sp>
        <p:nvSpPr>
          <p:cNvPr id="19" name="comp-3-box">
            <a:extLst xmlns:a="http://schemas.openxmlformats.org/drawingml/2006/main">
              <a:ext uri="{FF2B5EF4-FFF2-40B4-BE49-F238E27FC236}">
                <a16:creationId xmlns:a16="http://schemas.microsoft.com/office/drawing/2014/main" id="{98A91598-3AAC-4B44-A7E5-3653BC20CE29}"/>
              </a:ext>
            </a:extLst>
          </p:cNvPr>
          <p:cNvSpPr>
            <a:spLocks xmlns:a="http://schemas.openxmlformats.org/drawingml/2006/main" noGrp="1"/>
          </p:cNvSpPr>
          <p:nvPr/>
        </p:nvSpPr>
        <p:spPr>
          <a:xfrm xmlns:a="http://schemas.openxmlformats.org/drawingml/2006/main">
            <a:off x="2781300" y="2400300"/>
            <a:ext cx="914400" cy="4762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18212F"/>
            </a:solidFill>
            <a:prstDash val="solid"/>
          </a:ln>
        </p:spPr>
      </p:sp>
      <p:sp>
        <p:nvSpPr>
          <p:cNvPr id="20" name="comp-3">
            <a:extLst xmlns:a="http://schemas.openxmlformats.org/drawingml/2006/main">
              <a:ext uri="{FF2B5EF4-FFF2-40B4-BE49-F238E27FC236}">
                <a16:creationId xmlns:a16="http://schemas.microsoft.com/office/drawing/2014/main" id="{0D777F54-B26E-4DB0-B12F-2DA96D36E92B}"/>
              </a:ext>
            </a:extLst>
          </p:cNvPr>
          <p:cNvSpPr>
            <a:spLocks xmlns:a="http://schemas.openxmlformats.org/drawingml/2006/main" noGrp="1"/>
          </p:cNvSpPr>
          <p:nvPr/>
        </p:nvSpPr>
        <p:spPr>
          <a:xfrm xmlns:a="http://schemas.openxmlformats.org/drawingml/2006/main">
            <a:off x="2895600" y="2476500"/>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0C1D3A"/>
                </a:solidFill>
                <a:latin typeface="Malgun Gothic"/>
                <a:ea typeface="Malgun Gothic"/>
                <a:cs typeface="Malgun Gothic"/>
              </a:defRPr>
            </a:pPr>
            <a:r>
              <a:rPr sz="1200" b="1">
                <a:solidFill>
                  <a:srgbClr val="0C1D3A"/>
                </a:solidFill>
                <a:latin typeface="Malgun Gothic"/>
                <a:ea typeface="Malgun Gothic"/>
                <a:cs typeface="Malgun Gothic"/>
              </a:rPr>
              <a:t>ALEKS</a:t>
            </a:r>
          </a:p>
        </p:txBody>
      </p:sp>
      <p:sp>
        <p:nvSpPr>
          <p:cNvPr id="21" name="comp-4-box">
            <a:extLst xmlns:a="http://schemas.openxmlformats.org/drawingml/2006/main">
              <a:ext uri="{FF2B5EF4-FFF2-40B4-BE49-F238E27FC236}">
                <a16:creationId xmlns:a16="http://schemas.microsoft.com/office/drawing/2014/main" id="{9F53DA9F-97A3-4C5D-AB19-FB68466EA0DF}"/>
              </a:ext>
            </a:extLst>
          </p:cNvPr>
          <p:cNvSpPr>
            <a:spLocks xmlns:a="http://schemas.openxmlformats.org/drawingml/2006/main" noGrp="1"/>
          </p:cNvSpPr>
          <p:nvPr/>
        </p:nvSpPr>
        <p:spPr>
          <a:xfrm xmlns:a="http://schemas.openxmlformats.org/drawingml/2006/main">
            <a:off x="5905500" y="4476750"/>
            <a:ext cx="1181100" cy="4762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5DBE5"/>
            </a:solidFill>
            <a:prstDash val="solid"/>
          </a:ln>
        </p:spPr>
      </p:sp>
      <p:sp>
        <p:nvSpPr>
          <p:cNvPr id="22" name="comp-4">
            <a:extLst xmlns:a="http://schemas.openxmlformats.org/drawingml/2006/main">
              <a:ext uri="{FF2B5EF4-FFF2-40B4-BE49-F238E27FC236}">
                <a16:creationId xmlns:a16="http://schemas.microsoft.com/office/drawing/2014/main" id="{349E4A4A-8C40-4E78-A4EF-2053549D4527}"/>
              </a:ext>
            </a:extLst>
          </p:cNvPr>
          <p:cNvSpPr>
            <a:spLocks xmlns:a="http://schemas.openxmlformats.org/drawingml/2006/main" noGrp="1"/>
          </p:cNvSpPr>
          <p:nvPr/>
        </p:nvSpPr>
        <p:spPr>
          <a:xfrm xmlns:a="http://schemas.openxmlformats.org/drawingml/2006/main">
            <a:off x="6019800" y="45529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42"/>
          </a:bodyPr>
          <a:lstStyle xmlns:a="http://schemas.openxmlformats.org/drawingml/2006/main"/>
          <a:p xmlns:a="http://schemas.openxmlformats.org/drawingml/2006/main">
            <a:pPr algn="ctr">
              <a:defRPr sz="1200" b="1">
                <a:solidFill>
                  <a:srgbClr val="687386"/>
                </a:solidFill>
                <a:latin typeface="Malgun Gothic"/>
                <a:ea typeface="Malgun Gothic"/>
                <a:cs typeface="Malgun Gothic"/>
              </a:defRPr>
            </a:pPr>
            <a:r>
              <a:rPr sz="1200" b="1">
                <a:solidFill>
                  <a:srgbClr val="687386"/>
                </a:solidFill>
                <a:latin typeface="Malgun Gothic"/>
                <a:ea typeface="Malgun Gothic"/>
                <a:cs typeface="Malgun Gothic"/>
              </a:rPr>
              <a:t>General AI</a:t>
            </a:r>
          </a:p>
          <a:p xmlns:a="http://schemas.openxmlformats.org/drawingml/2006/main">
            <a:pPr algn="ctr">
              <a:defRPr sz="1200" b="1">
                <a:solidFill>
                  <a:srgbClr val="687386"/>
                </a:solidFill>
                <a:latin typeface="Malgun Gothic"/>
                <a:ea typeface="Malgun Gothic"/>
                <a:cs typeface="Malgun Gothic"/>
              </a:defRPr>
            </a:pPr>
            <a:r>
              <a:rPr sz="1200" b="1">
                <a:solidFill>
                  <a:srgbClr val="687386"/>
                </a:solidFill>
                <a:latin typeface="Malgun Gothic"/>
                <a:ea typeface="Malgun Gothic"/>
                <a:cs typeface="Malgun Gothic"/>
              </a:rPr>
              <a:t>Memory</a:t>
            </a:r>
          </a:p>
        </p:txBody>
      </p:sp>
      <p:sp>
        <p:nvSpPr>
          <p:cNvPr id="23" name="comp-5-box">
            <a:extLst xmlns:a="http://schemas.openxmlformats.org/drawingml/2006/main">
              <a:ext uri="{FF2B5EF4-FFF2-40B4-BE49-F238E27FC236}">
                <a16:creationId xmlns:a16="http://schemas.microsoft.com/office/drawing/2014/main" id="{57DCE384-0C74-450F-9FF7-72D97046B91F}"/>
              </a:ext>
            </a:extLst>
          </p:cNvPr>
          <p:cNvSpPr>
            <a:spLocks xmlns:a="http://schemas.openxmlformats.org/drawingml/2006/main" noGrp="1"/>
          </p:cNvSpPr>
          <p:nvPr/>
        </p:nvSpPr>
        <p:spPr>
          <a:xfrm xmlns:a="http://schemas.openxmlformats.org/drawingml/2006/main">
            <a:off x="8286750" y="2400300"/>
            <a:ext cx="1562100" cy="704850"/>
          </a:xfrm>
          <a:prstGeom xmlns:a="http://schemas.openxmlformats.org/drawingml/2006/main" prst="roundRect">
            <a:avLst>
              <a:gd name="adj" fmla="val 33784"/>
            </a:avLst>
          </a:prstGeom>
          <a:solidFill xmlns:a="http://schemas.openxmlformats.org/drawingml/2006/main">
            <a:srgbClr val="2563EB"/>
          </a:solidFill>
          <a:ln xmlns:a="http://schemas.openxmlformats.org/drawingml/2006/main" w="9525">
            <a:solidFill>
              <a:srgbClr val="2563EB"/>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24" name="comp-5">
            <a:extLst xmlns:a="http://schemas.openxmlformats.org/drawingml/2006/main">
              <a:ext uri="{FF2B5EF4-FFF2-40B4-BE49-F238E27FC236}">
                <a16:creationId xmlns:a16="http://schemas.microsoft.com/office/drawing/2014/main" id="{9B6C22CA-3F7D-4A0F-B15F-865CA6E2ED22}"/>
              </a:ext>
            </a:extLst>
          </p:cNvPr>
          <p:cNvSpPr>
            <a:spLocks xmlns:a="http://schemas.openxmlformats.org/drawingml/2006/main" noGrp="1"/>
          </p:cNvSpPr>
          <p:nvPr/>
        </p:nvSpPr>
        <p:spPr>
          <a:xfrm xmlns:a="http://schemas.openxmlformats.org/drawingml/2006/main">
            <a:off x="8401050" y="2476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StudyMeta</a:t>
            </a:r>
          </a:p>
          <a:p xmlns:a="http://schemas.openxmlformats.org/drawingml/2006/main">
            <a:pPr algn="ctr">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TARGET POSITION</a:t>
            </a:r>
          </a:p>
        </p:txBody>
      </p:sp>
      <p:sp>
        <p:nvSpPr>
          <p:cNvPr id="25" name="competition-caption">
            <a:extLst xmlns:a="http://schemas.openxmlformats.org/drawingml/2006/main">
              <a:ext uri="{FF2B5EF4-FFF2-40B4-BE49-F238E27FC236}">
                <a16:creationId xmlns:a16="http://schemas.microsoft.com/office/drawing/2014/main" id="{172C4F9B-765D-4617-A56B-65A86E9335EB}"/>
              </a:ext>
            </a:extLst>
          </p:cNvPr>
          <p:cNvSpPr>
            <a:spLocks xmlns:a="http://schemas.openxmlformats.org/drawingml/2006/main" noGrp="1"/>
          </p:cNvSpPr>
          <p:nvPr/>
        </p:nvSpPr>
        <p:spPr>
          <a:xfrm xmlns:a="http://schemas.openxmlformats.org/drawingml/2006/main">
            <a:off x="685800" y="61341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92"/>
          </a:bodyPr>
          <a:lstStyle xmlns:a="http://schemas.openxmlformats.org/drawingml/2006/main"/>
          <a:p xmlns:a="http://schemas.openxmlformats.org/drawingml/2006/main">
            <a:pPr algn="ctr">
              <a:defRPr sz="1425" b="1">
                <a:solidFill>
                  <a:srgbClr val="18212F"/>
                </a:solidFill>
                <a:latin typeface="Malgun Gothic"/>
                <a:ea typeface="Malgun Gothic"/>
                <a:cs typeface="Malgun Gothic"/>
              </a:defRPr>
            </a:pPr>
            <a:r>
              <a:rPr sz="1425" b="1">
                <a:solidFill>
                  <a:srgbClr val="18212F"/>
                </a:solidFill>
                <a:latin typeface="Malgun Gothic"/>
                <a:ea typeface="Malgun Gothic"/>
                <a:cs typeface="Malgun Gothic"/>
              </a:rPr>
              <a:t>ALEKS와 StudyFetch는 Learner Modeling의 가치를 증명했습니다. StudyMeta는 그 intelligence가 학생과 함께 이동해야 하는지 검증합니다.</a:t>
            </a:r>
          </a:p>
        </p:txBody>
      </p:sp>
    </p:spTree>
    <p:extLst>
      <p:ext uri="{BB962C8B-B14F-4D97-AF65-F5344CB8AC3E}">
        <p14:creationId xmlns:p14="http://schemas.microsoft.com/office/powerpoint/2010/main" val="1914814540"/>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eyebrow-9">
            <a:extLst xmlns:a="http://schemas.openxmlformats.org/drawingml/2006/main">
              <a:ext uri="{FF2B5EF4-FFF2-40B4-BE49-F238E27FC236}">
                <a16:creationId xmlns:a16="http://schemas.microsoft.com/office/drawing/2014/main" id="{413D585A-3C9A-44C0-85A8-73FEA29F36A9}"/>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STUDYMETA · FKI 더하기 창업</a:t>
            </a:r>
          </a:p>
        </p:txBody>
      </p:sp>
      <p:sp>
        <p:nvSpPr>
          <p:cNvPr id="2" name="title-9">
            <a:extLst xmlns:a="http://schemas.openxmlformats.org/drawingml/2006/main">
              <a:ext uri="{FF2B5EF4-FFF2-40B4-BE49-F238E27FC236}">
                <a16:creationId xmlns:a16="http://schemas.microsoft.com/office/drawing/2014/main" id="{26F113A0-883C-4696-928C-C67DF7133637}"/>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77"/>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학생은 이미 AI로 공부합니다. 이제 학습 intelligence의 주인이 필요합니다</a:t>
            </a:r>
          </a:p>
        </p:txBody>
      </p:sp>
      <p:sp>
        <p:nvSpPr>
          <p:cNvPr id="3" name="page-9">
            <a:extLst xmlns:a="http://schemas.openxmlformats.org/drawingml/2006/main">
              <a:ext uri="{FF2B5EF4-FFF2-40B4-BE49-F238E27FC236}">
                <a16:creationId xmlns:a16="http://schemas.microsoft.com/office/drawing/2014/main" id="{22F7E029-3132-4D15-932A-5C1FE28D3C24}"/>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09</a:t>
            </a:r>
          </a:p>
        </p:txBody>
      </p:sp>
      <p:sp>
        <p:nvSpPr>
          <p:cNvPr id="4" name="adoption-panel">
            <a:extLst xmlns:a="http://schemas.openxmlformats.org/drawingml/2006/main">
              <a:ext uri="{FF2B5EF4-FFF2-40B4-BE49-F238E27FC236}">
                <a16:creationId xmlns:a16="http://schemas.microsoft.com/office/drawing/2014/main" id="{D0E2ABF9-32EE-425A-AF0B-85B08A641A52}"/>
              </a:ext>
            </a:extLst>
          </p:cNvPr>
          <p:cNvSpPr>
            <a:spLocks xmlns:a="http://schemas.openxmlformats.org/drawingml/2006/main" noGrp="1"/>
          </p:cNvSpPr>
          <p:nvPr/>
        </p:nvSpPr>
        <p:spPr>
          <a:xfrm xmlns:a="http://schemas.openxmlformats.org/drawingml/2006/main">
            <a:off x="685800" y="1562100"/>
            <a:ext cx="4800600" cy="3733800"/>
          </a:xfrm>
          <a:prstGeom xmlns:a="http://schemas.openxmlformats.org/drawingml/2006/main" prst="roundRect">
            <a:avLst>
              <a:gd name="adj" fmla="val 5612"/>
            </a:avLst>
          </a:prstGeom>
          <a:solidFill xmlns:a="http://schemas.openxmlformats.org/drawingml/2006/main">
            <a:srgbClr val="2563EB"/>
          </a:solidFill>
          <a:ln xmlns:a="http://schemas.openxmlformats.org/drawingml/2006/main" w="9525">
            <a:solidFill>
              <a:srgbClr val="2563EB"/>
            </a:solidFill>
            <a:prstDash val="solid"/>
          </a:ln>
        </p:spPr>
      </p:sp>
      <p:sp>
        <p:nvSpPr>
          <p:cNvPr id="5" name="adoption-number">
            <a:extLst xmlns:a="http://schemas.openxmlformats.org/drawingml/2006/main">
              <a:ext uri="{FF2B5EF4-FFF2-40B4-BE49-F238E27FC236}">
                <a16:creationId xmlns:a16="http://schemas.microsoft.com/office/drawing/2014/main" id="{0359F572-3081-44F1-96A8-ED193DFEF03B}"/>
              </a:ext>
            </a:extLst>
          </p:cNvPr>
          <p:cNvSpPr>
            <a:spLocks xmlns:a="http://schemas.openxmlformats.org/drawingml/2006/main" noGrp="1"/>
          </p:cNvSpPr>
          <p:nvPr/>
        </p:nvSpPr>
        <p:spPr>
          <a:xfrm xmlns:a="http://schemas.openxmlformats.org/drawingml/2006/main">
            <a:off x="1066800" y="2133600"/>
            <a:ext cx="4038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6600" b="1">
                <a:solidFill>
                  <a:srgbClr val="FFFFFF"/>
                </a:solidFill>
                <a:latin typeface="Malgun Gothic"/>
                <a:ea typeface="Malgun Gothic"/>
                <a:cs typeface="Malgun Gothic"/>
              </a:defRPr>
            </a:pPr>
            <a:r>
              <a:rPr sz="6600" b="1">
                <a:solidFill>
                  <a:srgbClr val="FFFFFF"/>
                </a:solidFill>
                <a:latin typeface="Malgun Gothic"/>
                <a:ea typeface="Malgun Gothic"/>
                <a:cs typeface="Malgun Gothic"/>
              </a:rPr>
              <a:t>94%</a:t>
            </a:r>
          </a:p>
        </p:txBody>
      </p:sp>
      <p:sp>
        <p:nvSpPr>
          <p:cNvPr id="6" name="adoption-label">
            <a:extLst xmlns:a="http://schemas.openxmlformats.org/drawingml/2006/main">
              <a:ext uri="{FF2B5EF4-FFF2-40B4-BE49-F238E27FC236}">
                <a16:creationId xmlns:a16="http://schemas.microsoft.com/office/drawing/2014/main" id="{6B9C16C6-349E-4C52-9A37-314A7F552D1D}"/>
              </a:ext>
            </a:extLst>
          </p:cNvPr>
          <p:cNvSpPr>
            <a:spLocks xmlns:a="http://schemas.openxmlformats.org/drawingml/2006/main" noGrp="1"/>
          </p:cNvSpPr>
          <p:nvPr/>
        </p:nvSpPr>
        <p:spPr>
          <a:xfrm xmlns:a="http://schemas.openxmlformats.org/drawingml/2006/main">
            <a:off x="1066800" y="3333750"/>
            <a:ext cx="4038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UK undergraduates using GenAI</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for assessed work</a:t>
            </a:r>
          </a:p>
        </p:txBody>
      </p:sp>
      <p:sp>
        <p:nvSpPr>
          <p:cNvPr id="7" name="adoption-year">
            <a:extLst xmlns:a="http://schemas.openxmlformats.org/drawingml/2006/main">
              <a:ext uri="{FF2B5EF4-FFF2-40B4-BE49-F238E27FC236}">
                <a16:creationId xmlns:a16="http://schemas.microsoft.com/office/drawing/2014/main" id="{D4135B1B-3E7D-41E7-9FA0-C96E57E1CF78}"/>
              </a:ext>
            </a:extLst>
          </p:cNvPr>
          <p:cNvSpPr>
            <a:spLocks xmlns:a="http://schemas.openxmlformats.org/drawingml/2006/main" noGrp="1"/>
          </p:cNvSpPr>
          <p:nvPr/>
        </p:nvSpPr>
        <p:spPr>
          <a:xfrm xmlns:a="http://schemas.openxmlformats.org/drawingml/2006/main">
            <a:off x="1066800" y="4552950"/>
            <a:ext cx="403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DCE7FF"/>
                </a:solidFill>
                <a:latin typeface="Malgun Gothic"/>
                <a:ea typeface="Malgun Gothic"/>
                <a:cs typeface="Malgun Gothic"/>
              </a:defRPr>
            </a:pPr>
            <a:r>
              <a:rPr sz="1125" b="0">
                <a:solidFill>
                  <a:srgbClr val="DCE7FF"/>
                </a:solidFill>
                <a:latin typeface="Malgun Gothic"/>
                <a:ea typeface="Malgun Gothic"/>
                <a:cs typeface="Malgun Gothic"/>
              </a:rPr>
              <a:t>HEPI Student Generative AI Survey 2026</a:t>
            </a:r>
          </a:p>
        </p:txBody>
      </p:sp>
      <p:sp>
        <p:nvSpPr>
          <p:cNvPr id="8" name="market-panel">
            <a:extLst xmlns:a="http://schemas.openxmlformats.org/drawingml/2006/main">
              <a:ext uri="{FF2B5EF4-FFF2-40B4-BE49-F238E27FC236}">
                <a16:creationId xmlns:a16="http://schemas.microsoft.com/office/drawing/2014/main" id="{665DBC96-524C-4860-A0A4-10EBA0D9D37F}"/>
              </a:ext>
            </a:extLst>
          </p:cNvPr>
          <p:cNvSpPr>
            <a:spLocks xmlns:a="http://schemas.openxmlformats.org/drawingml/2006/main" noGrp="1"/>
          </p:cNvSpPr>
          <p:nvPr/>
        </p:nvSpPr>
        <p:spPr>
          <a:xfrm xmlns:a="http://schemas.openxmlformats.org/drawingml/2006/main">
            <a:off x="5943600" y="1562100"/>
            <a:ext cx="5562600" cy="3733800"/>
          </a:xfrm>
          <a:prstGeom xmlns:a="http://schemas.openxmlformats.org/drawingml/2006/main" prst="roundRect">
            <a:avLst>
              <a:gd name="adj" fmla="val 5612"/>
            </a:avLst>
          </a:prstGeom>
          <a:solidFill xmlns:a="http://schemas.openxmlformats.org/drawingml/2006/main">
            <a:srgbClr val="FFFFFF"/>
          </a:solidFill>
          <a:ln xmlns:a="http://schemas.openxmlformats.org/drawingml/2006/main" w="9525">
            <a:solidFill>
              <a:srgbClr val="E4E8EF"/>
            </a:solidFill>
            <a:prstDash val="solid"/>
          </a:ln>
        </p:spPr>
      </p:sp>
      <p:sp>
        <p:nvSpPr>
          <p:cNvPr id="9" name="market-label">
            <a:extLst xmlns:a="http://schemas.openxmlformats.org/drawingml/2006/main">
              <a:ext uri="{FF2B5EF4-FFF2-40B4-BE49-F238E27FC236}">
                <a16:creationId xmlns:a16="http://schemas.microsoft.com/office/drawing/2014/main" id="{5EC0D068-DA3C-4EBC-83C4-2059D69858EA}"/>
              </a:ext>
            </a:extLst>
          </p:cNvPr>
          <p:cNvSpPr>
            <a:spLocks xmlns:a="http://schemas.openxmlformats.org/drawingml/2006/main" noGrp="1"/>
          </p:cNvSpPr>
          <p:nvPr/>
        </p:nvSpPr>
        <p:spPr>
          <a:xfrm xmlns:a="http://schemas.openxmlformats.org/drawingml/2006/main">
            <a:off x="6286500" y="1885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87386"/>
                </a:solidFill>
                <a:latin typeface="Malgun Gothic"/>
                <a:ea typeface="Malgun Gothic"/>
                <a:cs typeface="Malgun Gothic"/>
              </a:defRPr>
            </a:pPr>
            <a:r>
              <a:rPr sz="1125" b="1">
                <a:solidFill>
                  <a:srgbClr val="687386"/>
                </a:solidFill>
                <a:latin typeface="Malgun Gothic"/>
                <a:ea typeface="Malgun Gothic"/>
                <a:cs typeface="Malgun Gothic"/>
              </a:rPr>
              <a:t>AI IN EDUCATION MARKET</a:t>
            </a:r>
          </a:p>
        </p:txBody>
      </p:sp>
      <p:sp>
        <p:nvSpPr>
          <p:cNvPr id="10" name="market-2026">
            <a:extLst xmlns:a="http://schemas.openxmlformats.org/drawingml/2006/main">
              <a:ext uri="{FF2B5EF4-FFF2-40B4-BE49-F238E27FC236}">
                <a16:creationId xmlns:a16="http://schemas.microsoft.com/office/drawing/2014/main" id="{0C2DB15E-7714-45A2-AC31-7E145F148E61}"/>
              </a:ext>
            </a:extLst>
          </p:cNvPr>
          <p:cNvSpPr>
            <a:spLocks xmlns:a="http://schemas.openxmlformats.org/drawingml/2006/main" noGrp="1"/>
          </p:cNvSpPr>
          <p:nvPr/>
        </p:nvSpPr>
        <p:spPr>
          <a:xfrm xmlns:a="http://schemas.openxmlformats.org/drawingml/2006/main">
            <a:off x="6286500" y="238125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0C1D3A"/>
                </a:solidFill>
                <a:latin typeface="Malgun Gothic"/>
                <a:ea typeface="Malgun Gothic"/>
                <a:cs typeface="Malgun Gothic"/>
              </a:defRPr>
            </a:pPr>
            <a:r>
              <a:rPr sz="3450" b="1">
                <a:solidFill>
                  <a:srgbClr val="0C1D3A"/>
                </a:solidFill>
                <a:latin typeface="Malgun Gothic"/>
                <a:ea typeface="Malgun Gothic"/>
                <a:cs typeface="Malgun Gothic"/>
              </a:rPr>
              <a:t>$11.4B</a:t>
            </a:r>
          </a:p>
        </p:txBody>
      </p:sp>
      <p:sp>
        <p:nvSpPr>
          <p:cNvPr id="11" name="market-2033">
            <a:extLst xmlns:a="http://schemas.openxmlformats.org/drawingml/2006/main">
              <a:ext uri="{FF2B5EF4-FFF2-40B4-BE49-F238E27FC236}">
                <a16:creationId xmlns:a16="http://schemas.microsoft.com/office/drawing/2014/main" id="{32F9E73E-5306-4C4E-B3C5-B6B2E6E59221}"/>
              </a:ext>
            </a:extLst>
          </p:cNvPr>
          <p:cNvSpPr>
            <a:spLocks xmlns:a="http://schemas.openxmlformats.org/drawingml/2006/main" noGrp="1"/>
          </p:cNvSpPr>
          <p:nvPr/>
        </p:nvSpPr>
        <p:spPr>
          <a:xfrm xmlns:a="http://schemas.openxmlformats.org/drawingml/2006/main">
            <a:off x="8915400" y="238125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2563EB"/>
                </a:solidFill>
                <a:latin typeface="Malgun Gothic"/>
                <a:ea typeface="Malgun Gothic"/>
                <a:cs typeface="Malgun Gothic"/>
              </a:defRPr>
            </a:pPr>
            <a:r>
              <a:rPr sz="3450" b="1">
                <a:solidFill>
                  <a:srgbClr val="2563EB"/>
                </a:solidFill>
                <a:latin typeface="Malgun Gothic"/>
                <a:ea typeface="Malgun Gothic"/>
                <a:cs typeface="Malgun Gothic"/>
              </a:rPr>
              <a:t>$57.2B</a:t>
            </a:r>
          </a:p>
        </p:txBody>
      </p:sp>
      <p:sp>
        <p:nvSpPr>
          <p:cNvPr id="12" name="market-year-2026">
            <a:extLst xmlns:a="http://schemas.openxmlformats.org/drawingml/2006/main">
              <a:ext uri="{FF2B5EF4-FFF2-40B4-BE49-F238E27FC236}">
                <a16:creationId xmlns:a16="http://schemas.microsoft.com/office/drawing/2014/main" id="{EB466878-B76E-4613-8EB3-8C227E0447D8}"/>
              </a:ext>
            </a:extLst>
          </p:cNvPr>
          <p:cNvSpPr>
            <a:spLocks xmlns:a="http://schemas.openxmlformats.org/drawingml/2006/main" noGrp="1"/>
          </p:cNvSpPr>
          <p:nvPr/>
        </p:nvSpPr>
        <p:spPr>
          <a:xfrm xmlns:a="http://schemas.openxmlformats.org/drawingml/2006/main">
            <a:off x="6286500" y="3067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386"/>
                </a:solidFill>
                <a:latin typeface="Malgun Gothic"/>
                <a:ea typeface="Malgun Gothic"/>
                <a:cs typeface="Malgun Gothic"/>
              </a:defRPr>
            </a:pPr>
            <a:r>
              <a:rPr sz="1200" b="0">
                <a:solidFill>
                  <a:srgbClr val="687386"/>
                </a:solidFill>
                <a:latin typeface="Malgun Gothic"/>
                <a:ea typeface="Malgun Gothic"/>
                <a:cs typeface="Malgun Gothic"/>
              </a:rPr>
              <a:t>2026 estimate</a:t>
            </a:r>
          </a:p>
        </p:txBody>
      </p:sp>
      <p:sp>
        <p:nvSpPr>
          <p:cNvPr id="13" name="market-year-2033">
            <a:extLst xmlns:a="http://schemas.openxmlformats.org/drawingml/2006/main">
              <a:ext uri="{FF2B5EF4-FFF2-40B4-BE49-F238E27FC236}">
                <a16:creationId xmlns:a16="http://schemas.microsoft.com/office/drawing/2014/main" id="{24436FDB-75CF-46AC-9FCE-A6DCA8DB9433}"/>
              </a:ext>
            </a:extLst>
          </p:cNvPr>
          <p:cNvSpPr>
            <a:spLocks xmlns:a="http://schemas.openxmlformats.org/drawingml/2006/main" noGrp="1"/>
          </p:cNvSpPr>
          <p:nvPr/>
        </p:nvSpPr>
        <p:spPr>
          <a:xfrm xmlns:a="http://schemas.openxmlformats.org/drawingml/2006/main">
            <a:off x="8915400" y="3067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386"/>
                </a:solidFill>
                <a:latin typeface="Malgun Gothic"/>
                <a:ea typeface="Malgun Gothic"/>
                <a:cs typeface="Malgun Gothic"/>
              </a:defRPr>
            </a:pPr>
            <a:r>
              <a:rPr sz="1200" b="0">
                <a:solidFill>
                  <a:srgbClr val="687386"/>
                </a:solidFill>
                <a:latin typeface="Malgun Gothic"/>
                <a:ea typeface="Malgun Gothic"/>
                <a:cs typeface="Malgun Gothic"/>
              </a:rPr>
              <a:t>2033 forecast</a:t>
            </a:r>
          </a:p>
        </p:txBody>
      </p:sp>
      <p:sp>
        <p:nvSpPr>
          <p:cNvPr id="14" name="market-line">
            <a:extLst xmlns:a="http://schemas.openxmlformats.org/drawingml/2006/main">
              <a:ext uri="{FF2B5EF4-FFF2-40B4-BE49-F238E27FC236}">
                <a16:creationId xmlns:a16="http://schemas.microsoft.com/office/drawing/2014/main" id="{51763E03-7BF4-4B61-9F87-861BCF855E40}"/>
              </a:ext>
            </a:extLst>
          </p:cNvPr>
          <p:cNvSpPr>
            <a:spLocks xmlns:a="http://schemas.openxmlformats.org/drawingml/2006/main" noGrp="1"/>
          </p:cNvSpPr>
          <p:nvPr/>
        </p:nvSpPr>
        <p:spPr>
          <a:xfrm xmlns:a="http://schemas.openxmlformats.org/drawingml/2006/main">
            <a:off x="6724650" y="3810000"/>
            <a:ext cx="3695700" cy="0"/>
          </a:xfrm>
          <a:prstGeom xmlns:a="http://schemas.openxmlformats.org/drawingml/2006/main" prst="line">
            <a:avLst/>
          </a:prstGeom>
          <a:noFill xmlns:a="http://schemas.openxmlformats.org/drawingml/2006/main"/>
          <a:ln xmlns:a="http://schemas.openxmlformats.org/drawingml/2006/main" w="47625">
            <a:solidFill>
              <a:srgbClr val="93C5FD"/>
            </a:solidFill>
            <a:prstDash val="solid"/>
          </a:ln>
        </p:spPr>
      </p:sp>
      <p:sp>
        <p:nvSpPr>
          <p:cNvPr id="15" name="market-dot-1">
            <a:extLst xmlns:a="http://schemas.openxmlformats.org/drawingml/2006/main">
              <a:ext uri="{FF2B5EF4-FFF2-40B4-BE49-F238E27FC236}">
                <a16:creationId xmlns:a16="http://schemas.microsoft.com/office/drawing/2014/main" id="{BFE79F0D-3B5E-45D1-8322-75AF95A7BCA9}"/>
              </a:ext>
            </a:extLst>
          </p:cNvPr>
          <p:cNvSpPr>
            <a:spLocks xmlns:a="http://schemas.openxmlformats.org/drawingml/2006/main" noGrp="1"/>
          </p:cNvSpPr>
          <p:nvPr/>
        </p:nvSpPr>
        <p:spPr>
          <a:xfrm xmlns:a="http://schemas.openxmlformats.org/drawingml/2006/main">
            <a:off x="6610350" y="3695700"/>
            <a:ext cx="228600" cy="228600"/>
          </a:xfrm>
          <a:prstGeom xmlns:a="http://schemas.openxmlformats.org/drawingml/2006/main" prst="roundRect">
            <a:avLst>
              <a:gd name="adj" fmla="val 50000"/>
            </a:avLst>
          </a:prstGeom>
          <a:solidFill xmlns:a="http://schemas.openxmlformats.org/drawingml/2006/main">
            <a:srgbClr val="1746A2"/>
          </a:solidFill>
          <a:ln xmlns:a="http://schemas.openxmlformats.org/drawingml/2006/main" w="9525">
            <a:solidFill>
              <a:srgbClr val="1746A2"/>
            </a:solidFill>
            <a:prstDash val="solid"/>
          </a:ln>
        </p:spPr>
      </p:sp>
      <p:sp>
        <p:nvSpPr>
          <p:cNvPr id="16" name="market-dot-2">
            <a:extLst xmlns:a="http://schemas.openxmlformats.org/drawingml/2006/main">
              <a:ext uri="{FF2B5EF4-FFF2-40B4-BE49-F238E27FC236}">
                <a16:creationId xmlns:a16="http://schemas.microsoft.com/office/drawing/2014/main" id="{9AC5BD37-CC36-4EFF-85AA-71E11193E35C}"/>
              </a:ext>
            </a:extLst>
          </p:cNvPr>
          <p:cNvSpPr>
            <a:spLocks xmlns:a="http://schemas.openxmlformats.org/drawingml/2006/main" noGrp="1"/>
          </p:cNvSpPr>
          <p:nvPr/>
        </p:nvSpPr>
        <p:spPr>
          <a:xfrm xmlns:a="http://schemas.openxmlformats.org/drawingml/2006/main">
            <a:off x="10306050" y="3695700"/>
            <a:ext cx="228600" cy="2286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9525">
            <a:solidFill>
              <a:srgbClr val="2563EB"/>
            </a:solidFill>
            <a:prstDash val="solid"/>
          </a:ln>
        </p:spPr>
      </p:sp>
      <p:sp>
        <p:nvSpPr>
          <p:cNvPr id="17" name="market-cagr">
            <a:extLst xmlns:a="http://schemas.openxmlformats.org/drawingml/2006/main">
              <a:ext uri="{FF2B5EF4-FFF2-40B4-BE49-F238E27FC236}">
                <a16:creationId xmlns:a16="http://schemas.microsoft.com/office/drawing/2014/main" id="{93532A7A-9988-4F3A-A5D5-2CD809FDDF0E}"/>
              </a:ext>
            </a:extLst>
          </p:cNvPr>
          <p:cNvSpPr>
            <a:spLocks xmlns:a="http://schemas.openxmlformats.org/drawingml/2006/main" noGrp="1"/>
          </p:cNvSpPr>
          <p:nvPr/>
        </p:nvSpPr>
        <p:spPr>
          <a:xfrm xmlns:a="http://schemas.openxmlformats.org/drawingml/2006/main">
            <a:off x="6286500" y="41719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746A2"/>
                </a:solidFill>
                <a:latin typeface="Malgun Gothic"/>
                <a:ea typeface="Malgun Gothic"/>
                <a:cs typeface="Malgun Gothic"/>
              </a:defRPr>
            </a:pPr>
            <a:r>
              <a:rPr sz="1800" b="1">
                <a:solidFill>
                  <a:srgbClr val="1746A2"/>
                </a:solidFill>
                <a:latin typeface="Malgun Gothic"/>
                <a:ea typeface="Malgun Gothic"/>
                <a:cs typeface="Malgun Gothic"/>
              </a:rPr>
              <a:t>25.9% CAGR · 2026–2033</a:t>
            </a:r>
          </a:p>
        </p:txBody>
      </p:sp>
      <p:sp>
        <p:nvSpPr>
          <p:cNvPr id="18" name="market-boundary">
            <a:extLst xmlns:a="http://schemas.openxmlformats.org/drawingml/2006/main">
              <a:ext uri="{FF2B5EF4-FFF2-40B4-BE49-F238E27FC236}">
                <a16:creationId xmlns:a16="http://schemas.microsoft.com/office/drawing/2014/main" id="{C23082CC-D029-47A2-99C9-7B14957D2A45}"/>
              </a:ext>
            </a:extLst>
          </p:cNvPr>
          <p:cNvSpPr>
            <a:spLocks xmlns:a="http://schemas.openxmlformats.org/drawingml/2006/main" noGrp="1"/>
          </p:cNvSpPr>
          <p:nvPr/>
        </p:nvSpPr>
        <p:spPr>
          <a:xfrm xmlns:a="http://schemas.openxmlformats.org/drawingml/2006/main">
            <a:off x="6286500" y="47625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217"/>
          </a:bodyPr>
          <a:lstStyle xmlns:a="http://schemas.openxmlformats.org/drawingml/2006/main"/>
          <a:p xmlns:a="http://schemas.openxmlformats.org/drawingml/2006/main">
            <a:pPr algn="ctr">
              <a:defRPr sz="1125" b="0">
                <a:solidFill>
                  <a:srgbClr val="687386"/>
                </a:solidFill>
                <a:latin typeface="Malgun Gothic"/>
                <a:ea typeface="Malgun Gothic"/>
                <a:cs typeface="Malgun Gothic"/>
              </a:defRPr>
            </a:pPr>
            <a:r>
              <a:rPr sz="1125" b="0">
                <a:solidFill>
                  <a:srgbClr val="687386"/>
                </a:solidFill>
                <a:latin typeface="Malgun Gothic"/>
                <a:ea typeface="Malgun Gothic"/>
                <a:cs typeface="Malgun Gothic"/>
              </a:rPr>
              <a:t>시장 규모는 category growth의 참고치이며 StudyMeta 매출기회와 동일하지 않습니다.</a:t>
            </a:r>
          </a:p>
        </p:txBody>
      </p:sp>
      <p:sp>
        <p:nvSpPr>
          <p:cNvPr id="19" name="why-question">
            <a:extLst xmlns:a="http://schemas.openxmlformats.org/drawingml/2006/main">
              <a:ext uri="{FF2B5EF4-FFF2-40B4-BE49-F238E27FC236}">
                <a16:creationId xmlns:a16="http://schemas.microsoft.com/office/drawing/2014/main" id="{822B186F-4B86-426A-A291-D76432F0D0C9}"/>
              </a:ext>
            </a:extLst>
          </p:cNvPr>
          <p:cNvSpPr>
            <a:spLocks xmlns:a="http://schemas.openxmlformats.org/drawingml/2006/main" noGrp="1"/>
          </p:cNvSpPr>
          <p:nvPr/>
        </p:nvSpPr>
        <p:spPr>
          <a:xfrm xmlns:a="http://schemas.openxmlformats.org/drawingml/2006/main">
            <a:off x="685800" y="58102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0C1D3A"/>
                </a:solidFill>
                <a:latin typeface="Malgun Gothic"/>
                <a:ea typeface="Malgun Gothic"/>
                <a:cs typeface="Malgun Gothic"/>
              </a:defRPr>
            </a:pPr>
            <a:r>
              <a:rPr sz="2250" b="1">
                <a:solidFill>
                  <a:srgbClr val="0C1D3A"/>
                </a:solidFill>
                <a:latin typeface="Malgun Gothic"/>
                <a:ea typeface="Malgun Gothic"/>
                <a:cs typeface="Malgun Gothic"/>
              </a:rPr>
              <a:t>Who owns the learner intelligence generated along the way?</a:t>
            </a:r>
          </a:p>
        </p:txBody>
      </p:sp>
    </p:spTree>
    <p:extLst>
      <p:ext uri="{BB962C8B-B14F-4D97-AF65-F5344CB8AC3E}">
        <p14:creationId xmlns:p14="http://schemas.microsoft.com/office/powerpoint/2010/main" val="1127621229"/>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eyebrow-10">
            <a:extLst xmlns:a="http://schemas.openxmlformats.org/drawingml/2006/main">
              <a:ext uri="{FF2B5EF4-FFF2-40B4-BE49-F238E27FC236}">
                <a16:creationId xmlns:a16="http://schemas.microsoft.com/office/drawing/2014/main" id="{9ED2A025-3AA8-42C1-A6EA-A762D7CCA107}"/>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STUDYMETA · FKI 더하기 창업</a:t>
            </a:r>
          </a:p>
        </p:txBody>
      </p:sp>
      <p:sp>
        <p:nvSpPr>
          <p:cNvPr id="2" name="title-10">
            <a:extLst xmlns:a="http://schemas.openxmlformats.org/drawingml/2006/main">
              <a:ext uri="{FF2B5EF4-FFF2-40B4-BE49-F238E27FC236}">
                <a16:creationId xmlns:a16="http://schemas.microsoft.com/office/drawing/2014/main" id="{A3967210-389B-457C-AFCF-A70C4FA821C3}"/>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FKI에서는 성장보다 먼저 세 가지 가설을 검증합니다</a:t>
            </a:r>
          </a:p>
        </p:txBody>
      </p:sp>
      <p:sp>
        <p:nvSpPr>
          <p:cNvPr id="3" name="page-10">
            <a:extLst xmlns:a="http://schemas.openxmlformats.org/drawingml/2006/main">
              <a:ext uri="{FF2B5EF4-FFF2-40B4-BE49-F238E27FC236}">
                <a16:creationId xmlns:a16="http://schemas.microsoft.com/office/drawing/2014/main" id="{8CA8383C-6ADA-4360-8283-77ECFD937631}"/>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10</a:t>
            </a:r>
          </a:p>
        </p:txBody>
      </p:sp>
      <p:sp>
        <p:nvSpPr>
          <p:cNvPr id="4" name="business-left">
            <a:extLst xmlns:a="http://schemas.openxmlformats.org/drawingml/2006/main">
              <a:ext uri="{FF2B5EF4-FFF2-40B4-BE49-F238E27FC236}">
                <a16:creationId xmlns:a16="http://schemas.microsoft.com/office/drawing/2014/main" id="{1F32F023-81BE-4A4A-BFA7-0F4CD497F4F0}"/>
              </a:ext>
            </a:extLst>
          </p:cNvPr>
          <p:cNvSpPr>
            <a:spLocks xmlns:a="http://schemas.openxmlformats.org/drawingml/2006/main" noGrp="1"/>
          </p:cNvSpPr>
          <p:nvPr/>
        </p:nvSpPr>
        <p:spPr>
          <a:xfrm xmlns:a="http://schemas.openxmlformats.org/drawingml/2006/main">
            <a:off x="685800" y="1466850"/>
            <a:ext cx="4933950" cy="4610100"/>
          </a:xfrm>
          <a:prstGeom xmlns:a="http://schemas.openxmlformats.org/drawingml/2006/main" prst="roundRect">
            <a:avLst>
              <a:gd name="adj" fmla="val 4132"/>
            </a:avLst>
          </a:prstGeom>
          <a:solidFill xmlns:a="http://schemas.openxmlformats.org/drawingml/2006/main">
            <a:srgbClr val="FFFFFF"/>
          </a:solidFill>
          <a:ln xmlns:a="http://schemas.openxmlformats.org/drawingml/2006/main" w="9525">
            <a:solidFill>
              <a:srgbClr val="E4E8EF"/>
            </a:solidFill>
            <a:prstDash val="solid"/>
          </a:ln>
        </p:spPr>
      </p:sp>
      <p:sp>
        <p:nvSpPr>
          <p:cNvPr id="5" name="business-head">
            <a:extLst xmlns:a="http://schemas.openxmlformats.org/drawingml/2006/main">
              <a:ext uri="{FF2B5EF4-FFF2-40B4-BE49-F238E27FC236}">
                <a16:creationId xmlns:a16="http://schemas.microsoft.com/office/drawing/2014/main" id="{02245986-8D66-4CE8-A0F0-21B3BF0E1811}"/>
              </a:ext>
            </a:extLst>
          </p:cNvPr>
          <p:cNvSpPr>
            <a:spLocks xmlns:a="http://schemas.openxmlformats.org/drawingml/2006/main" noGrp="1"/>
          </p:cNvSpPr>
          <p:nvPr/>
        </p:nvSpPr>
        <p:spPr>
          <a:xfrm xmlns:a="http://schemas.openxmlformats.org/drawingml/2006/main">
            <a:off x="990600" y="17526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87386"/>
                </a:solidFill>
                <a:latin typeface="Malgun Gothic"/>
                <a:ea typeface="Malgun Gothic"/>
                <a:cs typeface="Malgun Gothic"/>
              </a:defRPr>
            </a:pPr>
            <a:r>
              <a:rPr sz="1125" b="1">
                <a:solidFill>
                  <a:srgbClr val="687386"/>
                </a:solidFill>
                <a:latin typeface="Malgun Gothic"/>
                <a:ea typeface="Malgun Gothic"/>
                <a:cs typeface="Malgun Gothic"/>
              </a:rPr>
              <a:t>BUSINESS PATH</a:t>
            </a:r>
          </a:p>
        </p:txBody>
      </p:sp>
      <p:sp>
        <p:nvSpPr>
          <p:cNvPr id="6" name="phase1-box">
            <a:extLst xmlns:a="http://schemas.openxmlformats.org/drawingml/2006/main">
              <a:ext uri="{FF2B5EF4-FFF2-40B4-BE49-F238E27FC236}">
                <a16:creationId xmlns:a16="http://schemas.microsoft.com/office/drawing/2014/main" id="{E55354D8-9A29-46B0-A411-9FB372E8C0C1}"/>
              </a:ext>
            </a:extLst>
          </p:cNvPr>
          <p:cNvSpPr>
            <a:spLocks xmlns:a="http://schemas.openxmlformats.org/drawingml/2006/main" noGrp="1"/>
          </p:cNvSpPr>
          <p:nvPr/>
        </p:nvSpPr>
        <p:spPr>
          <a:xfrm xmlns:a="http://schemas.openxmlformats.org/drawingml/2006/main">
            <a:off x="990600" y="2171700"/>
            <a:ext cx="23812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7" name="phase1">
            <a:extLst xmlns:a="http://schemas.openxmlformats.org/drawingml/2006/main">
              <a:ext uri="{FF2B5EF4-FFF2-40B4-BE49-F238E27FC236}">
                <a16:creationId xmlns:a16="http://schemas.microsoft.com/office/drawing/2014/main" id="{2D26791F-A1C0-41E1-A9B9-D934F11899D1}"/>
              </a:ext>
            </a:extLst>
          </p:cNvPr>
          <p:cNvSpPr>
            <a:spLocks xmlns:a="http://schemas.openxmlformats.org/drawingml/2006/main" noGrp="1"/>
          </p:cNvSpPr>
          <p:nvPr/>
        </p:nvSpPr>
        <p:spPr>
          <a:xfrm xmlns:a="http://schemas.openxmlformats.org/drawingml/2006/main">
            <a:off x="990600" y="21812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PHASE 1 · B2C VALIDATION</a:t>
            </a:r>
          </a:p>
        </p:txBody>
      </p:sp>
      <p:sp>
        <p:nvSpPr>
          <p:cNvPr id="8" name="b2c">
            <a:extLst xmlns:a="http://schemas.openxmlformats.org/drawingml/2006/main">
              <a:ext uri="{FF2B5EF4-FFF2-40B4-BE49-F238E27FC236}">
                <a16:creationId xmlns:a16="http://schemas.microsoft.com/office/drawing/2014/main" id="{A9F1E012-7780-43D9-80CF-E07E3B5CAA00}"/>
              </a:ext>
            </a:extLst>
          </p:cNvPr>
          <p:cNvSpPr>
            <a:spLocks xmlns:a="http://schemas.openxmlformats.org/drawingml/2006/main" noGrp="1"/>
          </p:cNvSpPr>
          <p:nvPr/>
        </p:nvSpPr>
        <p:spPr>
          <a:xfrm xmlns:a="http://schemas.openxmlformats.org/drawingml/2006/main">
            <a:off x="990600" y="26479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1575" b="1">
                <a:solidFill>
                  <a:srgbClr val="18212F"/>
                </a:solidFill>
                <a:latin typeface="Malgun Gothic"/>
                <a:ea typeface="Malgun Gothic"/>
                <a:cs typeface="Malgun Gothic"/>
              </a:defRPr>
            </a:pPr>
            <a:r>
              <a:rPr sz="1575" b="1">
                <a:solidFill>
                  <a:srgbClr val="18212F"/>
                </a:solidFill>
                <a:latin typeface="Malgun Gothic"/>
                <a:ea typeface="Malgun Gothic"/>
                <a:cs typeface="Malgun Gothic"/>
              </a:rPr>
              <a:t>College Calculus / STEM students</a:t>
            </a:r>
          </a:p>
          <a:p xmlns:a="http://schemas.openxmlformats.org/drawingml/2006/main">
            <a:pPr algn="l">
              <a:defRPr sz="1575" b="1">
                <a:solidFill>
                  <a:srgbClr val="18212F"/>
                </a:solidFill>
                <a:latin typeface="Malgun Gothic"/>
                <a:ea typeface="Malgun Gothic"/>
                <a:cs typeface="Malgun Gothic"/>
              </a:defRPr>
            </a:pPr>
            <a:r>
              <a:rPr sz="1575" b="1">
                <a:solidFill>
                  <a:srgbClr val="18212F"/>
                </a:solidFill>
                <a:latin typeface="Malgun Gothic"/>
                <a:ea typeface="Malgun Gothic"/>
                <a:cs typeface="Malgun Gothic"/>
              </a:rPr>
              <a:t>어떤 AI를 써도 취약 개념과 도움 수준을 이어서 추적</a:t>
            </a:r>
          </a:p>
        </p:txBody>
      </p:sp>
      <p:sp>
        <p:nvSpPr>
          <p:cNvPr id="9" name="price-box">
            <a:extLst xmlns:a="http://schemas.openxmlformats.org/drawingml/2006/main">
              <a:ext uri="{FF2B5EF4-FFF2-40B4-BE49-F238E27FC236}">
                <a16:creationId xmlns:a16="http://schemas.microsoft.com/office/drawing/2014/main" id="{E8205479-64D9-419A-8FB0-A1B00F1C3758}"/>
              </a:ext>
            </a:extLst>
          </p:cNvPr>
          <p:cNvSpPr>
            <a:spLocks xmlns:a="http://schemas.openxmlformats.org/drawingml/2006/main" noGrp="1"/>
          </p:cNvSpPr>
          <p:nvPr/>
        </p:nvSpPr>
        <p:spPr>
          <a:xfrm xmlns:a="http://schemas.openxmlformats.org/drawingml/2006/main">
            <a:off x="990600" y="3543300"/>
            <a:ext cx="4095750" cy="685800"/>
          </a:xfrm>
          <a:prstGeom xmlns:a="http://schemas.openxmlformats.org/drawingml/2006/main" prst="roundRect">
            <a:avLst>
              <a:gd name="adj" fmla="val 19444"/>
            </a:avLst>
          </a:prstGeom>
          <a:solidFill xmlns:a="http://schemas.openxmlformats.org/drawingml/2006/main">
            <a:srgbClr val="FFFBEB"/>
          </a:solidFill>
          <a:ln xmlns:a="http://schemas.openxmlformats.org/drawingml/2006/main" w="9525">
            <a:solidFill>
              <a:srgbClr val="E8C86A"/>
            </a:solidFill>
            <a:prstDash val="solid"/>
          </a:ln>
        </p:spPr>
      </p:sp>
      <p:sp>
        <p:nvSpPr>
          <p:cNvPr id="10" name="price">
            <a:extLst xmlns:a="http://schemas.openxmlformats.org/drawingml/2006/main">
              <a:ext uri="{FF2B5EF4-FFF2-40B4-BE49-F238E27FC236}">
                <a16:creationId xmlns:a16="http://schemas.microsoft.com/office/drawing/2014/main" id="{E80BFA14-C78C-448D-B8A7-16E6A637CD76}"/>
              </a:ext>
            </a:extLst>
          </p:cNvPr>
          <p:cNvSpPr>
            <a:spLocks xmlns:a="http://schemas.openxmlformats.org/drawingml/2006/main" noGrp="1"/>
          </p:cNvSpPr>
          <p:nvPr/>
        </p:nvSpPr>
        <p:spPr>
          <a:xfrm xmlns:a="http://schemas.openxmlformats.org/drawingml/2006/main">
            <a:off x="1181100" y="36576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75" b="1">
                <a:solidFill>
                  <a:srgbClr val="A16207"/>
                </a:solidFill>
                <a:latin typeface="Malgun Gothic"/>
                <a:ea typeface="Malgun Gothic"/>
                <a:cs typeface="Malgun Gothic"/>
              </a:defRPr>
            </a:pPr>
            <a:r>
              <a:rPr sz="2175" b="1">
                <a:solidFill>
                  <a:srgbClr val="A16207"/>
                </a:solidFill>
                <a:latin typeface="Malgun Gothic"/>
                <a:ea typeface="Malgun Gothic"/>
                <a:cs typeface="Malgun Gothic"/>
              </a:rPr>
              <a:t>₩9,900 / month</a:t>
            </a:r>
          </a:p>
        </p:txBody>
      </p:sp>
      <p:sp>
        <p:nvSpPr>
          <p:cNvPr id="11" name="price-hyp">
            <a:extLst xmlns:a="http://schemas.openxmlformats.org/drawingml/2006/main">
              <a:ext uri="{FF2B5EF4-FFF2-40B4-BE49-F238E27FC236}">
                <a16:creationId xmlns:a16="http://schemas.microsoft.com/office/drawing/2014/main" id="{0FC5366D-423F-4E18-9474-CFD2332A1C58}"/>
              </a:ext>
            </a:extLst>
          </p:cNvPr>
          <p:cNvSpPr>
            <a:spLocks xmlns:a="http://schemas.openxmlformats.org/drawingml/2006/main" noGrp="1"/>
          </p:cNvSpPr>
          <p:nvPr/>
        </p:nvSpPr>
        <p:spPr>
          <a:xfrm xmlns:a="http://schemas.openxmlformats.org/drawingml/2006/main">
            <a:off x="3505200" y="3752850"/>
            <a:ext cx="1390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16207"/>
                </a:solidFill>
                <a:latin typeface="Malgun Gothic"/>
                <a:ea typeface="Malgun Gothic"/>
                <a:cs typeface="Malgun Gothic"/>
              </a:defRPr>
            </a:pPr>
            <a:r>
              <a:rPr sz="975" b="1">
                <a:solidFill>
                  <a:srgbClr val="A16207"/>
                </a:solidFill>
                <a:latin typeface="Malgun Gothic"/>
                <a:ea typeface="Malgun Gothic"/>
                <a:cs typeface="Malgun Gothic"/>
              </a:rPr>
              <a:t>PRICE HYPOTHESIS</a:t>
            </a:r>
          </a:p>
        </p:txBody>
      </p:sp>
      <p:sp>
        <p:nvSpPr>
          <p:cNvPr id="12" name="business-arrow">
            <a:extLst xmlns:a="http://schemas.openxmlformats.org/drawingml/2006/main">
              <a:ext uri="{FF2B5EF4-FFF2-40B4-BE49-F238E27FC236}">
                <a16:creationId xmlns:a16="http://schemas.microsoft.com/office/drawing/2014/main" id="{10AA7539-080C-4CAA-B001-13F204CD8B89}"/>
              </a:ext>
            </a:extLst>
          </p:cNvPr>
          <p:cNvSpPr>
            <a:spLocks xmlns:a="http://schemas.openxmlformats.org/drawingml/2006/main" noGrp="1"/>
          </p:cNvSpPr>
          <p:nvPr/>
        </p:nvSpPr>
        <p:spPr>
          <a:xfrm xmlns:a="http://schemas.openxmlformats.org/drawingml/2006/main">
            <a:off x="2609850" y="432435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a:solidFill>
                  <a:srgbClr val="2563EB"/>
                </a:solidFill>
                <a:latin typeface="Malgun Gothic"/>
                <a:ea typeface="Malgun Gothic"/>
                <a:cs typeface="Malgun Gothic"/>
              </a:defRPr>
            </a:pPr>
            <a:r>
              <a:rPr sz="2100" b="1">
                <a:solidFill>
                  <a:srgbClr val="2563EB"/>
                </a:solidFill>
                <a:latin typeface="Malgun Gothic"/>
                <a:ea typeface="Malgun Gothic"/>
                <a:cs typeface="Malgun Gothic"/>
              </a:rPr>
              <a:t>↓</a:t>
            </a:r>
          </a:p>
        </p:txBody>
      </p:sp>
      <p:sp>
        <p:nvSpPr>
          <p:cNvPr id="13" name="phase2-box">
            <a:extLst xmlns:a="http://schemas.openxmlformats.org/drawingml/2006/main">
              <a:ext uri="{FF2B5EF4-FFF2-40B4-BE49-F238E27FC236}">
                <a16:creationId xmlns:a16="http://schemas.microsoft.com/office/drawing/2014/main" id="{38CFB0F1-2217-4DF8-A9B1-14A8B28841F4}"/>
              </a:ext>
            </a:extLst>
          </p:cNvPr>
          <p:cNvSpPr>
            <a:spLocks xmlns:a="http://schemas.openxmlformats.org/drawingml/2006/main" noGrp="1"/>
          </p:cNvSpPr>
          <p:nvPr/>
        </p:nvSpPr>
        <p:spPr>
          <a:xfrm xmlns:a="http://schemas.openxmlformats.org/drawingml/2006/main">
            <a:off x="990600" y="4743450"/>
            <a:ext cx="171450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14" name="phase2">
            <a:extLst xmlns:a="http://schemas.openxmlformats.org/drawingml/2006/main">
              <a:ext uri="{FF2B5EF4-FFF2-40B4-BE49-F238E27FC236}">
                <a16:creationId xmlns:a16="http://schemas.microsoft.com/office/drawing/2014/main" id="{5D523A99-B0F4-4CB5-960B-6E2AA2C85CF3}"/>
              </a:ext>
            </a:extLst>
          </p:cNvPr>
          <p:cNvSpPr>
            <a:spLocks xmlns:a="http://schemas.openxmlformats.org/drawingml/2006/main" noGrp="1"/>
          </p:cNvSpPr>
          <p:nvPr/>
        </p:nvSpPr>
        <p:spPr>
          <a:xfrm xmlns:a="http://schemas.openxmlformats.org/drawingml/2006/main">
            <a:off x="990600" y="47529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PHASE 2 · B2B</a:t>
            </a:r>
          </a:p>
        </p:txBody>
      </p:sp>
      <p:sp>
        <p:nvSpPr>
          <p:cNvPr id="15" name="b2b">
            <a:extLst xmlns:a="http://schemas.openxmlformats.org/drawingml/2006/main">
              <a:ext uri="{FF2B5EF4-FFF2-40B4-BE49-F238E27FC236}">
                <a16:creationId xmlns:a16="http://schemas.microsoft.com/office/drawing/2014/main" id="{BD76B1CB-34A7-4608-A010-1889951DAB21}"/>
              </a:ext>
            </a:extLst>
          </p:cNvPr>
          <p:cNvSpPr>
            <a:spLocks xmlns:a="http://schemas.openxmlformats.org/drawingml/2006/main" noGrp="1"/>
          </p:cNvSpPr>
          <p:nvPr/>
        </p:nvSpPr>
        <p:spPr>
          <a:xfrm xmlns:a="http://schemas.openxmlformats.org/drawingml/2006/main">
            <a:off x="990600" y="521970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8212F"/>
                </a:solidFill>
                <a:latin typeface="Malgun Gothic"/>
                <a:ea typeface="Malgun Gothic"/>
                <a:cs typeface="Malgun Gothic"/>
              </a:defRPr>
            </a:pPr>
            <a:r>
              <a:rPr sz="1500" b="1">
                <a:solidFill>
                  <a:srgbClr val="18212F"/>
                </a:solidFill>
                <a:latin typeface="Malgun Gothic"/>
                <a:ea typeface="Malgun Gothic"/>
                <a:cs typeface="Malgun Gothic"/>
              </a:rPr>
              <a:t>Learner Intelligence API / MCP</a:t>
            </a:r>
          </a:p>
          <a:p xmlns:a="http://schemas.openxmlformats.org/drawingml/2006/main">
            <a:pPr algn="l">
              <a:defRPr sz="1500" b="1">
                <a:solidFill>
                  <a:srgbClr val="18212F"/>
                </a:solidFill>
                <a:latin typeface="Malgun Gothic"/>
                <a:ea typeface="Malgun Gothic"/>
                <a:cs typeface="Malgun Gothic"/>
              </a:defRPr>
            </a:pPr>
            <a:r>
              <a:rPr sz="1500" b="1">
                <a:solidFill>
                  <a:srgbClr val="18212F"/>
                </a:solidFill>
                <a:latin typeface="Malgun Gothic"/>
                <a:ea typeface="Malgun Gothic"/>
                <a:cs typeface="Malgun Gothic"/>
              </a:rPr>
              <a:t>AI Tutor · EdTech · Learning Platforms</a:t>
            </a:r>
          </a:p>
        </p:txBody>
      </p:sp>
      <p:sp>
        <p:nvSpPr>
          <p:cNvPr id="16" name="validation-right">
            <a:extLst xmlns:a="http://schemas.openxmlformats.org/drawingml/2006/main">
              <a:ext uri="{FF2B5EF4-FFF2-40B4-BE49-F238E27FC236}">
                <a16:creationId xmlns:a16="http://schemas.microsoft.com/office/drawing/2014/main" id="{9BE60DD9-4B0C-42D5-B1E9-3D5125E4D8C3}"/>
              </a:ext>
            </a:extLst>
          </p:cNvPr>
          <p:cNvSpPr>
            <a:spLocks xmlns:a="http://schemas.openxmlformats.org/drawingml/2006/main" noGrp="1"/>
          </p:cNvSpPr>
          <p:nvPr/>
        </p:nvSpPr>
        <p:spPr>
          <a:xfrm xmlns:a="http://schemas.openxmlformats.org/drawingml/2006/main">
            <a:off x="5924550" y="1466850"/>
            <a:ext cx="5581650" cy="4610100"/>
          </a:xfrm>
          <a:prstGeom xmlns:a="http://schemas.openxmlformats.org/drawingml/2006/main" prst="roundRect">
            <a:avLst>
              <a:gd name="adj" fmla="val 4132"/>
            </a:avLst>
          </a:prstGeom>
          <a:solidFill xmlns:a="http://schemas.openxmlformats.org/drawingml/2006/main">
            <a:srgbClr val="0C1D3A"/>
          </a:solidFill>
          <a:ln xmlns:a="http://schemas.openxmlformats.org/drawingml/2006/main" w="9525">
            <a:solidFill>
              <a:srgbClr val="0C1D3A"/>
            </a:solidFill>
            <a:prstDash val="solid"/>
          </a:ln>
        </p:spPr>
      </p:sp>
      <p:sp>
        <p:nvSpPr>
          <p:cNvPr id="17" name="validation-head">
            <a:extLst xmlns:a="http://schemas.openxmlformats.org/drawingml/2006/main">
              <a:ext uri="{FF2B5EF4-FFF2-40B4-BE49-F238E27FC236}">
                <a16:creationId xmlns:a16="http://schemas.microsoft.com/office/drawing/2014/main" id="{72C94ED9-B42B-4D4A-9E01-5FBFC226A7D2}"/>
              </a:ext>
            </a:extLst>
          </p:cNvPr>
          <p:cNvSpPr>
            <a:spLocks xmlns:a="http://schemas.openxmlformats.org/drawingml/2006/main" noGrp="1"/>
          </p:cNvSpPr>
          <p:nvPr/>
        </p:nvSpPr>
        <p:spPr>
          <a:xfrm xmlns:a="http://schemas.openxmlformats.org/drawingml/2006/main">
            <a:off x="6248400" y="17526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BFD2FF"/>
                </a:solidFill>
                <a:latin typeface="Malgun Gothic"/>
                <a:ea typeface="Malgun Gothic"/>
                <a:cs typeface="Malgun Gothic"/>
              </a:defRPr>
            </a:pPr>
            <a:r>
              <a:rPr sz="1200" b="1">
                <a:solidFill>
                  <a:srgbClr val="BFD2FF"/>
                </a:solidFill>
                <a:latin typeface="Malgun Gothic"/>
                <a:ea typeface="Malgun Gothic"/>
                <a:cs typeface="Malgun Gothic"/>
              </a:rPr>
              <a:t>12-WEEK VALIDATION</a:t>
            </a:r>
          </a:p>
        </p:txBody>
      </p:sp>
      <p:sp>
        <p:nvSpPr>
          <p:cNvPr id="18" name="pilot">
            <a:extLst xmlns:a="http://schemas.openxmlformats.org/drawingml/2006/main">
              <a:ext uri="{FF2B5EF4-FFF2-40B4-BE49-F238E27FC236}">
                <a16:creationId xmlns:a16="http://schemas.microsoft.com/office/drawing/2014/main" id="{72B8A734-592B-43DE-9385-176C5D489E69}"/>
              </a:ext>
            </a:extLst>
          </p:cNvPr>
          <p:cNvSpPr>
            <a:spLocks xmlns:a="http://schemas.openxmlformats.org/drawingml/2006/main" noGrp="1"/>
          </p:cNvSpPr>
          <p:nvPr/>
        </p:nvSpPr>
        <p:spPr>
          <a:xfrm xmlns:a="http://schemas.openxmlformats.org/drawingml/2006/main">
            <a:off x="6248400" y="21526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20-user exploratory pilot</a:t>
            </a:r>
          </a:p>
        </p:txBody>
      </p:sp>
      <p:sp>
        <p:nvSpPr>
          <p:cNvPr id="19" name="h-tag-0">
            <a:extLst xmlns:a="http://schemas.openxmlformats.org/drawingml/2006/main">
              <a:ext uri="{FF2B5EF4-FFF2-40B4-BE49-F238E27FC236}">
                <a16:creationId xmlns:a16="http://schemas.microsoft.com/office/drawing/2014/main" id="{5260CB50-7CE2-4ED5-B685-59895A30CC99}"/>
              </a:ext>
            </a:extLst>
          </p:cNvPr>
          <p:cNvSpPr>
            <a:spLocks xmlns:a="http://schemas.openxmlformats.org/drawingml/2006/main" noGrp="1"/>
          </p:cNvSpPr>
          <p:nvPr/>
        </p:nvSpPr>
        <p:spPr>
          <a:xfrm xmlns:a="http://schemas.openxmlformats.org/drawingml/2006/main">
            <a:off x="6248400" y="28956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9FC0FF"/>
                </a:solidFill>
                <a:latin typeface="Malgun Gothic"/>
                <a:ea typeface="Malgun Gothic"/>
                <a:cs typeface="Malgun Gothic"/>
              </a:defRPr>
            </a:pPr>
            <a:r>
              <a:rPr sz="1275" b="1">
                <a:solidFill>
                  <a:srgbClr val="9FC0FF"/>
                </a:solidFill>
                <a:latin typeface="Malgun Gothic"/>
                <a:ea typeface="Malgun Gothic"/>
                <a:cs typeface="Malgun Gothic"/>
              </a:rPr>
              <a:t>H1 · PAIN</a:t>
            </a:r>
          </a:p>
        </p:txBody>
      </p:sp>
      <p:sp>
        <p:nvSpPr>
          <p:cNvPr id="20" name="h-body-0">
            <a:extLst xmlns:a="http://schemas.openxmlformats.org/drawingml/2006/main">
              <a:ext uri="{FF2B5EF4-FFF2-40B4-BE49-F238E27FC236}">
                <a16:creationId xmlns:a16="http://schemas.microsoft.com/office/drawing/2014/main" id="{A561F2A5-634A-4CE5-887E-D18AC7E7F695}"/>
              </a:ext>
            </a:extLst>
          </p:cNvPr>
          <p:cNvSpPr>
            <a:spLocks xmlns:a="http://schemas.openxmlformats.org/drawingml/2006/main" noGrp="1"/>
          </p:cNvSpPr>
          <p:nvPr/>
        </p:nvSpPr>
        <p:spPr>
          <a:xfrm xmlns:a="http://schemas.openxmlformats.org/drawingml/2006/main">
            <a:off x="7677150" y="28765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Cross-AI 학습 맥락 단절을 실제 문제로 느끼는가?</a:t>
            </a:r>
          </a:p>
        </p:txBody>
      </p:sp>
      <p:sp>
        <p:nvSpPr>
          <p:cNvPr id="21" name="h-tag-1">
            <a:extLst xmlns:a="http://schemas.openxmlformats.org/drawingml/2006/main">
              <a:ext uri="{FF2B5EF4-FFF2-40B4-BE49-F238E27FC236}">
                <a16:creationId xmlns:a16="http://schemas.microsoft.com/office/drawing/2014/main" id="{353A6655-FB61-461E-BE74-EB35DDB2841F}"/>
              </a:ext>
            </a:extLst>
          </p:cNvPr>
          <p:cNvSpPr>
            <a:spLocks xmlns:a="http://schemas.openxmlformats.org/drawingml/2006/main" noGrp="1"/>
          </p:cNvSpPr>
          <p:nvPr/>
        </p:nvSpPr>
        <p:spPr>
          <a:xfrm xmlns:a="http://schemas.openxmlformats.org/drawingml/2006/main">
            <a:off x="6248400" y="36766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9FC0FF"/>
                </a:solidFill>
                <a:latin typeface="Malgun Gothic"/>
                <a:ea typeface="Malgun Gothic"/>
                <a:cs typeface="Malgun Gothic"/>
              </a:defRPr>
            </a:pPr>
            <a:r>
              <a:rPr sz="1275" b="1">
                <a:solidFill>
                  <a:srgbClr val="9FC0FF"/>
                </a:solidFill>
                <a:latin typeface="Malgun Gothic"/>
                <a:ea typeface="Malgun Gothic"/>
                <a:cs typeface="Malgun Gothic"/>
              </a:rPr>
              <a:t>H2 · VALUE</a:t>
            </a:r>
          </a:p>
        </p:txBody>
      </p:sp>
      <p:sp>
        <p:nvSpPr>
          <p:cNvPr id="22" name="h-body-1">
            <a:extLst xmlns:a="http://schemas.openxmlformats.org/drawingml/2006/main">
              <a:ext uri="{FF2B5EF4-FFF2-40B4-BE49-F238E27FC236}">
                <a16:creationId xmlns:a16="http://schemas.microsoft.com/office/drawing/2014/main" id="{C8EB04B1-BF8A-4FB4-85C2-AC2D60BB7D4A}"/>
              </a:ext>
            </a:extLst>
          </p:cNvPr>
          <p:cNvSpPr>
            <a:spLocks xmlns:a="http://schemas.openxmlformats.org/drawingml/2006/main" noGrp="1"/>
          </p:cNvSpPr>
          <p:nvPr/>
        </p:nvSpPr>
        <p:spPr>
          <a:xfrm xmlns:a="http://schemas.openxmlformats.org/drawingml/2006/main">
            <a:off x="7677150" y="36576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Learner Context가 개인화 품질과 힌트 적합도를 높이는가?</a:t>
            </a:r>
          </a:p>
        </p:txBody>
      </p:sp>
      <p:sp>
        <p:nvSpPr>
          <p:cNvPr id="23" name="h-tag-2">
            <a:extLst xmlns:a="http://schemas.openxmlformats.org/drawingml/2006/main">
              <a:ext uri="{FF2B5EF4-FFF2-40B4-BE49-F238E27FC236}">
                <a16:creationId xmlns:a16="http://schemas.microsoft.com/office/drawing/2014/main" id="{04894E14-1BA8-4F41-8CDF-A96C2632776C}"/>
              </a:ext>
            </a:extLst>
          </p:cNvPr>
          <p:cNvSpPr>
            <a:spLocks xmlns:a="http://schemas.openxmlformats.org/drawingml/2006/main" noGrp="1"/>
          </p:cNvSpPr>
          <p:nvPr/>
        </p:nvSpPr>
        <p:spPr>
          <a:xfrm xmlns:a="http://schemas.openxmlformats.org/drawingml/2006/main">
            <a:off x="6248400" y="44577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68"/>
          </a:bodyPr>
          <a:lstStyle xmlns:a="http://schemas.openxmlformats.org/drawingml/2006/main"/>
          <a:p xmlns:a="http://schemas.openxmlformats.org/drawingml/2006/main">
            <a:pPr algn="l">
              <a:defRPr sz="1275" b="1">
                <a:solidFill>
                  <a:srgbClr val="9FC0FF"/>
                </a:solidFill>
                <a:latin typeface="Malgun Gothic"/>
                <a:ea typeface="Malgun Gothic"/>
                <a:cs typeface="Malgun Gothic"/>
              </a:defRPr>
            </a:pPr>
            <a:r>
              <a:rPr sz="1275" b="1">
                <a:solidFill>
                  <a:srgbClr val="9FC0FF"/>
                </a:solidFill>
                <a:latin typeface="Malgun Gothic"/>
                <a:ea typeface="Malgun Gothic"/>
                <a:cs typeface="Malgun Gothic"/>
              </a:rPr>
              <a:t>H3 · PORTABILITY</a:t>
            </a:r>
          </a:p>
        </p:txBody>
      </p:sp>
      <p:sp>
        <p:nvSpPr>
          <p:cNvPr id="24" name="h-body-2">
            <a:extLst xmlns:a="http://schemas.openxmlformats.org/drawingml/2006/main">
              <a:ext uri="{FF2B5EF4-FFF2-40B4-BE49-F238E27FC236}">
                <a16:creationId xmlns:a16="http://schemas.microsoft.com/office/drawing/2014/main" id="{70E93396-64D2-4D00-A3CB-06D6C0881341}"/>
              </a:ext>
            </a:extLst>
          </p:cNvPr>
          <p:cNvSpPr>
            <a:spLocks xmlns:a="http://schemas.openxmlformats.org/drawingml/2006/main" noGrp="1"/>
          </p:cNvSpPr>
          <p:nvPr/>
        </p:nvSpPr>
        <p:spPr>
          <a:xfrm xmlns:a="http://schemas.openxmlformats.org/drawingml/2006/main">
            <a:off x="7677150" y="44386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Single-AI Memory 대비 추가 가치가 있는가?</a:t>
            </a:r>
          </a:p>
        </p:txBody>
      </p:sp>
      <p:sp>
        <p:nvSpPr>
          <p:cNvPr id="25" name="validation-rule">
            <a:extLst xmlns:a="http://schemas.openxmlformats.org/drawingml/2006/main">
              <a:ext uri="{FF2B5EF4-FFF2-40B4-BE49-F238E27FC236}">
                <a16:creationId xmlns:a16="http://schemas.microsoft.com/office/drawing/2014/main" id="{218F0F76-CBBE-4F74-912B-B553EE802210}"/>
              </a:ext>
            </a:extLst>
          </p:cNvPr>
          <p:cNvSpPr>
            <a:spLocks xmlns:a="http://schemas.openxmlformats.org/drawingml/2006/main" noGrp="1"/>
          </p:cNvSpPr>
          <p:nvPr/>
        </p:nvSpPr>
        <p:spPr>
          <a:xfrm xmlns:a="http://schemas.openxmlformats.org/drawingml/2006/main">
            <a:off x="6248400" y="5219700"/>
            <a:ext cx="4762500" cy="0"/>
          </a:xfrm>
          <a:prstGeom xmlns:a="http://schemas.openxmlformats.org/drawingml/2006/main" prst="line">
            <a:avLst/>
          </a:prstGeom>
          <a:noFill xmlns:a="http://schemas.openxmlformats.org/drawingml/2006/main"/>
          <a:ln xmlns:a="http://schemas.openxmlformats.org/drawingml/2006/main" w="9525">
            <a:solidFill>
              <a:srgbClr val="3A4E72"/>
            </a:solidFill>
            <a:prstDash val="solid"/>
          </a:ln>
        </p:spPr>
      </p:sp>
      <p:sp>
        <p:nvSpPr>
          <p:cNvPr id="26" name="pilot-metrics">
            <a:extLst xmlns:a="http://schemas.openxmlformats.org/drawingml/2006/main">
              <a:ext uri="{FF2B5EF4-FFF2-40B4-BE49-F238E27FC236}">
                <a16:creationId xmlns:a16="http://schemas.microsoft.com/office/drawing/2014/main" id="{E9836AE3-DF3C-4113-880D-A3A2066DA18E}"/>
              </a:ext>
            </a:extLst>
          </p:cNvPr>
          <p:cNvSpPr>
            <a:spLocks xmlns:a="http://schemas.openxmlformats.org/drawingml/2006/main" noGrp="1"/>
          </p:cNvSpPr>
          <p:nvPr/>
        </p:nvSpPr>
        <p:spPr>
          <a:xfrm xmlns:a="http://schemas.openxmlformats.org/drawingml/2006/main">
            <a:off x="6248400" y="54102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D5DFF0"/>
                </a:solidFill>
                <a:latin typeface="Malgun Gothic"/>
                <a:ea typeface="Malgun Gothic"/>
                <a:cs typeface="Malgun Gothic"/>
              </a:defRPr>
            </a:pPr>
            <a:r>
              <a:rPr sz="1200" b="0">
                <a:solidFill>
                  <a:srgbClr val="D5DFF0"/>
                </a:solidFill>
                <a:latin typeface="Malgun Gothic"/>
                <a:ea typeface="Malgun Gothic"/>
                <a:cs typeface="Malgun Gothic"/>
              </a:rPr>
              <a:t>Personalization · Hint fit · Independent retry · Weekly reuse · WTP</a:t>
            </a:r>
          </a:p>
        </p:txBody>
      </p:sp>
      <p:sp>
        <p:nvSpPr>
          <p:cNvPr id="27" name="pilot-boundary">
            <a:extLst xmlns:a="http://schemas.openxmlformats.org/drawingml/2006/main">
              <a:ext uri="{FF2B5EF4-FFF2-40B4-BE49-F238E27FC236}">
                <a16:creationId xmlns:a16="http://schemas.microsoft.com/office/drawing/2014/main" id="{1F80E72B-B50C-4970-B715-18DD693DB2AB}"/>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687386"/>
                </a:solidFill>
                <a:latin typeface="Malgun Gothic"/>
                <a:ea typeface="Malgun Gothic"/>
                <a:cs typeface="Malgun Gothic"/>
              </a:defRPr>
            </a:pPr>
            <a:r>
              <a:rPr sz="1200" b="1">
                <a:solidFill>
                  <a:srgbClr val="687386"/>
                </a:solidFill>
                <a:latin typeface="Malgun Gothic"/>
                <a:ea typeface="Malgun Gothic"/>
                <a:cs typeface="Malgun Gothic"/>
              </a:rPr>
              <a:t>목표: usability · behavioral signal · effect direction · preliminary effect size</a:t>
            </a:r>
          </a:p>
        </p:txBody>
      </p:sp>
    </p:spTree>
    <p:extLst>
      <p:ext uri="{BB962C8B-B14F-4D97-AF65-F5344CB8AC3E}">
        <p14:creationId xmlns:p14="http://schemas.microsoft.com/office/powerpoint/2010/main" val="956983823"/>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3" name="eyebrow-11">
            <a:extLst xmlns:a="http://schemas.openxmlformats.org/drawingml/2006/main">
              <a:ext uri="{FF2B5EF4-FFF2-40B4-BE49-F238E27FC236}">
                <a16:creationId xmlns:a16="http://schemas.microsoft.com/office/drawing/2014/main" id="{A2C1F4A3-7027-406E-8F3F-D63C84EDFAE2}"/>
              </a:ext>
            </a:extLst>
          </p:cNvPr>
          <p:cNvSpPr>
            <a:spLocks xmlns:a="http://schemas.openxmlformats.org/drawingml/2006/main" noGrp="1"/>
          </p:cNvSpPr>
          <p:nvPr/>
        </p:nvSpPr>
        <p:spPr>
          <a:xfrm xmlns:a="http://schemas.openxmlformats.org/drawingml/2006/main">
            <a:off x="685800" y="3238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Malgun Gothic"/>
                <a:ea typeface="Malgun Gothic"/>
                <a:cs typeface="Malgun Gothic"/>
              </a:defRPr>
            </a:pPr>
            <a:r>
              <a:rPr sz="1050" b="1">
                <a:solidFill>
                  <a:srgbClr val="2563EB"/>
                </a:solidFill>
                <a:latin typeface="Malgun Gothic"/>
                <a:ea typeface="Malgun Gothic"/>
                <a:cs typeface="Malgun Gothic"/>
              </a:rPr>
              <a:t>STUDYMETA · FKI 더하기 창업</a:t>
            </a:r>
          </a:p>
        </p:txBody>
      </p:sp>
      <p:sp>
        <p:nvSpPr>
          <p:cNvPr id="2" name="title-11">
            <a:extLst xmlns:a="http://schemas.openxmlformats.org/drawingml/2006/main">
              <a:ext uri="{FF2B5EF4-FFF2-40B4-BE49-F238E27FC236}">
                <a16:creationId xmlns:a16="http://schemas.microsoft.com/office/drawing/2014/main" id="{8837ADEA-B3A0-4FE6-BC0C-FD5C7732805F}"/>
              </a:ext>
            </a:extLst>
          </p:cNvPr>
          <p:cNvSpPr>
            <a:spLocks xmlns:a="http://schemas.openxmlformats.org/drawingml/2006/main" noGrp="1"/>
          </p:cNvSpPr>
          <p:nvPr/>
        </p:nvSpPr>
        <p:spPr>
          <a:xfrm xmlns:a="http://schemas.openxmlformats.org/drawingml/2006/main">
            <a:off x="685800" y="647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450" b="1">
                <a:solidFill>
                  <a:srgbClr val="18212F"/>
                </a:solidFill>
                <a:latin typeface="Malgun Gothic"/>
                <a:ea typeface="Malgun Gothic"/>
                <a:cs typeface="Malgun Gothic"/>
              </a:defRPr>
            </a:pPr>
            <a:r>
              <a:rPr sz="3450" b="1">
                <a:solidFill>
                  <a:srgbClr val="18212F"/>
                </a:solidFill>
                <a:latin typeface="Malgun Gothic"/>
                <a:ea typeface="Malgun Gothic"/>
                <a:cs typeface="Malgun Gothic"/>
              </a:rPr>
              <a:t>Built to learn before we claim.</a:t>
            </a:r>
          </a:p>
        </p:txBody>
      </p:sp>
      <p:sp>
        <p:nvSpPr>
          <p:cNvPr id="3" name="page-11">
            <a:extLst xmlns:a="http://schemas.openxmlformats.org/drawingml/2006/main">
              <a:ext uri="{FF2B5EF4-FFF2-40B4-BE49-F238E27FC236}">
                <a16:creationId xmlns:a16="http://schemas.microsoft.com/office/drawing/2014/main" id="{F989568F-8CA4-4FD8-87F1-6330F5771158}"/>
              </a:ext>
            </a:extLst>
          </p:cNvPr>
          <p:cNvSpPr>
            <a:spLocks xmlns:a="http://schemas.openxmlformats.org/drawingml/2006/main" noGrp="1"/>
          </p:cNvSpPr>
          <p:nvPr/>
        </p:nvSpPr>
        <p:spPr>
          <a:xfrm xmlns:a="http://schemas.openxmlformats.org/drawingml/2006/main">
            <a:off x="1104900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29BAD"/>
                </a:solidFill>
                <a:latin typeface="Malgun Gothic"/>
                <a:ea typeface="Malgun Gothic"/>
                <a:cs typeface="Malgun Gothic"/>
              </a:defRPr>
            </a:pPr>
            <a:r>
              <a:rPr sz="975" b="1">
                <a:solidFill>
                  <a:srgbClr val="929BAD"/>
                </a:solidFill>
                <a:latin typeface="Malgun Gothic"/>
                <a:ea typeface="Malgun Gothic"/>
                <a:cs typeface="Malgun Gothic"/>
              </a:rPr>
              <a:t>11</a:t>
            </a:r>
          </a:p>
        </p:txBody>
      </p:sp>
      <p:sp>
        <p:nvSpPr>
          <p:cNvPr id="4" name="team-subtitle">
            <a:extLst xmlns:a="http://schemas.openxmlformats.org/drawingml/2006/main">
              <a:ext uri="{FF2B5EF4-FFF2-40B4-BE49-F238E27FC236}">
                <a16:creationId xmlns:a16="http://schemas.microsoft.com/office/drawing/2014/main" id="{8A27E718-BC16-45E9-816C-63C11911BC80}"/>
              </a:ext>
            </a:extLst>
          </p:cNvPr>
          <p:cNvSpPr>
            <a:spLocks xmlns:a="http://schemas.openxmlformats.org/drawingml/2006/main" noGrp="1"/>
          </p:cNvSpPr>
          <p:nvPr/>
        </p:nvSpPr>
        <p:spPr>
          <a:xfrm xmlns:a="http://schemas.openxmlformats.org/drawingml/2006/main">
            <a:off x="685800" y="13144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687386"/>
                </a:solidFill>
                <a:latin typeface="Malgun Gothic"/>
                <a:ea typeface="Malgun Gothic"/>
                <a:cs typeface="Malgun Gothic"/>
              </a:defRPr>
            </a:pPr>
            <a:r>
              <a:rPr sz="1650" b="0">
                <a:solidFill>
                  <a:srgbClr val="687386"/>
                </a:solidFill>
                <a:latin typeface="Malgun Gothic"/>
                <a:ea typeface="Malgun Gothic"/>
                <a:cs typeface="Malgun Gothic"/>
              </a:rPr>
              <a:t>우리는 증명한 것과 아직 증명하지 못한 것을 분리합니다.</a:t>
            </a:r>
          </a:p>
        </p:txBody>
      </p:sp>
      <p:sp>
        <p:nvSpPr>
          <p:cNvPr id="5" name="team-0">
            <a:extLst xmlns:a="http://schemas.openxmlformats.org/drawingml/2006/main">
              <a:ext uri="{FF2B5EF4-FFF2-40B4-BE49-F238E27FC236}">
                <a16:creationId xmlns:a16="http://schemas.microsoft.com/office/drawing/2014/main" id="{0B6D5005-378A-4E60-9403-84BB737468F2}"/>
              </a:ext>
            </a:extLst>
          </p:cNvPr>
          <p:cNvSpPr>
            <a:spLocks xmlns:a="http://schemas.openxmlformats.org/drawingml/2006/main" noGrp="1"/>
          </p:cNvSpPr>
          <p:nvPr/>
        </p:nvSpPr>
        <p:spPr>
          <a:xfrm xmlns:a="http://schemas.openxmlformats.org/drawingml/2006/main">
            <a:off x="685800" y="1943100"/>
            <a:ext cx="333375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9525">
            <a:solidFill>
              <a:srgbClr val="E4E8EF"/>
            </a:solidFill>
            <a:prstDash val="solid"/>
          </a:ln>
        </p:spPr>
      </p:sp>
      <p:sp>
        <p:nvSpPr>
          <p:cNvPr id="6" name="team-name-0">
            <a:extLst xmlns:a="http://schemas.openxmlformats.org/drawingml/2006/main">
              <a:ext uri="{FF2B5EF4-FFF2-40B4-BE49-F238E27FC236}">
                <a16:creationId xmlns:a16="http://schemas.microsoft.com/office/drawing/2014/main" id="{9808B9E7-822A-4A85-802A-E322D546B3FE}"/>
              </a:ext>
            </a:extLst>
          </p:cNvPr>
          <p:cNvSpPr>
            <a:spLocks xmlns:a="http://schemas.openxmlformats.org/drawingml/2006/main" noGrp="1"/>
          </p:cNvSpPr>
          <p:nvPr/>
        </p:nvSpPr>
        <p:spPr>
          <a:xfrm xmlns:a="http://schemas.openxmlformats.org/drawingml/2006/main">
            <a:off x="914400" y="21717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C1D3A"/>
                </a:solidFill>
                <a:latin typeface="Malgun Gothic"/>
                <a:ea typeface="Malgun Gothic"/>
                <a:cs typeface="Malgun Gothic"/>
              </a:defRPr>
            </a:pPr>
            <a:r>
              <a:rPr sz="2100" b="1">
                <a:solidFill>
                  <a:srgbClr val="0C1D3A"/>
                </a:solidFill>
                <a:latin typeface="Malgun Gothic"/>
                <a:ea typeface="Malgun Gothic"/>
                <a:cs typeface="Malgun Gothic"/>
              </a:rPr>
              <a:t>백현승</a:t>
            </a:r>
          </a:p>
        </p:txBody>
      </p:sp>
      <p:sp>
        <p:nvSpPr>
          <p:cNvPr id="7" name="team-major-0">
            <a:extLst xmlns:a="http://schemas.openxmlformats.org/drawingml/2006/main">
              <a:ext uri="{FF2B5EF4-FFF2-40B4-BE49-F238E27FC236}">
                <a16:creationId xmlns:a16="http://schemas.microsoft.com/office/drawing/2014/main" id="{7C197D91-863F-4BBA-BD80-DBE63495D21F}"/>
              </a:ext>
            </a:extLst>
          </p:cNvPr>
          <p:cNvSpPr>
            <a:spLocks xmlns:a="http://schemas.openxmlformats.org/drawingml/2006/main" noGrp="1"/>
          </p:cNvSpPr>
          <p:nvPr/>
        </p:nvSpPr>
        <p:spPr>
          <a:xfrm xmlns:a="http://schemas.openxmlformats.org/drawingml/2006/main">
            <a:off x="914400" y="2609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563EB"/>
                </a:solidFill>
                <a:latin typeface="Malgun Gothic"/>
                <a:ea typeface="Malgun Gothic"/>
                <a:cs typeface="Malgun Gothic"/>
              </a:defRPr>
            </a:pPr>
            <a:r>
              <a:rPr sz="1275" b="1">
                <a:solidFill>
                  <a:srgbClr val="2563EB"/>
                </a:solidFill>
                <a:latin typeface="Malgun Gothic"/>
                <a:ea typeface="Malgun Gothic"/>
                <a:cs typeface="Malgun Gothic"/>
              </a:rPr>
              <a:t>Applied Statistics</a:t>
            </a:r>
          </a:p>
        </p:txBody>
      </p:sp>
      <p:sp>
        <p:nvSpPr>
          <p:cNvPr id="8" name="team-role-0">
            <a:extLst xmlns:a="http://schemas.openxmlformats.org/drawingml/2006/main">
              <a:ext uri="{FF2B5EF4-FFF2-40B4-BE49-F238E27FC236}">
                <a16:creationId xmlns:a16="http://schemas.microsoft.com/office/drawing/2014/main" id="{F57353C0-A81E-4367-A02E-522BC87420FB}"/>
              </a:ext>
            </a:extLst>
          </p:cNvPr>
          <p:cNvSpPr>
            <a:spLocks xmlns:a="http://schemas.openxmlformats.org/drawingml/2006/main" noGrp="1"/>
          </p:cNvSpPr>
          <p:nvPr/>
        </p:nvSpPr>
        <p:spPr>
          <a:xfrm xmlns:a="http://schemas.openxmlformats.org/drawingml/2006/main">
            <a:off x="914400" y="2952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542"/>
          </a:bodyPr>
          <a:lstStyle xmlns:a="http://schemas.openxmlformats.org/drawingml/2006/main"/>
          <a:p xmlns:a="http://schemas.openxmlformats.org/drawingml/2006/main">
            <a:pPr algn="l">
              <a:defRPr sz="1200" b="0">
                <a:solidFill>
                  <a:srgbClr val="687386"/>
                </a:solidFill>
                <a:latin typeface="Malgun Gothic"/>
                <a:ea typeface="Malgun Gothic"/>
                <a:cs typeface="Malgun Gothic"/>
              </a:defRPr>
            </a:pPr>
            <a:r>
              <a:rPr sz="1200" b="0">
                <a:solidFill>
                  <a:srgbClr val="687386"/>
                </a:solidFill>
                <a:latin typeface="Malgun Gothic"/>
                <a:ea typeface="Malgun Gothic"/>
                <a:cs typeface="Malgun Gothic"/>
              </a:rPr>
              <a:t>Learner Model · Product Design · MCP Architecture</a:t>
            </a:r>
          </a:p>
        </p:txBody>
      </p:sp>
      <p:sp>
        <p:nvSpPr>
          <p:cNvPr id="9" name="team-1">
            <a:extLst xmlns:a="http://schemas.openxmlformats.org/drawingml/2006/main">
              <a:ext uri="{FF2B5EF4-FFF2-40B4-BE49-F238E27FC236}">
                <a16:creationId xmlns:a16="http://schemas.microsoft.com/office/drawing/2014/main" id="{8FA1ED48-8DA8-49A8-B0A5-50DDDFD37CC7}"/>
              </a:ext>
            </a:extLst>
          </p:cNvPr>
          <p:cNvSpPr>
            <a:spLocks xmlns:a="http://schemas.openxmlformats.org/drawingml/2006/main" noGrp="1"/>
          </p:cNvSpPr>
          <p:nvPr/>
        </p:nvSpPr>
        <p:spPr>
          <a:xfrm xmlns:a="http://schemas.openxmlformats.org/drawingml/2006/main">
            <a:off x="4286250" y="1943100"/>
            <a:ext cx="333375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9525">
            <a:solidFill>
              <a:srgbClr val="E4E8EF"/>
            </a:solidFill>
            <a:prstDash val="solid"/>
          </a:ln>
        </p:spPr>
      </p:sp>
      <p:sp>
        <p:nvSpPr>
          <p:cNvPr id="10" name="team-name-1">
            <a:extLst xmlns:a="http://schemas.openxmlformats.org/drawingml/2006/main">
              <a:ext uri="{FF2B5EF4-FFF2-40B4-BE49-F238E27FC236}">
                <a16:creationId xmlns:a16="http://schemas.microsoft.com/office/drawing/2014/main" id="{752A4C88-49F1-4EC4-8826-E7CE0DBA6E80}"/>
              </a:ext>
            </a:extLst>
          </p:cNvPr>
          <p:cNvSpPr>
            <a:spLocks xmlns:a="http://schemas.openxmlformats.org/drawingml/2006/main" noGrp="1"/>
          </p:cNvSpPr>
          <p:nvPr/>
        </p:nvSpPr>
        <p:spPr>
          <a:xfrm xmlns:a="http://schemas.openxmlformats.org/drawingml/2006/main">
            <a:off x="4514850" y="21717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C1D3A"/>
                </a:solidFill>
                <a:latin typeface="Malgun Gothic"/>
                <a:ea typeface="Malgun Gothic"/>
                <a:cs typeface="Malgun Gothic"/>
              </a:defRPr>
            </a:pPr>
            <a:r>
              <a:rPr sz="2100" b="1">
                <a:solidFill>
                  <a:srgbClr val="0C1D3A"/>
                </a:solidFill>
                <a:latin typeface="Malgun Gothic"/>
                <a:ea typeface="Malgun Gothic"/>
                <a:cs typeface="Malgun Gothic"/>
              </a:rPr>
              <a:t>박나연</a:t>
            </a:r>
          </a:p>
        </p:txBody>
      </p:sp>
      <p:sp>
        <p:nvSpPr>
          <p:cNvPr id="11" name="team-major-1">
            <a:extLst xmlns:a="http://schemas.openxmlformats.org/drawingml/2006/main">
              <a:ext uri="{FF2B5EF4-FFF2-40B4-BE49-F238E27FC236}">
                <a16:creationId xmlns:a16="http://schemas.microsoft.com/office/drawing/2014/main" id="{4E4E51BA-F74F-4B60-BE58-932F77587693}"/>
              </a:ext>
            </a:extLst>
          </p:cNvPr>
          <p:cNvSpPr>
            <a:spLocks xmlns:a="http://schemas.openxmlformats.org/drawingml/2006/main" noGrp="1"/>
          </p:cNvSpPr>
          <p:nvPr/>
        </p:nvSpPr>
        <p:spPr>
          <a:xfrm xmlns:a="http://schemas.openxmlformats.org/drawingml/2006/main">
            <a:off x="4514850" y="2609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563EB"/>
                </a:solidFill>
                <a:latin typeface="Malgun Gothic"/>
                <a:ea typeface="Malgun Gothic"/>
                <a:cs typeface="Malgun Gothic"/>
              </a:defRPr>
            </a:pPr>
            <a:r>
              <a:rPr sz="1275" b="1">
                <a:solidFill>
                  <a:srgbClr val="2563EB"/>
                </a:solidFill>
                <a:latin typeface="Malgun Gothic"/>
                <a:ea typeface="Malgun Gothic"/>
                <a:cs typeface="Malgun Gothic"/>
              </a:rPr>
              <a:t>Linguistics</a:t>
            </a:r>
          </a:p>
        </p:txBody>
      </p:sp>
      <p:sp>
        <p:nvSpPr>
          <p:cNvPr id="12" name="team-role-1">
            <a:extLst xmlns:a="http://schemas.openxmlformats.org/drawingml/2006/main">
              <a:ext uri="{FF2B5EF4-FFF2-40B4-BE49-F238E27FC236}">
                <a16:creationId xmlns:a16="http://schemas.microsoft.com/office/drawing/2014/main" id="{31D39537-3A4A-4684-B867-3C855E8C798F}"/>
              </a:ext>
            </a:extLst>
          </p:cNvPr>
          <p:cNvSpPr>
            <a:spLocks xmlns:a="http://schemas.openxmlformats.org/drawingml/2006/main" noGrp="1"/>
          </p:cNvSpPr>
          <p:nvPr/>
        </p:nvSpPr>
        <p:spPr>
          <a:xfrm xmlns:a="http://schemas.openxmlformats.org/drawingml/2006/main">
            <a:off x="4514850" y="2952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386"/>
                </a:solidFill>
                <a:latin typeface="Malgun Gothic"/>
                <a:ea typeface="Malgun Gothic"/>
                <a:cs typeface="Malgun Gothic"/>
              </a:defRPr>
            </a:pPr>
            <a:r>
              <a:rPr sz="1200" b="0">
                <a:solidFill>
                  <a:srgbClr val="687386"/>
                </a:solidFill>
                <a:latin typeface="Malgun Gothic"/>
                <a:ea typeface="Malgun Gothic"/>
                <a:cs typeface="Malgun Gothic"/>
              </a:rPr>
              <a:t>UX/UI · 학생 관점의 상태 표현</a:t>
            </a:r>
          </a:p>
        </p:txBody>
      </p:sp>
      <p:sp>
        <p:nvSpPr>
          <p:cNvPr id="13" name="team-2">
            <a:extLst xmlns:a="http://schemas.openxmlformats.org/drawingml/2006/main">
              <a:ext uri="{FF2B5EF4-FFF2-40B4-BE49-F238E27FC236}">
                <a16:creationId xmlns:a16="http://schemas.microsoft.com/office/drawing/2014/main" id="{E93FCEA0-D196-4D9C-99D3-0659A306CFE3}"/>
              </a:ext>
            </a:extLst>
          </p:cNvPr>
          <p:cNvSpPr>
            <a:spLocks xmlns:a="http://schemas.openxmlformats.org/drawingml/2006/main" noGrp="1"/>
          </p:cNvSpPr>
          <p:nvPr/>
        </p:nvSpPr>
        <p:spPr>
          <a:xfrm xmlns:a="http://schemas.openxmlformats.org/drawingml/2006/main">
            <a:off x="7886700" y="1943100"/>
            <a:ext cx="333375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9525">
            <a:solidFill>
              <a:srgbClr val="E4E8EF"/>
            </a:solidFill>
            <a:prstDash val="solid"/>
          </a:ln>
        </p:spPr>
      </p:sp>
      <p:sp>
        <p:nvSpPr>
          <p:cNvPr id="14" name="team-name-2">
            <a:extLst xmlns:a="http://schemas.openxmlformats.org/drawingml/2006/main">
              <a:ext uri="{FF2B5EF4-FFF2-40B4-BE49-F238E27FC236}">
                <a16:creationId xmlns:a16="http://schemas.microsoft.com/office/drawing/2014/main" id="{25C63805-FA10-4652-8E32-90228757AA7F}"/>
              </a:ext>
            </a:extLst>
          </p:cNvPr>
          <p:cNvSpPr>
            <a:spLocks xmlns:a="http://schemas.openxmlformats.org/drawingml/2006/main" noGrp="1"/>
          </p:cNvSpPr>
          <p:nvPr/>
        </p:nvSpPr>
        <p:spPr>
          <a:xfrm xmlns:a="http://schemas.openxmlformats.org/drawingml/2006/main">
            <a:off x="8115300" y="21717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C1D3A"/>
                </a:solidFill>
                <a:latin typeface="Malgun Gothic"/>
                <a:ea typeface="Malgun Gothic"/>
                <a:cs typeface="Malgun Gothic"/>
              </a:defRPr>
            </a:pPr>
            <a:r>
              <a:rPr sz="2100" b="1">
                <a:solidFill>
                  <a:srgbClr val="0C1D3A"/>
                </a:solidFill>
                <a:latin typeface="Malgun Gothic"/>
                <a:ea typeface="Malgun Gothic"/>
                <a:cs typeface="Malgun Gothic"/>
              </a:rPr>
              <a:t>김아현</a:t>
            </a:r>
          </a:p>
        </p:txBody>
      </p:sp>
      <p:sp>
        <p:nvSpPr>
          <p:cNvPr id="15" name="team-major-2">
            <a:extLst xmlns:a="http://schemas.openxmlformats.org/drawingml/2006/main">
              <a:ext uri="{FF2B5EF4-FFF2-40B4-BE49-F238E27FC236}">
                <a16:creationId xmlns:a16="http://schemas.microsoft.com/office/drawing/2014/main" id="{73C54F48-E02D-4875-826A-B76B2563B1FD}"/>
              </a:ext>
            </a:extLst>
          </p:cNvPr>
          <p:cNvSpPr>
            <a:spLocks xmlns:a="http://schemas.openxmlformats.org/drawingml/2006/main" noGrp="1"/>
          </p:cNvSpPr>
          <p:nvPr/>
        </p:nvSpPr>
        <p:spPr>
          <a:xfrm xmlns:a="http://schemas.openxmlformats.org/drawingml/2006/main">
            <a:off x="8115300" y="2609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563EB"/>
                </a:solidFill>
                <a:latin typeface="Malgun Gothic"/>
                <a:ea typeface="Malgun Gothic"/>
                <a:cs typeface="Malgun Gothic"/>
              </a:defRPr>
            </a:pPr>
            <a:r>
              <a:rPr sz="1275" b="1">
                <a:solidFill>
                  <a:srgbClr val="2563EB"/>
                </a:solidFill>
                <a:latin typeface="Malgun Gothic"/>
                <a:ea typeface="Malgun Gothic"/>
                <a:cs typeface="Malgun Gothic"/>
              </a:rPr>
              <a:t>Computer Science</a:t>
            </a:r>
          </a:p>
        </p:txBody>
      </p:sp>
      <p:sp>
        <p:nvSpPr>
          <p:cNvPr id="16" name="team-role-2">
            <a:extLst xmlns:a="http://schemas.openxmlformats.org/drawingml/2006/main">
              <a:ext uri="{FF2B5EF4-FFF2-40B4-BE49-F238E27FC236}">
                <a16:creationId xmlns:a16="http://schemas.microsoft.com/office/drawing/2014/main" id="{9BE0DF67-FB3B-4BFD-87CF-307819223DA6}"/>
              </a:ext>
            </a:extLst>
          </p:cNvPr>
          <p:cNvSpPr>
            <a:spLocks xmlns:a="http://schemas.openxmlformats.org/drawingml/2006/main" noGrp="1"/>
          </p:cNvSpPr>
          <p:nvPr/>
        </p:nvSpPr>
        <p:spPr>
          <a:xfrm xmlns:a="http://schemas.openxmlformats.org/drawingml/2006/main">
            <a:off x="8115300" y="2952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22"/>
          </a:bodyPr>
          <a:lstStyle xmlns:a="http://schemas.openxmlformats.org/drawingml/2006/main"/>
          <a:p xmlns:a="http://schemas.openxmlformats.org/drawingml/2006/main">
            <a:pPr algn="l">
              <a:defRPr sz="1200" b="0">
                <a:solidFill>
                  <a:srgbClr val="687386"/>
                </a:solidFill>
                <a:latin typeface="Malgun Gothic"/>
                <a:ea typeface="Malgun Gothic"/>
                <a:cs typeface="Malgun Gothic"/>
              </a:defRPr>
            </a:pPr>
            <a:r>
              <a:rPr sz="1200" b="0">
                <a:solidFill>
                  <a:srgbClr val="687386"/>
                </a:solidFill>
                <a:latin typeface="Malgun Gothic"/>
                <a:ea typeface="Malgun Gothic"/>
                <a:cs typeface="Malgun Gothic"/>
              </a:rPr>
              <a:t>Data · Evidence Feature · Evidence Matrix</a:t>
            </a:r>
          </a:p>
        </p:txBody>
      </p:sp>
      <p:sp>
        <p:nvSpPr>
          <p:cNvPr id="17" name="proof-label">
            <a:extLst xmlns:a="http://schemas.openxmlformats.org/drawingml/2006/main">
              <a:ext uri="{FF2B5EF4-FFF2-40B4-BE49-F238E27FC236}">
                <a16:creationId xmlns:a16="http://schemas.microsoft.com/office/drawing/2014/main" id="{D53B4523-9D40-4C1F-AA20-F46573FE648F}"/>
              </a:ext>
            </a:extLst>
          </p:cNvPr>
          <p:cNvSpPr>
            <a:spLocks xmlns:a="http://schemas.openxmlformats.org/drawingml/2006/main" noGrp="1"/>
          </p:cNvSpPr>
          <p:nvPr/>
        </p:nvSpPr>
        <p:spPr>
          <a:xfrm xmlns:a="http://schemas.openxmlformats.org/drawingml/2006/main">
            <a:off x="685800" y="38100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87386"/>
                </a:solidFill>
                <a:latin typeface="Malgun Gothic"/>
                <a:ea typeface="Malgun Gothic"/>
                <a:cs typeface="Malgun Gothic"/>
              </a:defRPr>
            </a:pPr>
            <a:r>
              <a:rPr sz="1125" b="1">
                <a:solidFill>
                  <a:srgbClr val="687386"/>
                </a:solidFill>
                <a:latin typeface="Malgun Gothic"/>
                <a:ea typeface="Malgun Gothic"/>
                <a:cs typeface="Malgun Gothic"/>
              </a:rPr>
              <a:t>CURRENT PROOF</a:t>
            </a:r>
          </a:p>
        </p:txBody>
      </p:sp>
      <p:sp>
        <p:nvSpPr>
          <p:cNvPr id="18" name="proof-0-box">
            <a:extLst xmlns:a="http://schemas.openxmlformats.org/drawingml/2006/main">
              <a:ext uri="{FF2B5EF4-FFF2-40B4-BE49-F238E27FC236}">
                <a16:creationId xmlns:a16="http://schemas.microsoft.com/office/drawing/2014/main" id="{0E7CBC1D-6135-4967-B350-3CACE6C9916C}"/>
              </a:ext>
            </a:extLst>
          </p:cNvPr>
          <p:cNvSpPr>
            <a:spLocks xmlns:a="http://schemas.openxmlformats.org/drawingml/2006/main" noGrp="1"/>
          </p:cNvSpPr>
          <p:nvPr/>
        </p:nvSpPr>
        <p:spPr>
          <a:xfrm xmlns:a="http://schemas.openxmlformats.org/drawingml/2006/main">
            <a:off x="685800" y="4171950"/>
            <a:ext cx="243840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19" name="proof-0">
            <a:extLst xmlns:a="http://schemas.openxmlformats.org/drawingml/2006/main">
              <a:ext uri="{FF2B5EF4-FFF2-40B4-BE49-F238E27FC236}">
                <a16:creationId xmlns:a16="http://schemas.microsoft.com/office/drawing/2014/main" id="{70B720FC-BEF7-4A71-B33C-7BC282DDE6DD}"/>
              </a:ext>
            </a:extLst>
          </p:cNvPr>
          <p:cNvSpPr>
            <a:spLocks xmlns:a="http://schemas.openxmlformats.org/drawingml/2006/main" noGrp="1"/>
          </p:cNvSpPr>
          <p:nvPr/>
        </p:nvSpPr>
        <p:spPr>
          <a:xfrm xmlns:a="http://schemas.openxmlformats.org/drawingml/2006/main">
            <a:off x="685800" y="4181475"/>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1.17M interactions analyzed</a:t>
            </a:r>
          </a:p>
        </p:txBody>
      </p:sp>
      <p:sp>
        <p:nvSpPr>
          <p:cNvPr id="20" name="proof-1-box">
            <a:extLst xmlns:a="http://schemas.openxmlformats.org/drawingml/2006/main">
              <a:ext uri="{FF2B5EF4-FFF2-40B4-BE49-F238E27FC236}">
                <a16:creationId xmlns:a16="http://schemas.microsoft.com/office/drawing/2014/main" id="{2F776DB9-0B45-4095-804F-5BFC42B47242}"/>
              </a:ext>
            </a:extLst>
          </p:cNvPr>
          <p:cNvSpPr>
            <a:spLocks xmlns:a="http://schemas.openxmlformats.org/drawingml/2006/main" noGrp="1"/>
          </p:cNvSpPr>
          <p:nvPr/>
        </p:nvSpPr>
        <p:spPr>
          <a:xfrm xmlns:a="http://schemas.openxmlformats.org/drawingml/2006/main">
            <a:off x="3371850" y="4171950"/>
            <a:ext cx="243840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21" name="proof-1">
            <a:extLst xmlns:a="http://schemas.openxmlformats.org/drawingml/2006/main">
              <a:ext uri="{FF2B5EF4-FFF2-40B4-BE49-F238E27FC236}">
                <a16:creationId xmlns:a16="http://schemas.microsoft.com/office/drawing/2014/main" id="{3EB7BE21-61D4-4A47-A574-8112C420F1C7}"/>
              </a:ext>
            </a:extLst>
          </p:cNvPr>
          <p:cNvSpPr>
            <a:spLocks xmlns:a="http://schemas.openxmlformats.org/drawingml/2006/main" noGrp="1"/>
          </p:cNvSpPr>
          <p:nvPr/>
        </p:nvSpPr>
        <p:spPr>
          <a:xfrm xmlns:a="http://schemas.openxmlformats.org/drawingml/2006/main">
            <a:off x="3371850" y="4181475"/>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Evidence Matrix</a:t>
            </a:r>
          </a:p>
        </p:txBody>
      </p:sp>
      <p:sp>
        <p:nvSpPr>
          <p:cNvPr id="22" name="proof-2-box">
            <a:extLst xmlns:a="http://schemas.openxmlformats.org/drawingml/2006/main">
              <a:ext uri="{FF2B5EF4-FFF2-40B4-BE49-F238E27FC236}">
                <a16:creationId xmlns:a16="http://schemas.microsoft.com/office/drawing/2014/main" id="{8E983B55-529F-4606-9F4E-F557DF9C2198}"/>
              </a:ext>
            </a:extLst>
          </p:cNvPr>
          <p:cNvSpPr>
            <a:spLocks xmlns:a="http://schemas.openxmlformats.org/drawingml/2006/main" noGrp="1"/>
          </p:cNvSpPr>
          <p:nvPr/>
        </p:nvSpPr>
        <p:spPr>
          <a:xfrm xmlns:a="http://schemas.openxmlformats.org/drawingml/2006/main">
            <a:off x="6057900" y="4171950"/>
            <a:ext cx="243840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93C5FD"/>
            </a:solidFill>
            <a:prstDash val="solid"/>
          </a:ln>
        </p:spPr>
      </p:sp>
      <p:sp>
        <p:nvSpPr>
          <p:cNvPr id="23" name="proof-2">
            <a:extLst xmlns:a="http://schemas.openxmlformats.org/drawingml/2006/main">
              <a:ext uri="{FF2B5EF4-FFF2-40B4-BE49-F238E27FC236}">
                <a16:creationId xmlns:a16="http://schemas.microsoft.com/office/drawing/2014/main" id="{B6BCF58F-7B6A-4B5C-B96B-2F99CA3E8E70}"/>
              </a:ext>
            </a:extLst>
          </p:cNvPr>
          <p:cNvSpPr>
            <a:spLocks xmlns:a="http://schemas.openxmlformats.org/drawingml/2006/main" noGrp="1"/>
          </p:cNvSpPr>
          <p:nvPr/>
        </p:nvSpPr>
        <p:spPr>
          <a:xfrm xmlns:a="http://schemas.openxmlformats.org/drawingml/2006/main">
            <a:off x="6057900" y="4181475"/>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46A2"/>
                </a:solidFill>
                <a:latin typeface="Malgun Gothic"/>
                <a:ea typeface="Malgun Gothic"/>
                <a:cs typeface="Malgun Gothic"/>
              </a:defRPr>
            </a:pPr>
            <a:r>
              <a:rPr sz="1200" b="1">
                <a:solidFill>
                  <a:srgbClr val="1746A2"/>
                </a:solidFill>
                <a:latin typeface="Malgun Gothic"/>
                <a:ea typeface="Malgun Gothic"/>
                <a:cs typeface="Malgun Gothic"/>
              </a:rPr>
              <a:t>Working MCP prototype</a:t>
            </a:r>
          </a:p>
        </p:txBody>
      </p:sp>
      <p:sp>
        <p:nvSpPr>
          <p:cNvPr id="24" name="proof-3-box">
            <a:extLst xmlns:a="http://schemas.openxmlformats.org/drawingml/2006/main">
              <a:ext uri="{FF2B5EF4-FFF2-40B4-BE49-F238E27FC236}">
                <a16:creationId xmlns:a16="http://schemas.microsoft.com/office/drawing/2014/main" id="{EED9B183-A11E-40D2-8E51-8D67145486ED}"/>
              </a:ext>
            </a:extLst>
          </p:cNvPr>
          <p:cNvSpPr>
            <a:spLocks xmlns:a="http://schemas.openxmlformats.org/drawingml/2006/main" noGrp="1"/>
          </p:cNvSpPr>
          <p:nvPr/>
        </p:nvSpPr>
        <p:spPr>
          <a:xfrm xmlns:a="http://schemas.openxmlformats.org/drawingml/2006/main">
            <a:off x="8743950" y="4171950"/>
            <a:ext cx="2438400" cy="323850"/>
          </a:xfrm>
          <a:prstGeom xmlns:a="http://schemas.openxmlformats.org/drawingml/2006/main" prst="roundRect">
            <a:avLst>
              <a:gd name="adj" fmla="val 50000"/>
            </a:avLst>
          </a:prstGeom>
          <a:solidFill xmlns:a="http://schemas.openxmlformats.org/drawingml/2006/main">
            <a:srgbClr val="F0FDF4"/>
          </a:solidFill>
          <a:ln xmlns:a="http://schemas.openxmlformats.org/drawingml/2006/main" w="9525">
            <a:solidFill>
              <a:srgbClr val="86C99A"/>
            </a:solidFill>
            <a:prstDash val="solid"/>
          </a:ln>
        </p:spPr>
      </p:sp>
      <p:sp>
        <p:nvSpPr>
          <p:cNvPr id="25" name="proof-3">
            <a:extLst xmlns:a="http://schemas.openxmlformats.org/drawingml/2006/main">
              <a:ext uri="{FF2B5EF4-FFF2-40B4-BE49-F238E27FC236}">
                <a16:creationId xmlns:a16="http://schemas.microsoft.com/office/drawing/2014/main" id="{74A4C1DA-F9AA-49CE-9686-7EB3EDC3299A}"/>
              </a:ext>
            </a:extLst>
          </p:cNvPr>
          <p:cNvSpPr>
            <a:spLocks xmlns:a="http://schemas.openxmlformats.org/drawingml/2006/main" noGrp="1"/>
          </p:cNvSpPr>
          <p:nvPr/>
        </p:nvSpPr>
        <p:spPr>
          <a:xfrm xmlns:a="http://schemas.openxmlformats.org/drawingml/2006/main">
            <a:off x="8743950" y="4181475"/>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5803D"/>
                </a:solidFill>
                <a:latin typeface="Malgun Gothic"/>
                <a:ea typeface="Malgun Gothic"/>
                <a:cs typeface="Malgun Gothic"/>
              </a:defRPr>
            </a:pPr>
            <a:r>
              <a:rPr sz="1200" b="1">
                <a:solidFill>
                  <a:srgbClr val="15803D"/>
                </a:solidFill>
                <a:latin typeface="Malgun Gothic"/>
                <a:ea typeface="Malgun Gothic"/>
                <a:cs typeface="Malgun Gothic"/>
              </a:rPr>
              <a:t>Read · Adapt · Write demo</a:t>
            </a:r>
          </a:p>
        </p:txBody>
      </p:sp>
      <p:sp>
        <p:nvSpPr>
          <p:cNvPr id="26" name="vision-bar">
            <a:extLst xmlns:a="http://schemas.openxmlformats.org/drawingml/2006/main">
              <a:ext uri="{FF2B5EF4-FFF2-40B4-BE49-F238E27FC236}">
                <a16:creationId xmlns:a16="http://schemas.microsoft.com/office/drawing/2014/main" id="{F5FA3D88-86D2-4794-8DDD-CE743A17F0B0}"/>
              </a:ext>
            </a:extLst>
          </p:cNvPr>
          <p:cNvSpPr>
            <a:spLocks xmlns:a="http://schemas.openxmlformats.org/drawingml/2006/main" noGrp="1"/>
          </p:cNvSpPr>
          <p:nvPr/>
        </p:nvSpPr>
        <p:spPr>
          <a:xfrm xmlns:a="http://schemas.openxmlformats.org/drawingml/2006/main">
            <a:off x="685800" y="5010150"/>
            <a:ext cx="10820400" cy="1047750"/>
          </a:xfrm>
          <a:prstGeom xmlns:a="http://schemas.openxmlformats.org/drawingml/2006/main" prst="roundRect">
            <a:avLst>
              <a:gd name="adj" fmla="val 16364"/>
            </a:avLst>
          </a:prstGeom>
          <a:solidFill xmlns:a="http://schemas.openxmlformats.org/drawingml/2006/main">
            <a:srgbClr val="0C1D3A"/>
          </a:solidFill>
          <a:ln xmlns:a="http://schemas.openxmlformats.org/drawingml/2006/main" w="9525">
            <a:solidFill>
              <a:srgbClr val="0C1D3A"/>
            </a:solidFill>
            <a:prstDash val="solid"/>
          </a:ln>
        </p:spPr>
      </p:sp>
      <p:sp>
        <p:nvSpPr>
          <p:cNvPr id="27" name="today-label">
            <a:extLst xmlns:a="http://schemas.openxmlformats.org/drawingml/2006/main">
              <a:ext uri="{FF2B5EF4-FFF2-40B4-BE49-F238E27FC236}">
                <a16:creationId xmlns:a16="http://schemas.microsoft.com/office/drawing/2014/main" id="{839136D2-1368-4DCE-9434-66E4354F9DD3}"/>
              </a:ext>
            </a:extLst>
          </p:cNvPr>
          <p:cNvSpPr>
            <a:spLocks xmlns:a="http://schemas.openxmlformats.org/drawingml/2006/main" noGrp="1"/>
          </p:cNvSpPr>
          <p:nvPr/>
        </p:nvSpPr>
        <p:spPr>
          <a:xfrm xmlns:a="http://schemas.openxmlformats.org/drawingml/2006/main">
            <a:off x="9906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FC0FF"/>
                </a:solidFill>
                <a:latin typeface="Malgun Gothic"/>
                <a:ea typeface="Malgun Gothic"/>
                <a:cs typeface="Malgun Gothic"/>
              </a:defRPr>
            </a:pPr>
            <a:r>
              <a:rPr sz="1050" b="1">
                <a:solidFill>
                  <a:srgbClr val="9FC0FF"/>
                </a:solidFill>
                <a:latin typeface="Malgun Gothic"/>
                <a:ea typeface="Malgun Gothic"/>
                <a:cs typeface="Malgun Gothic"/>
              </a:rPr>
              <a:t>TODAY</a:t>
            </a:r>
          </a:p>
        </p:txBody>
      </p:sp>
      <p:sp>
        <p:nvSpPr>
          <p:cNvPr id="28" name="today-body">
            <a:extLst xmlns:a="http://schemas.openxmlformats.org/drawingml/2006/main">
              <a:ext uri="{FF2B5EF4-FFF2-40B4-BE49-F238E27FC236}">
                <a16:creationId xmlns:a16="http://schemas.microsoft.com/office/drawing/2014/main" id="{D7F6196E-91DD-4156-8322-3F9222440220}"/>
              </a:ext>
            </a:extLst>
          </p:cNvPr>
          <p:cNvSpPr>
            <a:spLocks xmlns:a="http://schemas.openxmlformats.org/drawingml/2006/main" noGrp="1"/>
          </p:cNvSpPr>
          <p:nvPr/>
        </p:nvSpPr>
        <p:spPr>
          <a:xfrm xmlns:a="http://schemas.openxmlformats.org/drawingml/2006/main">
            <a:off x="990600" y="548640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121"/>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Mastery + Help Need</a:t>
            </a:r>
          </a:p>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across AI</a:t>
            </a:r>
          </a:p>
        </p:txBody>
      </p:sp>
      <p:sp>
        <p:nvSpPr>
          <p:cNvPr id="29" name="vision-arrow">
            <a:extLst xmlns:a="http://schemas.openxmlformats.org/drawingml/2006/main">
              <a:ext uri="{FF2B5EF4-FFF2-40B4-BE49-F238E27FC236}">
                <a16:creationId xmlns:a16="http://schemas.microsoft.com/office/drawing/2014/main" id="{D2D4328A-B458-455E-9080-E0EBE3EDD85F}"/>
              </a:ext>
            </a:extLst>
          </p:cNvPr>
          <p:cNvSpPr>
            <a:spLocks xmlns:a="http://schemas.openxmlformats.org/drawingml/2006/main" noGrp="1"/>
          </p:cNvSpPr>
          <p:nvPr/>
        </p:nvSpPr>
        <p:spPr>
          <a:xfrm xmlns:a="http://schemas.openxmlformats.org/drawingml/2006/main">
            <a:off x="5505450" y="53530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ctr">
              <a:defRPr sz="3150" b="1">
                <a:solidFill>
                  <a:srgbClr val="93C5FD"/>
                </a:solidFill>
                <a:latin typeface="Malgun Gothic"/>
                <a:ea typeface="Malgun Gothic"/>
                <a:cs typeface="Malgun Gothic"/>
              </a:defRPr>
            </a:pPr>
            <a:r>
              <a:rPr sz="3150" b="1">
                <a:solidFill>
                  <a:srgbClr val="93C5FD"/>
                </a:solidFill>
                <a:latin typeface="Malgun Gothic"/>
                <a:ea typeface="Malgun Gothic"/>
                <a:cs typeface="Malgun Gothic"/>
              </a:rPr>
              <a:t>→</a:t>
            </a:r>
          </a:p>
        </p:txBody>
      </p:sp>
      <p:sp>
        <p:nvSpPr>
          <p:cNvPr id="30" name="tomorrow-label">
            <a:extLst xmlns:a="http://schemas.openxmlformats.org/drawingml/2006/main">
              <a:ext uri="{FF2B5EF4-FFF2-40B4-BE49-F238E27FC236}">
                <a16:creationId xmlns:a16="http://schemas.microsoft.com/office/drawing/2014/main" id="{6EB62726-A63E-4775-9769-1723C71B8C4B}"/>
              </a:ext>
            </a:extLst>
          </p:cNvPr>
          <p:cNvSpPr>
            <a:spLocks xmlns:a="http://schemas.openxmlformats.org/drawingml/2006/main" noGrp="1"/>
          </p:cNvSpPr>
          <p:nvPr/>
        </p:nvSpPr>
        <p:spPr>
          <a:xfrm xmlns:a="http://schemas.openxmlformats.org/drawingml/2006/main">
            <a:off x="7391400" y="52197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FC0FF"/>
                </a:solidFill>
                <a:latin typeface="Malgun Gothic"/>
                <a:ea typeface="Malgun Gothic"/>
                <a:cs typeface="Malgun Gothic"/>
              </a:defRPr>
            </a:pPr>
            <a:r>
              <a:rPr sz="1050" b="1">
                <a:solidFill>
                  <a:srgbClr val="9FC0FF"/>
                </a:solidFill>
                <a:latin typeface="Malgun Gothic"/>
                <a:ea typeface="Malgun Gothic"/>
                <a:cs typeface="Malgun Gothic"/>
              </a:rPr>
              <a:t>TOMORROW</a:t>
            </a:r>
          </a:p>
        </p:txBody>
      </p:sp>
      <p:sp>
        <p:nvSpPr>
          <p:cNvPr id="31" name="tomorrow-body">
            <a:extLst xmlns:a="http://schemas.openxmlformats.org/drawingml/2006/main">
              <a:ext uri="{FF2B5EF4-FFF2-40B4-BE49-F238E27FC236}">
                <a16:creationId xmlns:a16="http://schemas.microsoft.com/office/drawing/2014/main" id="{1EE80258-C98D-46E9-99AB-28CD60A6AF26}"/>
              </a:ext>
            </a:extLst>
          </p:cNvPr>
          <p:cNvSpPr>
            <a:spLocks xmlns:a="http://schemas.openxmlformats.org/drawingml/2006/main" noGrp="1"/>
          </p:cNvSpPr>
          <p:nvPr/>
        </p:nvSpPr>
        <p:spPr>
          <a:xfrm xmlns:a="http://schemas.openxmlformats.org/drawingml/2006/main">
            <a:off x="7391400" y="54864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121"/>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The learner intelligence layer</a:t>
            </a:r>
          </a:p>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across every AI.</a:t>
            </a:r>
          </a:p>
        </p:txBody>
      </p:sp>
      <p:sp>
        <p:nvSpPr>
          <p:cNvPr id="32" name="team-gap">
            <a:extLst xmlns:a="http://schemas.openxmlformats.org/drawingml/2006/main">
              <a:ext uri="{FF2B5EF4-FFF2-40B4-BE49-F238E27FC236}">
                <a16:creationId xmlns:a16="http://schemas.microsoft.com/office/drawing/2014/main" id="{F66D65CF-DAC0-4004-8614-CB90200080EE}"/>
              </a:ext>
            </a:extLst>
          </p:cNvPr>
          <p:cNvSpPr>
            <a:spLocks xmlns:a="http://schemas.openxmlformats.org/drawingml/2006/main" noGrp="1"/>
          </p:cNvSpPr>
          <p:nvPr/>
        </p:nvSpPr>
        <p:spPr>
          <a:xfrm xmlns:a="http://schemas.openxmlformats.org/drawingml/2006/main">
            <a:off x="685800" y="6324600"/>
            <a:ext cx="1082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87386"/>
                </a:solidFill>
                <a:latin typeface="Malgun Gothic"/>
                <a:ea typeface="Malgun Gothic"/>
                <a:cs typeface="Malgun Gothic"/>
              </a:defRPr>
            </a:pPr>
            <a:r>
              <a:rPr sz="1125" b="0">
                <a:solidFill>
                  <a:srgbClr val="687386"/>
                </a:solidFill>
                <a:latin typeface="Malgun Gothic"/>
                <a:ea typeface="Malgun Gothic"/>
                <a:cs typeface="Malgun Gothic"/>
              </a:rPr>
              <a:t>Next capabilities: Learning Science / Psychometrics advisor · Production Engineering · B2B Sales</a:t>
            </a:r>
          </a:p>
        </p:txBody>
      </p:sp>
    </p:spTree>
    <p:extLst>
      <p:ext uri="{BB962C8B-B14F-4D97-AF65-F5344CB8AC3E}">
        <p14:creationId xmlns:p14="http://schemas.microsoft.com/office/powerpoint/2010/main" val="1216422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2026-08-28T08:49:03.3660000Z</dcterms:created>
  <dcterms:modified xsi:type="dcterms:W3CDTF">2026-08-28T08:49:03.3660000Z</dcterms:modified>
</coreProperties>
</file>